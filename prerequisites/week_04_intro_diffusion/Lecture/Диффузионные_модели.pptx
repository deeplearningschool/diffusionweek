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293" r:id="rId42"/>
    <p:sldId id="294" r:id="rId43"/>
    <p:sldId id="295" r:id="rId44"/>
    <p:sldId id="296" r:id="rId45"/>
    <p:sldId id="297" r:id="rId46"/>
    <p:sldId id="298" r:id="rId47"/>
    <p:sldId id="299" r:id="rId48"/>
    <p:sldId id="300" r:id="rId49"/>
    <p:sldId id="301" r:id="rId50"/>
    <p:sldId id="302" r:id="rId51"/>
    <p:sldId id="303" r:id="rId52"/>
    <p:sldId id="304" r:id="rId53"/>
    <p:sldId id="305" r:id="rId54"/>
    <p:sldId id="306" r:id="rId55"/>
    <p:sldId id="307" r:id="rId56"/>
    <p:sldId id="308" r:id="rId57"/>
    <p:sldId id="309" r:id="rId58"/>
  </p:sldIdLst>
  <p:sldSz cy="6858000" cx="12192000"/>
  <p:notesSz cx="6858000" cy="9144000"/>
  <p:embeddedFontLst>
    <p:embeddedFont>
      <p:font typeface="Wix Madefor Display SemiBold"/>
      <p:regular r:id="rId59"/>
      <p:bold r:id="rId60"/>
    </p:embeddedFont>
    <p:embeddedFont>
      <p:font typeface="Wix Madefor Display"/>
      <p:regular r:id="rId61"/>
      <p:bold r:id="rId62"/>
    </p:embeddedFont>
    <p:embeddedFont>
      <p:font typeface="JetBrains Mono"/>
      <p:regular r:id="rId63"/>
      <p:bold r:id="rId64"/>
      <p:italic r:id="rId65"/>
      <p:boldItalic r:id="rId6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6.xml"/><Relationship Id="rId42" Type="http://schemas.openxmlformats.org/officeDocument/2006/relationships/slide" Target="slides/slide38.xml"/><Relationship Id="rId41" Type="http://schemas.openxmlformats.org/officeDocument/2006/relationships/slide" Target="slides/slide37.xml"/><Relationship Id="rId44" Type="http://schemas.openxmlformats.org/officeDocument/2006/relationships/slide" Target="slides/slide40.xml"/><Relationship Id="rId43" Type="http://schemas.openxmlformats.org/officeDocument/2006/relationships/slide" Target="slides/slide39.xml"/><Relationship Id="rId46" Type="http://schemas.openxmlformats.org/officeDocument/2006/relationships/slide" Target="slides/slide42.xml"/><Relationship Id="rId45" Type="http://schemas.openxmlformats.org/officeDocument/2006/relationships/slide" Target="slides/slide41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48" Type="http://schemas.openxmlformats.org/officeDocument/2006/relationships/slide" Target="slides/slide44.xml"/><Relationship Id="rId47" Type="http://schemas.openxmlformats.org/officeDocument/2006/relationships/slide" Target="slides/slide43.xml"/><Relationship Id="rId49" Type="http://schemas.openxmlformats.org/officeDocument/2006/relationships/slide" Target="slides/slide4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5" Type="http://schemas.openxmlformats.org/officeDocument/2006/relationships/slide" Target="slides/slide31.xml"/><Relationship Id="rId34" Type="http://schemas.openxmlformats.org/officeDocument/2006/relationships/slide" Target="slides/slide30.xml"/><Relationship Id="rId37" Type="http://schemas.openxmlformats.org/officeDocument/2006/relationships/slide" Target="slides/slide33.xml"/><Relationship Id="rId36" Type="http://schemas.openxmlformats.org/officeDocument/2006/relationships/slide" Target="slides/slide32.xml"/><Relationship Id="rId39" Type="http://schemas.openxmlformats.org/officeDocument/2006/relationships/slide" Target="slides/slide35.xml"/><Relationship Id="rId38" Type="http://schemas.openxmlformats.org/officeDocument/2006/relationships/slide" Target="slides/slide34.xml"/><Relationship Id="rId62" Type="http://schemas.openxmlformats.org/officeDocument/2006/relationships/font" Target="fonts/WixMadeforDisplay-bold.fntdata"/><Relationship Id="rId61" Type="http://schemas.openxmlformats.org/officeDocument/2006/relationships/font" Target="fonts/WixMadeforDisplay-regular.fntdata"/><Relationship Id="rId20" Type="http://schemas.openxmlformats.org/officeDocument/2006/relationships/slide" Target="slides/slide16.xml"/><Relationship Id="rId64" Type="http://schemas.openxmlformats.org/officeDocument/2006/relationships/font" Target="fonts/JetBrainsMono-bold.fntdata"/><Relationship Id="rId63" Type="http://schemas.openxmlformats.org/officeDocument/2006/relationships/font" Target="fonts/JetBrainsMono-regular.fntdata"/><Relationship Id="rId22" Type="http://schemas.openxmlformats.org/officeDocument/2006/relationships/slide" Target="slides/slide18.xml"/><Relationship Id="rId66" Type="http://schemas.openxmlformats.org/officeDocument/2006/relationships/font" Target="fonts/JetBrainsMono-boldItalic.fntdata"/><Relationship Id="rId21" Type="http://schemas.openxmlformats.org/officeDocument/2006/relationships/slide" Target="slides/slide17.xml"/><Relationship Id="rId65" Type="http://schemas.openxmlformats.org/officeDocument/2006/relationships/font" Target="fonts/JetBrainsMono-italic.fntdata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60" Type="http://schemas.openxmlformats.org/officeDocument/2006/relationships/font" Target="fonts/WixMadeforDisplaySemiBold-bold.fntdata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9" Type="http://schemas.openxmlformats.org/officeDocument/2006/relationships/slide" Target="slides/slide25.xml"/><Relationship Id="rId51" Type="http://schemas.openxmlformats.org/officeDocument/2006/relationships/slide" Target="slides/slide47.xml"/><Relationship Id="rId50" Type="http://schemas.openxmlformats.org/officeDocument/2006/relationships/slide" Target="slides/slide46.xml"/><Relationship Id="rId53" Type="http://schemas.openxmlformats.org/officeDocument/2006/relationships/slide" Target="slides/slide49.xml"/><Relationship Id="rId52" Type="http://schemas.openxmlformats.org/officeDocument/2006/relationships/slide" Target="slides/slide48.xml"/><Relationship Id="rId11" Type="http://schemas.openxmlformats.org/officeDocument/2006/relationships/slide" Target="slides/slide7.xml"/><Relationship Id="rId55" Type="http://schemas.openxmlformats.org/officeDocument/2006/relationships/slide" Target="slides/slide51.xml"/><Relationship Id="rId10" Type="http://schemas.openxmlformats.org/officeDocument/2006/relationships/slide" Target="slides/slide6.xml"/><Relationship Id="rId54" Type="http://schemas.openxmlformats.org/officeDocument/2006/relationships/slide" Target="slides/slide50.xml"/><Relationship Id="rId13" Type="http://schemas.openxmlformats.org/officeDocument/2006/relationships/slide" Target="slides/slide9.xml"/><Relationship Id="rId57" Type="http://schemas.openxmlformats.org/officeDocument/2006/relationships/slide" Target="slides/slide53.xml"/><Relationship Id="rId12" Type="http://schemas.openxmlformats.org/officeDocument/2006/relationships/slide" Target="slides/slide8.xml"/><Relationship Id="rId56" Type="http://schemas.openxmlformats.org/officeDocument/2006/relationships/slide" Target="slides/slide52.xml"/><Relationship Id="rId15" Type="http://schemas.openxmlformats.org/officeDocument/2006/relationships/slide" Target="slides/slide11.xml"/><Relationship Id="rId59" Type="http://schemas.openxmlformats.org/officeDocument/2006/relationships/font" Target="fonts/WixMadeforDisplaySemiBold-regular.fntdata"/><Relationship Id="rId14" Type="http://schemas.openxmlformats.org/officeDocument/2006/relationships/slide" Target="slides/slide10.xml"/><Relationship Id="rId58" Type="http://schemas.openxmlformats.org/officeDocument/2006/relationships/slide" Target="slides/slide5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2" name="Google Shape;8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7" name="Google Shape;87;p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4" name="Google Shape;9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7" name="Google Shape;127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4" name="Google Shape;144;p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7" name="Google Shape;177;p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8" name="Google Shape;188;p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8" name="Google Shape;198;p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5" name="Google Shape;215;p1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26" name="Google Shape;226;p1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40" name="Google Shape;240;p1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56" name="Google Shape;256;p1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73" name="Google Shape;273;p1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87" name="Google Shape;287;p1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98" name="Google Shape;298;p1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13" name="Google Shape;313;p1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29" name="Google Shape;329;p1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49" name="Google Shape;349;p2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70" name="Google Shape;370;p2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91" name="Google Shape;391;p2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05" name="Google Shape;405;p2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15" name="Google Shape;415;p2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8" name="Google Shape;438;p2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45" name="Google Shape;445;p2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56" name="Google Shape;456;p2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8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h4fb9ce0fbd03a82c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0" name="Google Shape;470;h4fb9ce0fbd03a82c_2_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h4fb9ce0fbd03a82c_4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6" name="Google Shape;496;h4fb9ce0fbd03a82c_4_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0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22" name="Google Shape;522;p2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3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35" name="Google Shape;535;p2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8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50" name="Google Shape;550;p3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6" name="Shape 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Google Shape;567;p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68" name="Google Shape;568;p3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Google Shape;582;h4fb9ce0fbd03a82c_6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3" name="Google Shape;583;h4fb9ce0fbd03a82c_6_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1" name="Shape 6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2" name="Google Shape;612;p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13" name="Google Shape;613;p3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8" name="Shape 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9" name="Google Shape;629;p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30" name="Google Shape;630;p3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7" name="Shape 6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" name="Google Shape;638;p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39" name="Google Shape;639;p3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7" name="Shape 6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8" name="Google Shape;648;p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49" name="Google Shape;649;p3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3" name="Shape 6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4" name="Google Shape;664;p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65" name="Google Shape;665;p3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9" name="Shape 6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0" name="Google Shape;680;p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1" name="Google Shape;681;p3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6" name="Shape 6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7" name="Google Shape;687;p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88" name="Google Shape;688;p3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5" name="Shape 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p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97" name="Google Shape;697;p3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4" name="Shape 7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5" name="Google Shape;705;p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06" name="Google Shape;706;p4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6" name="Shape 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" name="Google Shape;717;p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18" name="Google Shape;718;p4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9" name="Shape 7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0" name="Google Shape;740;p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41" name="Google Shape;741;p4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8" name="Shape 7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9" name="Google Shape;749;p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50" name="Google Shape;750;p4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8" name="Shape 7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9" name="Google Shape;759;p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60" name="Google Shape;760;p4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5" name="Shape 7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6" name="Google Shape;776;p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7" name="Google Shape;777;p4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2" name="Shape 7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3" name="Google Shape;783;p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84" name="Google Shape;784;p4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1" name="Shape 7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2" name="Google Shape;792;p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93" name="Google Shape;793;p4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0" name="Shape 8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1" name="Google Shape;801;p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02" name="Google Shape;802;p4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1" name="Shape 8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2" name="Google Shape;812;p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13" name="Google Shape;813;p4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2" name="Shape 8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3" name="Google Shape;833;hbcff64b1d969b2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4" name="Google Shape;834;hbcff64b1d969b2_1_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6" name="Shape 8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7" name="Google Shape;847;p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48" name="Google Shape;848;p5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Relationship Id="rId3" Type="http://schemas.openxmlformats.org/officeDocument/2006/relationships/image" Target="../media/image9.png"/><Relationship Id="rId4" Type="http://schemas.openxmlformats.org/officeDocument/2006/relationships/image" Target="../media/image1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Relationship Id="rId3" Type="http://schemas.openxmlformats.org/officeDocument/2006/relationships/image" Target="../media/image8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g"/><Relationship Id="rId3" Type="http://schemas.openxmlformats.org/officeDocument/2006/relationships/image" Target="../media/image8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g"/><Relationship Id="rId3" Type="http://schemas.openxmlformats.org/officeDocument/2006/relationships/image" Target="../media/image9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jpg"/><Relationship Id="rId3" Type="http://schemas.openxmlformats.org/officeDocument/2006/relationships/image" Target="../media/image9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jpg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Relationship Id="rId3" Type="http://schemas.openxmlformats.org/officeDocument/2006/relationships/image" Target="../media/image8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jpg"/><Relationship Id="rId3" Type="http://schemas.openxmlformats.org/officeDocument/2006/relationships/image" Target="../media/image8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01">
  <p:cSld name="Title Slide 01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rtboard 1 copy 2@2x-100" id="12" name="Google Shape;12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-3175" y="0"/>
            <a:ext cx="12195175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37839" y="2216477"/>
            <a:ext cx="5401521" cy="242504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4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831137" y="1687868"/>
            <a:ext cx="4081070" cy="3555289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Google Shape;15;p2"/>
          <p:cNvSpPr txBox="1"/>
          <p:nvPr>
            <p:ph idx="1" type="body"/>
          </p:nvPr>
        </p:nvSpPr>
        <p:spPr>
          <a:xfrm>
            <a:off x="10639741" y="6230538"/>
            <a:ext cx="1294637" cy="345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EDECED"/>
              </a:buClr>
              <a:buSzPts val="2000"/>
              <a:buNone/>
              <a:defRPr sz="2000">
                <a:solidFill>
                  <a:srgbClr val="EDECED"/>
                </a:solidFill>
                <a:latin typeface="Wix Madefor Display SemiBold"/>
                <a:ea typeface="Wix Madefor Display SemiBold"/>
                <a:cs typeface="Wix Madefor Display SemiBold"/>
                <a:sym typeface="Wix Madefor Display SemiBold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04">
  <p:cSld name="Content 04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rtboard 1 copy 4@2x-100" id="17" name="Google Shape;17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8946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" name="Google Shape;18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6724" y="202520"/>
            <a:ext cx="1350605" cy="518101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3"/>
          <p:cNvSpPr txBox="1"/>
          <p:nvPr>
            <p:ph idx="1" type="subTitle"/>
          </p:nvPr>
        </p:nvSpPr>
        <p:spPr>
          <a:xfrm>
            <a:off x="5107039" y="3843573"/>
            <a:ext cx="5174255" cy="9254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EDECED"/>
              </a:buClr>
              <a:buSzPts val="1800"/>
              <a:buNone/>
              <a:defRPr sz="1800">
                <a:solidFill>
                  <a:srgbClr val="EDECED"/>
                </a:solidFill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0" name="Google Shape;20;p3"/>
          <p:cNvSpPr txBox="1"/>
          <p:nvPr>
            <p:ph idx="2" type="body"/>
          </p:nvPr>
        </p:nvSpPr>
        <p:spPr>
          <a:xfrm>
            <a:off x="5107039" y="1754562"/>
            <a:ext cx="7428113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EDECED"/>
              </a:buClr>
              <a:buSzPts val="5400"/>
              <a:buNone/>
              <a:defRPr b="1" sz="5400">
                <a:solidFill>
                  <a:srgbClr val="EDECED"/>
                </a:solidFill>
                <a:latin typeface="Wix Madefor Display"/>
                <a:ea typeface="Wix Madefor Display"/>
                <a:cs typeface="Wix Madefor Display"/>
                <a:sym typeface="Wix Madefor Display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1" name="Google Shape;21;p3"/>
          <p:cNvSpPr txBox="1"/>
          <p:nvPr>
            <p:ph idx="3" type="body"/>
          </p:nvPr>
        </p:nvSpPr>
        <p:spPr>
          <a:xfrm>
            <a:off x="663974" y="1361070"/>
            <a:ext cx="3484131" cy="30445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5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EDECED"/>
              </a:buClr>
              <a:buSzPts val="2000"/>
              <a:buChar char="•"/>
              <a:defRPr sz="2000">
                <a:solidFill>
                  <a:srgbClr val="EDECED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EDECED"/>
              </a:buClr>
              <a:buSzPts val="1800"/>
              <a:buChar char="•"/>
              <a:defRPr sz="1800">
                <a:solidFill>
                  <a:srgbClr val="EDECED"/>
                </a:solidFill>
              </a:defRPr>
            </a:lvl2pPr>
            <a:lvl3pPr indent="-3302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EDECED"/>
              </a:buClr>
              <a:buSzPts val="1600"/>
              <a:buChar char="•"/>
              <a:defRPr sz="1600">
                <a:solidFill>
                  <a:srgbClr val="EDECED"/>
                </a:solidFill>
              </a:defRPr>
            </a:lvl3pPr>
            <a:lvl4pPr indent="-3175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EDECED"/>
              </a:buClr>
              <a:buSzPts val="1400"/>
              <a:buChar char="•"/>
              <a:defRPr sz="1400">
                <a:solidFill>
                  <a:srgbClr val="EDECED"/>
                </a:solidFill>
              </a:defRPr>
            </a:lvl4pPr>
            <a:lvl5pPr indent="-3048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EDECED"/>
              </a:buClr>
              <a:buSzPts val="1200"/>
              <a:buChar char="•"/>
              <a:defRPr sz="1200">
                <a:solidFill>
                  <a:srgbClr val="EDECED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4" type="body"/>
          </p:nvPr>
        </p:nvSpPr>
        <p:spPr>
          <a:xfrm>
            <a:off x="663974" y="4731199"/>
            <a:ext cx="3599946" cy="7083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EDECED"/>
              </a:buClr>
              <a:buSzPts val="2400"/>
              <a:buNone/>
              <a:defRPr b="1" sz="2400">
                <a:solidFill>
                  <a:srgbClr val="EDECED"/>
                </a:solidFill>
                <a:latin typeface="Wix Madefor Display"/>
                <a:ea typeface="Wix Madefor Display"/>
                <a:cs typeface="Wix Madefor Display"/>
                <a:sym typeface="Wix Madefor Display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3" name="Google Shape;23;p3"/>
          <p:cNvSpPr txBox="1"/>
          <p:nvPr>
            <p:ph idx="5" type="body"/>
          </p:nvPr>
        </p:nvSpPr>
        <p:spPr>
          <a:xfrm>
            <a:off x="663975" y="5650187"/>
            <a:ext cx="3599946" cy="60055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EDECED"/>
              </a:buClr>
              <a:buSzPts val="1400"/>
              <a:buNone/>
              <a:defRPr sz="1400">
                <a:solidFill>
                  <a:srgbClr val="EDECED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4" name="Google Shape;24;p3"/>
          <p:cNvSpPr txBox="1"/>
          <p:nvPr>
            <p:ph idx="6" type="body"/>
          </p:nvPr>
        </p:nvSpPr>
        <p:spPr>
          <a:xfrm>
            <a:off x="10639741" y="6230538"/>
            <a:ext cx="1294637" cy="345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EDECED"/>
              </a:buClr>
              <a:buSzPts val="2000"/>
              <a:buNone/>
              <a:defRPr sz="2000">
                <a:solidFill>
                  <a:srgbClr val="EDECED"/>
                </a:solidFill>
                <a:latin typeface="Wix Madefor Display SemiBold"/>
                <a:ea typeface="Wix Madefor Display SemiBold"/>
                <a:cs typeface="Wix Madefor Display SemiBold"/>
                <a:sym typeface="Wix Madefor Display SemiBold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ubtitle 02">
  <p:cSld name="Subtitle 02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rtboard 1 copy@2x-100" id="26" name="Google Shape;26;p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8946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7" name="Google Shape;27;p4"/>
          <p:cNvSpPr txBox="1"/>
          <p:nvPr>
            <p:ph idx="1" type="subTitle"/>
          </p:nvPr>
        </p:nvSpPr>
        <p:spPr>
          <a:xfrm>
            <a:off x="977100" y="4388579"/>
            <a:ext cx="5174255" cy="9254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EDECED"/>
              </a:buClr>
              <a:buSzPts val="1800"/>
              <a:buNone/>
              <a:defRPr sz="1800">
                <a:solidFill>
                  <a:srgbClr val="EDECED"/>
                </a:solidFill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pic>
        <p:nvPicPr>
          <p:cNvPr id="28" name="Google Shape;28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6724" y="202520"/>
            <a:ext cx="1350605" cy="518101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Google Shape;29;p4"/>
          <p:cNvSpPr txBox="1"/>
          <p:nvPr>
            <p:ph idx="2" type="body"/>
          </p:nvPr>
        </p:nvSpPr>
        <p:spPr>
          <a:xfrm>
            <a:off x="1055823" y="1804506"/>
            <a:ext cx="5375255" cy="23133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EDECED"/>
              </a:buClr>
              <a:buSzPts val="5400"/>
              <a:buNone/>
              <a:defRPr b="1" sz="5400">
                <a:solidFill>
                  <a:srgbClr val="EDECED"/>
                </a:solidFill>
                <a:latin typeface="Wix Madefor Display"/>
                <a:ea typeface="Wix Madefor Display"/>
                <a:cs typeface="Wix Madefor Display"/>
                <a:sym typeface="Wix Madefor Display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4"/>
          <p:cNvSpPr txBox="1"/>
          <p:nvPr>
            <p:ph idx="3" type="body"/>
          </p:nvPr>
        </p:nvSpPr>
        <p:spPr>
          <a:xfrm>
            <a:off x="10639741" y="6230538"/>
            <a:ext cx="1294637" cy="345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EDECED"/>
              </a:buClr>
              <a:buSzPts val="2000"/>
              <a:buNone/>
              <a:defRPr sz="2000">
                <a:solidFill>
                  <a:srgbClr val="EDECED"/>
                </a:solidFill>
                <a:latin typeface="Wix Madefor Display SemiBold"/>
                <a:ea typeface="Wix Madefor Display SemiBold"/>
                <a:cs typeface="Wix Madefor Display SemiBold"/>
                <a:sym typeface="Wix Madefor Display SemiBold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01">
  <p:cSld name="Content 01">
    <p:bg>
      <p:bgPr>
        <a:solidFill>
          <a:srgbClr val="FFFFFF"/>
        </a:solidFill>
      </p:bgPr>
    </p:bg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 txBox="1"/>
          <p:nvPr>
            <p:ph type="title"/>
          </p:nvPr>
        </p:nvSpPr>
        <p:spPr>
          <a:xfrm>
            <a:off x="626532" y="260359"/>
            <a:ext cx="10263981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A0519"/>
              </a:buClr>
              <a:buSzPts val="4400"/>
              <a:buFont typeface="Wix Madefor Display"/>
              <a:buNone/>
              <a:defRPr b="1">
                <a:solidFill>
                  <a:srgbClr val="0A051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3" name="Google Shape;33;p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466481" y="202520"/>
            <a:ext cx="1350605" cy="518101"/>
          </a:xfrm>
          <a:prstGeom prst="rect">
            <a:avLst/>
          </a:prstGeom>
          <a:noFill/>
          <a:ln>
            <a:noFill/>
          </a:ln>
        </p:spPr>
      </p:pic>
      <p:sp>
        <p:nvSpPr>
          <p:cNvPr id="34" name="Google Shape;34;p5"/>
          <p:cNvSpPr txBox="1"/>
          <p:nvPr>
            <p:ph idx="1" type="subTitle"/>
          </p:nvPr>
        </p:nvSpPr>
        <p:spPr>
          <a:xfrm>
            <a:off x="5716259" y="5902527"/>
            <a:ext cx="3907519" cy="5434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A0519"/>
              </a:buClr>
              <a:buSzPts val="1400"/>
              <a:buNone/>
              <a:defRPr sz="1400">
                <a:solidFill>
                  <a:srgbClr val="0A0519"/>
                </a:solidFill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35" name="Google Shape;35;p5"/>
          <p:cNvSpPr txBox="1"/>
          <p:nvPr>
            <p:ph idx="2" type="body"/>
          </p:nvPr>
        </p:nvSpPr>
        <p:spPr>
          <a:xfrm>
            <a:off x="5708912" y="1738322"/>
            <a:ext cx="6108173" cy="405287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5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A0519"/>
              </a:buClr>
              <a:buSzPts val="2000"/>
              <a:buChar char="•"/>
              <a:defRPr sz="2000">
                <a:solidFill>
                  <a:srgbClr val="0A0519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A0519"/>
              </a:buClr>
              <a:buSzPts val="1800"/>
              <a:buChar char="•"/>
              <a:defRPr sz="1800">
                <a:solidFill>
                  <a:srgbClr val="0A0519"/>
                </a:solidFill>
              </a:defRPr>
            </a:lvl2pPr>
            <a:lvl3pPr indent="-3302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A0519"/>
              </a:buClr>
              <a:buSzPts val="1600"/>
              <a:buChar char="•"/>
              <a:defRPr sz="1600">
                <a:solidFill>
                  <a:srgbClr val="0A0519"/>
                </a:solidFill>
              </a:defRPr>
            </a:lvl3pPr>
            <a:lvl4pPr indent="-3175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A0519"/>
              </a:buClr>
              <a:buSzPts val="1400"/>
              <a:buChar char="•"/>
              <a:defRPr sz="1400">
                <a:solidFill>
                  <a:srgbClr val="0A0519"/>
                </a:solidFill>
              </a:defRPr>
            </a:lvl4pPr>
            <a:lvl5pPr indent="-3048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A0519"/>
              </a:buClr>
              <a:buSzPts val="1200"/>
              <a:buChar char="•"/>
              <a:defRPr sz="1200">
                <a:solidFill>
                  <a:srgbClr val="0A0519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5"/>
          <p:cNvSpPr txBox="1"/>
          <p:nvPr>
            <p:ph idx="3" type="body"/>
          </p:nvPr>
        </p:nvSpPr>
        <p:spPr>
          <a:xfrm>
            <a:off x="626533" y="1738322"/>
            <a:ext cx="4938890" cy="405287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5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A0519"/>
              </a:buClr>
              <a:buSzPts val="2000"/>
              <a:buChar char="•"/>
              <a:defRPr sz="2000">
                <a:solidFill>
                  <a:srgbClr val="0A0519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A0519"/>
              </a:buClr>
              <a:buSzPts val="1800"/>
              <a:buChar char="•"/>
              <a:defRPr sz="1800">
                <a:solidFill>
                  <a:srgbClr val="0A0519"/>
                </a:solidFill>
              </a:defRPr>
            </a:lvl2pPr>
            <a:lvl3pPr indent="-3302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A0519"/>
              </a:buClr>
              <a:buSzPts val="1600"/>
              <a:buChar char="•"/>
              <a:defRPr sz="1600">
                <a:solidFill>
                  <a:srgbClr val="0A0519"/>
                </a:solidFill>
              </a:defRPr>
            </a:lvl3pPr>
            <a:lvl4pPr indent="-3175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A0519"/>
              </a:buClr>
              <a:buSzPts val="1400"/>
              <a:buChar char="•"/>
              <a:defRPr sz="1400">
                <a:solidFill>
                  <a:srgbClr val="0A0519"/>
                </a:solidFill>
              </a:defRPr>
            </a:lvl4pPr>
            <a:lvl5pPr indent="-3048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A0519"/>
              </a:buClr>
              <a:buSzPts val="1200"/>
              <a:buChar char="•"/>
              <a:defRPr sz="1200">
                <a:solidFill>
                  <a:srgbClr val="0A0519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5"/>
          <p:cNvSpPr txBox="1"/>
          <p:nvPr>
            <p:ph idx="4" type="body"/>
          </p:nvPr>
        </p:nvSpPr>
        <p:spPr>
          <a:xfrm>
            <a:off x="10639741" y="6230538"/>
            <a:ext cx="1294637" cy="345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A0519"/>
              </a:buClr>
              <a:buSzPts val="2000"/>
              <a:buNone/>
              <a:defRPr sz="2000">
                <a:solidFill>
                  <a:srgbClr val="0A0519"/>
                </a:solidFill>
                <a:latin typeface="Wix Madefor Display SemiBold"/>
                <a:ea typeface="Wix Madefor Display SemiBold"/>
                <a:cs typeface="Wix Madefor Display SemiBold"/>
                <a:sym typeface="Wix Madefor Display SemiBold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pic>
        <p:nvPicPr>
          <p:cNvPr descr="нейроны" id="38" name="Google Shape;38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266825" y="5441315"/>
            <a:ext cx="2317115" cy="250888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02">
  <p:cSld name="Title Slide 02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Google Shape;40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234" y="0"/>
            <a:ext cx="12189532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1" name="Google Shape;41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50832" y="1923585"/>
            <a:ext cx="4677371" cy="2099934"/>
          </a:xfrm>
          <a:prstGeom prst="rect">
            <a:avLst/>
          </a:prstGeom>
          <a:noFill/>
          <a:ln>
            <a:noFill/>
          </a:ln>
        </p:spPr>
      </p:pic>
      <p:sp>
        <p:nvSpPr>
          <p:cNvPr id="42" name="Google Shape;42;p6"/>
          <p:cNvSpPr txBox="1"/>
          <p:nvPr>
            <p:ph idx="1" type="subTitle"/>
          </p:nvPr>
        </p:nvSpPr>
        <p:spPr>
          <a:xfrm>
            <a:off x="1407049" y="4406746"/>
            <a:ext cx="5174255" cy="9254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EDECED"/>
              </a:buClr>
              <a:buSzPts val="1800"/>
              <a:buNone/>
              <a:defRPr sz="1800">
                <a:solidFill>
                  <a:srgbClr val="EDECED"/>
                </a:solidFill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43" name="Google Shape;43;p6"/>
          <p:cNvSpPr txBox="1"/>
          <p:nvPr>
            <p:ph idx="2" type="body"/>
          </p:nvPr>
        </p:nvSpPr>
        <p:spPr>
          <a:xfrm>
            <a:off x="10639741" y="6230538"/>
            <a:ext cx="1294637" cy="345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EDECED"/>
              </a:buClr>
              <a:buSzPts val="2000"/>
              <a:buNone/>
              <a:defRPr sz="2000">
                <a:solidFill>
                  <a:srgbClr val="EDECED"/>
                </a:solidFill>
                <a:latin typeface="Wix Madefor Display SemiBold"/>
                <a:ea typeface="Wix Madefor Display SemiBold"/>
                <a:cs typeface="Wix Madefor Display SemiBold"/>
                <a:sym typeface="Wix Madefor Display SemiBold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03">
  <p:cSld name="Title Slide 03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Google Shape;45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86358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6" name="Google Shape;46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84220" y="2379033"/>
            <a:ext cx="4677371" cy="2099934"/>
          </a:xfrm>
          <a:prstGeom prst="rect">
            <a:avLst/>
          </a:prstGeom>
          <a:noFill/>
          <a:ln>
            <a:noFill/>
          </a:ln>
        </p:spPr>
      </p:pic>
      <p:sp>
        <p:nvSpPr>
          <p:cNvPr id="47" name="Google Shape;47;p7"/>
          <p:cNvSpPr txBox="1"/>
          <p:nvPr>
            <p:ph idx="1" type="body"/>
          </p:nvPr>
        </p:nvSpPr>
        <p:spPr>
          <a:xfrm>
            <a:off x="10639741" y="6230538"/>
            <a:ext cx="1294637" cy="345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EDECED"/>
              </a:buClr>
              <a:buSzPts val="2000"/>
              <a:buNone/>
              <a:defRPr sz="2000">
                <a:solidFill>
                  <a:srgbClr val="EDECED"/>
                </a:solidFill>
                <a:latin typeface="Wix Madefor Display SemiBold"/>
                <a:ea typeface="Wix Madefor Display SemiBold"/>
                <a:cs typeface="Wix Madefor Display SemiBold"/>
                <a:sym typeface="Wix Madefor Display SemiBold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02">
  <p:cSld name="Content 02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8"/>
          <p:cNvSpPr txBox="1"/>
          <p:nvPr>
            <p:ph type="title"/>
          </p:nvPr>
        </p:nvSpPr>
        <p:spPr>
          <a:xfrm>
            <a:off x="626532" y="260359"/>
            <a:ext cx="10263981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A0519"/>
              </a:buClr>
              <a:buSzPts val="4400"/>
              <a:buFont typeface="Wix Madefor Display"/>
              <a:buNone/>
              <a:defRPr b="1">
                <a:solidFill>
                  <a:srgbClr val="0A051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0" name="Google Shape;50;p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466481" y="202520"/>
            <a:ext cx="1350605" cy="518101"/>
          </a:xfrm>
          <a:prstGeom prst="rect">
            <a:avLst/>
          </a:prstGeom>
          <a:noFill/>
          <a:ln>
            <a:noFill/>
          </a:ln>
        </p:spPr>
      </p:pic>
      <p:sp>
        <p:nvSpPr>
          <p:cNvPr id="51" name="Google Shape;51;p8"/>
          <p:cNvSpPr txBox="1"/>
          <p:nvPr>
            <p:ph idx="1" type="subTitle"/>
          </p:nvPr>
        </p:nvSpPr>
        <p:spPr>
          <a:xfrm>
            <a:off x="3716020" y="5902325"/>
            <a:ext cx="3018790" cy="543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A0519"/>
              </a:buClr>
              <a:buSzPts val="1400"/>
              <a:buNone/>
              <a:defRPr sz="1400">
                <a:solidFill>
                  <a:srgbClr val="0A0519"/>
                </a:solidFill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52" name="Google Shape;52;p8"/>
          <p:cNvSpPr txBox="1"/>
          <p:nvPr>
            <p:ph idx="2" type="body"/>
          </p:nvPr>
        </p:nvSpPr>
        <p:spPr>
          <a:xfrm>
            <a:off x="626532" y="1738322"/>
            <a:ext cx="6108173" cy="405287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5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A0519"/>
              </a:buClr>
              <a:buSzPts val="2000"/>
              <a:buChar char="•"/>
              <a:defRPr sz="2000">
                <a:solidFill>
                  <a:srgbClr val="0A0519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A0519"/>
              </a:buClr>
              <a:buSzPts val="1800"/>
              <a:buChar char="•"/>
              <a:defRPr sz="1800">
                <a:solidFill>
                  <a:srgbClr val="0A0519"/>
                </a:solidFill>
              </a:defRPr>
            </a:lvl2pPr>
            <a:lvl3pPr indent="-3302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A0519"/>
              </a:buClr>
              <a:buSzPts val="1600"/>
              <a:buChar char="•"/>
              <a:defRPr sz="1600">
                <a:solidFill>
                  <a:srgbClr val="0A0519"/>
                </a:solidFill>
              </a:defRPr>
            </a:lvl3pPr>
            <a:lvl4pPr indent="-3175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A0519"/>
              </a:buClr>
              <a:buSzPts val="1400"/>
              <a:buChar char="•"/>
              <a:defRPr sz="1400">
                <a:solidFill>
                  <a:srgbClr val="0A0519"/>
                </a:solidFill>
              </a:defRPr>
            </a:lvl4pPr>
            <a:lvl5pPr indent="-3048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A0519"/>
              </a:buClr>
              <a:buSzPts val="1200"/>
              <a:buChar char="•"/>
              <a:defRPr sz="1200">
                <a:solidFill>
                  <a:srgbClr val="0A0519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3" type="body"/>
          </p:nvPr>
        </p:nvSpPr>
        <p:spPr>
          <a:xfrm>
            <a:off x="6878196" y="1738322"/>
            <a:ext cx="4938890" cy="405287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5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A0519"/>
              </a:buClr>
              <a:buSzPts val="2000"/>
              <a:buChar char="•"/>
              <a:defRPr sz="2000">
                <a:solidFill>
                  <a:srgbClr val="0A0519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A0519"/>
              </a:buClr>
              <a:buSzPts val="1800"/>
              <a:buChar char="•"/>
              <a:defRPr sz="1800">
                <a:solidFill>
                  <a:srgbClr val="0A0519"/>
                </a:solidFill>
              </a:defRPr>
            </a:lvl2pPr>
            <a:lvl3pPr indent="-3302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A0519"/>
              </a:buClr>
              <a:buSzPts val="1600"/>
              <a:buChar char="•"/>
              <a:defRPr sz="1600">
                <a:solidFill>
                  <a:srgbClr val="0A0519"/>
                </a:solidFill>
              </a:defRPr>
            </a:lvl3pPr>
            <a:lvl4pPr indent="-3175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A0519"/>
              </a:buClr>
              <a:buSzPts val="1400"/>
              <a:buChar char="•"/>
              <a:defRPr sz="1400">
                <a:solidFill>
                  <a:srgbClr val="0A0519"/>
                </a:solidFill>
              </a:defRPr>
            </a:lvl4pPr>
            <a:lvl5pPr indent="-3048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A0519"/>
              </a:buClr>
              <a:buSzPts val="1200"/>
              <a:buChar char="•"/>
              <a:defRPr sz="1200">
                <a:solidFill>
                  <a:srgbClr val="0A0519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4" name="Google Shape;54;p8"/>
          <p:cNvSpPr txBox="1"/>
          <p:nvPr>
            <p:ph idx="4" type="body"/>
          </p:nvPr>
        </p:nvSpPr>
        <p:spPr>
          <a:xfrm>
            <a:off x="10639741" y="6230538"/>
            <a:ext cx="1294637" cy="345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A0519"/>
              </a:buClr>
              <a:buSzPts val="2000"/>
              <a:buNone/>
              <a:defRPr sz="2000">
                <a:solidFill>
                  <a:srgbClr val="0A0519"/>
                </a:solidFill>
                <a:latin typeface="Wix Madefor Display SemiBold"/>
                <a:ea typeface="Wix Madefor Display SemiBold"/>
                <a:cs typeface="Wix Madefor Display SemiBold"/>
                <a:sym typeface="Wix Madefor Display SemiBold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pic>
        <p:nvPicPr>
          <p:cNvPr descr="нейроны" id="55" name="Google Shape;55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266825" y="5441315"/>
            <a:ext cx="2317115" cy="250888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03">
  <p:cSld name="Content 03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01" id="57" name="Google Shape;57;p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8" name="Google Shape;58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66481" y="202520"/>
            <a:ext cx="1350605" cy="518101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59;p9"/>
          <p:cNvSpPr txBox="1"/>
          <p:nvPr>
            <p:ph type="title"/>
          </p:nvPr>
        </p:nvSpPr>
        <p:spPr>
          <a:xfrm>
            <a:off x="626532" y="260359"/>
            <a:ext cx="10263981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A0519"/>
              </a:buClr>
              <a:buSzPts val="4400"/>
              <a:buFont typeface="Wix Madefor Display"/>
              <a:buNone/>
              <a:defRPr b="1">
                <a:solidFill>
                  <a:srgbClr val="0A051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" type="body"/>
          </p:nvPr>
        </p:nvSpPr>
        <p:spPr>
          <a:xfrm>
            <a:off x="6270979" y="1738321"/>
            <a:ext cx="5469466" cy="416420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5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A0519"/>
              </a:buClr>
              <a:buSzPts val="2000"/>
              <a:buChar char="•"/>
              <a:defRPr sz="2000">
                <a:solidFill>
                  <a:srgbClr val="0A0519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A0519"/>
              </a:buClr>
              <a:buSzPts val="1800"/>
              <a:buChar char="•"/>
              <a:defRPr sz="1800">
                <a:solidFill>
                  <a:srgbClr val="0A0519"/>
                </a:solidFill>
              </a:defRPr>
            </a:lvl2pPr>
            <a:lvl3pPr indent="-3302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A0519"/>
              </a:buClr>
              <a:buSzPts val="1600"/>
              <a:buChar char="•"/>
              <a:defRPr sz="1600">
                <a:solidFill>
                  <a:srgbClr val="0A0519"/>
                </a:solidFill>
              </a:defRPr>
            </a:lvl3pPr>
            <a:lvl4pPr indent="-3175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A0519"/>
              </a:buClr>
              <a:buSzPts val="1400"/>
              <a:buChar char="•"/>
              <a:defRPr sz="1400">
                <a:solidFill>
                  <a:srgbClr val="0A0519"/>
                </a:solidFill>
              </a:defRPr>
            </a:lvl4pPr>
            <a:lvl5pPr indent="-3048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A0519"/>
              </a:buClr>
              <a:buSzPts val="1200"/>
              <a:buChar char="•"/>
              <a:defRPr sz="1200">
                <a:solidFill>
                  <a:srgbClr val="0A0519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1" name="Google Shape;61;p9"/>
          <p:cNvSpPr txBox="1"/>
          <p:nvPr>
            <p:ph idx="2" type="body"/>
          </p:nvPr>
        </p:nvSpPr>
        <p:spPr>
          <a:xfrm>
            <a:off x="504687" y="1738321"/>
            <a:ext cx="5469466" cy="416420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5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A0519"/>
              </a:buClr>
              <a:buSzPts val="2000"/>
              <a:buChar char="•"/>
              <a:defRPr sz="2000">
                <a:solidFill>
                  <a:srgbClr val="0A0519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A0519"/>
              </a:buClr>
              <a:buSzPts val="1800"/>
              <a:buChar char="•"/>
              <a:defRPr sz="1800">
                <a:solidFill>
                  <a:srgbClr val="0A0519"/>
                </a:solidFill>
              </a:defRPr>
            </a:lvl2pPr>
            <a:lvl3pPr indent="-3302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A0519"/>
              </a:buClr>
              <a:buSzPts val="1600"/>
              <a:buChar char="•"/>
              <a:defRPr sz="1600">
                <a:solidFill>
                  <a:srgbClr val="0A0519"/>
                </a:solidFill>
              </a:defRPr>
            </a:lvl3pPr>
            <a:lvl4pPr indent="-3175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A0519"/>
              </a:buClr>
              <a:buSzPts val="1400"/>
              <a:buChar char="•"/>
              <a:defRPr sz="1400">
                <a:solidFill>
                  <a:srgbClr val="0A0519"/>
                </a:solidFill>
              </a:defRPr>
            </a:lvl4pPr>
            <a:lvl5pPr indent="-3048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A0519"/>
              </a:buClr>
              <a:buSzPts val="1200"/>
              <a:buChar char="•"/>
              <a:defRPr sz="1200">
                <a:solidFill>
                  <a:srgbClr val="0A0519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2" name="Google Shape;62;p9"/>
          <p:cNvSpPr txBox="1"/>
          <p:nvPr>
            <p:ph idx="3" type="body"/>
          </p:nvPr>
        </p:nvSpPr>
        <p:spPr>
          <a:xfrm>
            <a:off x="6270979" y="6054925"/>
            <a:ext cx="4319049" cy="60055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A0519"/>
              </a:buClr>
              <a:buSzPts val="1400"/>
              <a:buNone/>
              <a:defRPr sz="1400">
                <a:solidFill>
                  <a:srgbClr val="0A0519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63" name="Google Shape;63;p9"/>
          <p:cNvSpPr txBox="1"/>
          <p:nvPr>
            <p:ph idx="4" type="body"/>
          </p:nvPr>
        </p:nvSpPr>
        <p:spPr>
          <a:xfrm>
            <a:off x="504687" y="6054925"/>
            <a:ext cx="4319049" cy="60055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A0519"/>
              </a:buClr>
              <a:buSzPts val="1400"/>
              <a:buNone/>
              <a:defRPr sz="1400">
                <a:solidFill>
                  <a:srgbClr val="0A0519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idx="5" type="body"/>
          </p:nvPr>
        </p:nvSpPr>
        <p:spPr>
          <a:xfrm>
            <a:off x="10639741" y="6230538"/>
            <a:ext cx="1294637" cy="345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A0519"/>
              </a:buClr>
              <a:buSzPts val="2000"/>
              <a:buNone/>
              <a:defRPr sz="2000">
                <a:solidFill>
                  <a:srgbClr val="0A0519"/>
                </a:solidFill>
                <a:latin typeface="Wix Madefor Display SemiBold"/>
                <a:ea typeface="Wix Madefor Display SemiBold"/>
                <a:cs typeface="Wix Madefor Display SemiBold"/>
                <a:sym typeface="Wix Madefor Display SemiBold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pic>
        <p:nvPicPr>
          <p:cNvPr descr="нейроны" id="65" name="Google Shape;65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1462405" y="4737100"/>
            <a:ext cx="2317115" cy="250888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ubtitle 01">
  <p:cSld name="Subtitle 01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rtboard 1 copy 2@2x-100" id="67" name="Google Shape;67;p1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8946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0"/>
          <p:cNvSpPr txBox="1"/>
          <p:nvPr>
            <p:ph idx="1" type="subTitle"/>
          </p:nvPr>
        </p:nvSpPr>
        <p:spPr>
          <a:xfrm>
            <a:off x="1285937" y="3879907"/>
            <a:ext cx="5174255" cy="9254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EDECED"/>
              </a:buClr>
              <a:buSzPts val="1800"/>
              <a:buNone/>
              <a:defRPr sz="1800">
                <a:solidFill>
                  <a:srgbClr val="EDECED"/>
                </a:solidFill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pic>
        <p:nvPicPr>
          <p:cNvPr id="69" name="Google Shape;69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6724" y="202520"/>
            <a:ext cx="1350605" cy="518101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10"/>
          <p:cNvSpPr txBox="1"/>
          <p:nvPr>
            <p:ph idx="2" type="body"/>
          </p:nvPr>
        </p:nvSpPr>
        <p:spPr>
          <a:xfrm>
            <a:off x="1285937" y="1827230"/>
            <a:ext cx="8711907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EDECED"/>
              </a:buClr>
              <a:buSzPts val="5400"/>
              <a:buNone/>
              <a:defRPr b="1" sz="5400">
                <a:solidFill>
                  <a:srgbClr val="EDECED"/>
                </a:solidFill>
                <a:latin typeface="Wix Madefor Display"/>
                <a:ea typeface="Wix Madefor Display"/>
                <a:cs typeface="Wix Madefor Display"/>
                <a:sym typeface="Wix Madefor Display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71" name="Google Shape;71;p10"/>
          <p:cNvSpPr txBox="1"/>
          <p:nvPr>
            <p:ph idx="3" type="body"/>
          </p:nvPr>
        </p:nvSpPr>
        <p:spPr>
          <a:xfrm>
            <a:off x="10639741" y="6230538"/>
            <a:ext cx="1294637" cy="345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EDECED"/>
              </a:buClr>
              <a:buSzPts val="2000"/>
              <a:buNone/>
              <a:defRPr sz="2000">
                <a:solidFill>
                  <a:srgbClr val="EDECED"/>
                </a:solidFill>
                <a:latin typeface="Wix Madefor Display SemiBold"/>
                <a:ea typeface="Wix Madefor Display SemiBold"/>
                <a:cs typeface="Wix Madefor Display SemiBold"/>
                <a:sym typeface="Wix Madefor Display SemiBold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ubtitle 03">
  <p:cSld name="Subtitle 03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rtboard 1@2x-100" id="73" name="Google Shape;73;p1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715" y="0"/>
            <a:ext cx="12186285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4" name="Google Shape;74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6724" y="202520"/>
            <a:ext cx="1350605" cy="518101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11"/>
          <p:cNvSpPr txBox="1"/>
          <p:nvPr>
            <p:ph idx="1" type="subTitle"/>
          </p:nvPr>
        </p:nvSpPr>
        <p:spPr>
          <a:xfrm>
            <a:off x="1025545" y="5370209"/>
            <a:ext cx="5174255" cy="9254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EDECED"/>
              </a:buClr>
              <a:buSzPts val="1800"/>
              <a:buNone/>
              <a:defRPr sz="1800">
                <a:solidFill>
                  <a:srgbClr val="EDECED"/>
                </a:solidFill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76" name="Google Shape;76;p11"/>
          <p:cNvSpPr txBox="1"/>
          <p:nvPr>
            <p:ph idx="2" type="body"/>
          </p:nvPr>
        </p:nvSpPr>
        <p:spPr>
          <a:xfrm>
            <a:off x="1025545" y="2196623"/>
            <a:ext cx="6089819" cy="27326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EDECED"/>
              </a:buClr>
              <a:buSzPts val="5400"/>
              <a:buNone/>
              <a:defRPr b="1" sz="5400">
                <a:solidFill>
                  <a:srgbClr val="EDECED"/>
                </a:solidFill>
                <a:latin typeface="Wix Madefor Display"/>
                <a:ea typeface="Wix Madefor Display"/>
                <a:cs typeface="Wix Madefor Display"/>
                <a:sym typeface="Wix Madefor Display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77" name="Google Shape;77;p11"/>
          <p:cNvSpPr txBox="1"/>
          <p:nvPr>
            <p:ph idx="3" type="body"/>
          </p:nvPr>
        </p:nvSpPr>
        <p:spPr>
          <a:xfrm>
            <a:off x="10639741" y="6230538"/>
            <a:ext cx="1294637" cy="345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EDECED"/>
              </a:buClr>
              <a:buSzPts val="2000"/>
              <a:buNone/>
              <a:defRPr sz="2000">
                <a:solidFill>
                  <a:srgbClr val="EDECED"/>
                </a:solidFill>
                <a:latin typeface="Wix Madefor Display SemiBold"/>
                <a:ea typeface="Wix Madefor Display SemiBold"/>
                <a:cs typeface="Wix Madefor Display SemiBold"/>
                <a:sym typeface="Wix Madefor Display SemiBold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Wix Madefor Display"/>
              <a:buNone/>
              <a:defRPr b="0" i="0" sz="4400" u="none" cap="none" strike="noStrike">
                <a:solidFill>
                  <a:schemeClr val="lt1"/>
                </a:solidFill>
                <a:latin typeface="Wix Madefor Display"/>
                <a:ea typeface="Wix Madefor Display"/>
                <a:cs typeface="Wix Madefor Display"/>
                <a:sym typeface="Wix Madefor Display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lt1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lt1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lt1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7.png"/><Relationship Id="rId4" Type="http://schemas.openxmlformats.org/officeDocument/2006/relationships/hyperlink" Target="https://bfl.ai/blog/flux2-klein-towards-interactive-visual-intelligence" TargetMode="Externa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9.png"/><Relationship Id="rId4" Type="http://schemas.openxmlformats.org/officeDocument/2006/relationships/image" Target="../media/image7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7.gif"/><Relationship Id="rId4" Type="http://schemas.openxmlformats.org/officeDocument/2006/relationships/image" Target="../media/image67.gif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3.png"/><Relationship Id="rId4" Type="http://schemas.openxmlformats.org/officeDocument/2006/relationships/image" Target="../media/image1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3.png"/><Relationship Id="rId4" Type="http://schemas.openxmlformats.org/officeDocument/2006/relationships/image" Target="../media/image17.png"/><Relationship Id="rId5" Type="http://schemas.openxmlformats.org/officeDocument/2006/relationships/image" Target="../media/image14.png"/><Relationship Id="rId6" Type="http://schemas.openxmlformats.org/officeDocument/2006/relationships/image" Target="../media/image2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3.png"/><Relationship Id="rId4" Type="http://schemas.openxmlformats.org/officeDocument/2006/relationships/image" Target="../media/image47.png"/><Relationship Id="rId5" Type="http://schemas.openxmlformats.org/officeDocument/2006/relationships/image" Target="../media/image15.png"/><Relationship Id="rId6" Type="http://schemas.openxmlformats.org/officeDocument/2006/relationships/image" Target="../media/image31.png"/><Relationship Id="rId7" Type="http://schemas.openxmlformats.org/officeDocument/2006/relationships/image" Target="../media/image19.png"/><Relationship Id="rId8" Type="http://schemas.openxmlformats.org/officeDocument/2006/relationships/image" Target="../media/image3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3.png"/><Relationship Id="rId4" Type="http://schemas.openxmlformats.org/officeDocument/2006/relationships/image" Target="../media/image20.png"/><Relationship Id="rId5" Type="http://schemas.openxmlformats.org/officeDocument/2006/relationships/image" Target="../media/image18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8.gif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5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7.png"/><Relationship Id="rId4" Type="http://schemas.openxmlformats.org/officeDocument/2006/relationships/image" Target="../media/image24.png"/><Relationship Id="rId5" Type="http://schemas.openxmlformats.org/officeDocument/2006/relationships/image" Target="../media/image26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7.png"/><Relationship Id="rId4" Type="http://schemas.openxmlformats.org/officeDocument/2006/relationships/image" Target="../media/image24.png"/><Relationship Id="rId5" Type="http://schemas.openxmlformats.org/officeDocument/2006/relationships/image" Target="../media/image26.png"/><Relationship Id="rId6" Type="http://schemas.openxmlformats.org/officeDocument/2006/relationships/image" Target="../media/image30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7.png"/><Relationship Id="rId4" Type="http://schemas.openxmlformats.org/officeDocument/2006/relationships/image" Target="../media/image24.png"/><Relationship Id="rId5" Type="http://schemas.openxmlformats.org/officeDocument/2006/relationships/image" Target="../media/image26.png"/><Relationship Id="rId6" Type="http://schemas.openxmlformats.org/officeDocument/2006/relationships/image" Target="../media/image30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37.png"/><Relationship Id="rId4" Type="http://schemas.openxmlformats.org/officeDocument/2006/relationships/image" Target="../media/image24.png"/><Relationship Id="rId5" Type="http://schemas.openxmlformats.org/officeDocument/2006/relationships/image" Target="../media/image26.png"/><Relationship Id="rId6" Type="http://schemas.openxmlformats.org/officeDocument/2006/relationships/image" Target="../media/image30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0.png"/><Relationship Id="rId4" Type="http://schemas.openxmlformats.org/officeDocument/2006/relationships/image" Target="../media/image28.png"/><Relationship Id="rId5" Type="http://schemas.openxmlformats.org/officeDocument/2006/relationships/image" Target="../media/image35.png"/><Relationship Id="rId6" Type="http://schemas.openxmlformats.org/officeDocument/2006/relationships/image" Target="../media/image41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42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34.png"/><Relationship Id="rId4" Type="http://schemas.openxmlformats.org/officeDocument/2006/relationships/image" Target="../media/image32.png"/><Relationship Id="rId5" Type="http://schemas.openxmlformats.org/officeDocument/2006/relationships/image" Target="../media/image39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36.png"/><Relationship Id="rId4" Type="http://schemas.openxmlformats.org/officeDocument/2006/relationships/image" Target="../media/image40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36.png"/><Relationship Id="rId4" Type="http://schemas.openxmlformats.org/officeDocument/2006/relationships/image" Target="../media/image40.png"/><Relationship Id="rId5" Type="http://schemas.openxmlformats.org/officeDocument/2006/relationships/image" Target="../media/image41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58.png"/><Relationship Id="rId4" Type="http://schemas.openxmlformats.org/officeDocument/2006/relationships/image" Target="../media/image49.png"/><Relationship Id="rId9" Type="http://schemas.openxmlformats.org/officeDocument/2006/relationships/image" Target="../media/image43.png"/><Relationship Id="rId5" Type="http://schemas.openxmlformats.org/officeDocument/2006/relationships/image" Target="../media/image65.png"/><Relationship Id="rId6" Type="http://schemas.openxmlformats.org/officeDocument/2006/relationships/image" Target="../media/image54.png"/><Relationship Id="rId7" Type="http://schemas.openxmlformats.org/officeDocument/2006/relationships/image" Target="../media/image46.png"/><Relationship Id="rId8" Type="http://schemas.openxmlformats.org/officeDocument/2006/relationships/image" Target="../media/image44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58.png"/><Relationship Id="rId4" Type="http://schemas.openxmlformats.org/officeDocument/2006/relationships/image" Target="../media/image49.png"/><Relationship Id="rId9" Type="http://schemas.openxmlformats.org/officeDocument/2006/relationships/image" Target="../media/image43.png"/><Relationship Id="rId5" Type="http://schemas.openxmlformats.org/officeDocument/2006/relationships/image" Target="../media/image65.png"/><Relationship Id="rId6" Type="http://schemas.openxmlformats.org/officeDocument/2006/relationships/image" Target="../media/image54.png"/><Relationship Id="rId7" Type="http://schemas.openxmlformats.org/officeDocument/2006/relationships/image" Target="../media/image46.png"/><Relationship Id="rId8" Type="http://schemas.openxmlformats.org/officeDocument/2006/relationships/image" Target="../media/image44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36.png"/><Relationship Id="rId4" Type="http://schemas.openxmlformats.org/officeDocument/2006/relationships/image" Target="../media/image40.png"/><Relationship Id="rId5" Type="http://schemas.openxmlformats.org/officeDocument/2006/relationships/image" Target="../media/image41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36.png"/><Relationship Id="rId4" Type="http://schemas.openxmlformats.org/officeDocument/2006/relationships/image" Target="../media/image40.png"/><Relationship Id="rId5" Type="http://schemas.openxmlformats.org/officeDocument/2006/relationships/image" Target="../media/image41.png"/><Relationship Id="rId6" Type="http://schemas.openxmlformats.org/officeDocument/2006/relationships/image" Target="../media/image60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36.png"/><Relationship Id="rId4" Type="http://schemas.openxmlformats.org/officeDocument/2006/relationships/image" Target="../media/image40.png"/><Relationship Id="rId5" Type="http://schemas.openxmlformats.org/officeDocument/2006/relationships/image" Target="../media/image41.png"/><Relationship Id="rId6" Type="http://schemas.openxmlformats.org/officeDocument/2006/relationships/image" Target="../media/image28.png"/><Relationship Id="rId7" Type="http://schemas.openxmlformats.org/officeDocument/2006/relationships/image" Target="../media/image59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36.png"/><Relationship Id="rId4" Type="http://schemas.openxmlformats.org/officeDocument/2006/relationships/image" Target="../media/image40.png"/><Relationship Id="rId5" Type="http://schemas.openxmlformats.org/officeDocument/2006/relationships/image" Target="../media/image28.png"/><Relationship Id="rId6" Type="http://schemas.openxmlformats.org/officeDocument/2006/relationships/image" Target="../media/image77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61.png"/><Relationship Id="rId4" Type="http://schemas.openxmlformats.org/officeDocument/2006/relationships/image" Target="../media/image51.png"/><Relationship Id="rId5" Type="http://schemas.openxmlformats.org/officeDocument/2006/relationships/image" Target="../media/image80.png"/><Relationship Id="rId6" Type="http://schemas.openxmlformats.org/officeDocument/2006/relationships/image" Target="../media/image78.png"/><Relationship Id="rId7" Type="http://schemas.openxmlformats.org/officeDocument/2006/relationships/image" Target="../media/image52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36.png"/><Relationship Id="rId4" Type="http://schemas.openxmlformats.org/officeDocument/2006/relationships/image" Target="../media/image77.png"/><Relationship Id="rId5" Type="http://schemas.openxmlformats.org/officeDocument/2006/relationships/image" Target="../media/image64.png"/><Relationship Id="rId6" Type="http://schemas.openxmlformats.org/officeDocument/2006/relationships/image" Target="../media/image56.png"/><Relationship Id="rId7" Type="http://schemas.openxmlformats.org/officeDocument/2006/relationships/hyperlink" Target="https://arxiv.org/abs/2006.11239" TargetMode="Externa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71.png"/><Relationship Id="rId4" Type="http://schemas.openxmlformats.org/officeDocument/2006/relationships/hyperlink" Target="https://arxiv.org/pdf/2006.11239" TargetMode="Externa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82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76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73.png"/><Relationship Id="rId4" Type="http://schemas.openxmlformats.org/officeDocument/2006/relationships/hyperlink" Target="https://arxiv.org/pdf/2006.11239" TargetMode="Externa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63.png"/><Relationship Id="rId4" Type="http://schemas.openxmlformats.org/officeDocument/2006/relationships/hyperlink" Target="https://arxiv.org/pdf/2006.11239" TargetMode="Externa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70.png"/><Relationship Id="rId4" Type="http://schemas.openxmlformats.org/officeDocument/2006/relationships/hyperlink" Target="https://arxiv.org/pdf/2006.11239" TargetMode="Externa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62.png"/><Relationship Id="rId4" Type="http://schemas.openxmlformats.org/officeDocument/2006/relationships/image" Target="../media/image88.png"/><Relationship Id="rId5" Type="http://schemas.openxmlformats.org/officeDocument/2006/relationships/image" Target="../media/image83.png"/><Relationship Id="rId6" Type="http://schemas.openxmlformats.org/officeDocument/2006/relationships/hyperlink" Target="https://arxiv.org/pdf/2207.12598" TargetMode="Externa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68.png"/><Relationship Id="rId4" Type="http://schemas.openxmlformats.org/officeDocument/2006/relationships/hyperlink" Target="https://openreview.net/pdf?id=qw8AKxfYbI" TargetMode="Externa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69.png"/><Relationship Id="rId4" Type="http://schemas.openxmlformats.org/officeDocument/2006/relationships/hyperlink" Target="https://openreview.net/pdf?id=qw8AKxfYbI" TargetMode="Externa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72.png"/><Relationship Id="rId4" Type="http://schemas.openxmlformats.org/officeDocument/2006/relationships/image" Target="../media/image85.png"/><Relationship Id="rId5" Type="http://schemas.openxmlformats.org/officeDocument/2006/relationships/image" Target="../media/image91.pn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75.png"/><Relationship Id="rId4" Type="http://schemas.openxmlformats.org/officeDocument/2006/relationships/hyperlink" Target="https://arxiv.org/pdf/2112.10741" TargetMode="External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81.png"/><Relationship Id="rId4" Type="http://schemas.openxmlformats.org/officeDocument/2006/relationships/hyperlink" Target="https://arxiv.org/pdf/2112.10741" TargetMode="External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86.png"/><Relationship Id="rId4" Type="http://schemas.openxmlformats.org/officeDocument/2006/relationships/image" Target="../media/image90.png"/><Relationship Id="rId5" Type="http://schemas.openxmlformats.org/officeDocument/2006/relationships/hyperlink" Target="https://arxiv.org/pdf/2205.11487" TargetMode="External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79.png"/><Relationship Id="rId4" Type="http://schemas.openxmlformats.org/officeDocument/2006/relationships/hyperlink" Target="https://arxiv.org/pdf/2205.11487" TargetMode="External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3.xml"/><Relationship Id="rId3" Type="http://schemas.openxmlformats.org/officeDocument/2006/relationships/hyperlink" Target="https://arxiv.org/abs/2204.06125" TargetMode="External"/><Relationship Id="rId4" Type="http://schemas.openxmlformats.org/officeDocument/2006/relationships/image" Target="../media/image89.png"/><Relationship Id="rId5" Type="http://schemas.openxmlformats.org/officeDocument/2006/relationships/image" Target="../media/image92.png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7.jpg"/><Relationship Id="rId4" Type="http://schemas.openxmlformats.org/officeDocument/2006/relationships/image" Target="../media/image84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/>
          <p:nvPr>
            <p:ph idx="1" type="body"/>
          </p:nvPr>
        </p:nvSpPr>
        <p:spPr>
          <a:xfrm>
            <a:off x="10639741" y="6230538"/>
            <a:ext cx="1294500" cy="345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rtl="0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4"/>
          <p:cNvSpPr txBox="1"/>
          <p:nvPr>
            <p:ph idx="2" type="body"/>
          </p:nvPr>
        </p:nvSpPr>
        <p:spPr>
          <a:xfrm>
            <a:off x="5107039" y="1754562"/>
            <a:ext cx="7428000" cy="15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DECED"/>
              </a:buClr>
              <a:buSzPts val="5400"/>
              <a:buNone/>
            </a:pPr>
            <a:r>
              <a:rPr lang="en-US"/>
              <a:t>Diffusion models</a:t>
            </a:r>
            <a:endParaRPr/>
          </a:p>
        </p:txBody>
      </p:sp>
      <p:sp>
        <p:nvSpPr>
          <p:cNvPr id="90" name="Google Shape;90;p14"/>
          <p:cNvSpPr txBox="1"/>
          <p:nvPr>
            <p:ph idx="4" type="body"/>
          </p:nvPr>
        </p:nvSpPr>
        <p:spPr>
          <a:xfrm>
            <a:off x="663975" y="4731202"/>
            <a:ext cx="3600000" cy="18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EDECED"/>
              </a:buClr>
              <a:buSzPts val="1140"/>
              <a:buNone/>
            </a:pPr>
            <a:r>
              <a:rPr lang="en-US" sz="2140"/>
              <a:t>Коновалова Нина</a:t>
            </a:r>
            <a:endParaRPr sz="2140"/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EDECED"/>
              </a:buClr>
              <a:buSzPts val="1140"/>
              <a:buNone/>
            </a:pPr>
            <a:r>
              <a:t/>
            </a:r>
            <a:endParaRPr sz="2140"/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EDECED"/>
              </a:buClr>
              <a:buSzPts val="1140"/>
              <a:buNone/>
            </a:pPr>
            <a:r>
              <a:rPr lang="en-US" sz="2140"/>
              <a:t>@ReadingAI</a:t>
            </a:r>
            <a:endParaRPr sz="2140"/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EDECED"/>
              </a:buClr>
              <a:buSzPts val="1140"/>
              <a:buNone/>
            </a:pPr>
            <a:r>
              <a:t/>
            </a:r>
            <a:endParaRPr sz="2140"/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EDECED"/>
              </a:buClr>
              <a:buSzPts val="1140"/>
              <a:buNone/>
            </a:pPr>
            <a:r>
              <a:rPr lang="en-US" sz="2140"/>
              <a:t>@AfeliaN</a:t>
            </a:r>
            <a:endParaRPr sz="2140"/>
          </a:p>
        </p:txBody>
      </p:sp>
      <p:pic>
        <p:nvPicPr>
          <p:cNvPr id="91" name="Google Shape;91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30478" y="1375871"/>
            <a:ext cx="2358550" cy="31447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5"/>
          <p:cNvSpPr txBox="1"/>
          <p:nvPr/>
        </p:nvSpPr>
        <p:spPr>
          <a:xfrm>
            <a:off x="1097280" y="1600200"/>
            <a:ext cx="5486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6FD3E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PART 1</a:t>
            </a:r>
            <a:endParaRPr/>
          </a:p>
        </p:txBody>
      </p:sp>
      <p:sp>
        <p:nvSpPr>
          <p:cNvPr id="97" name="Google Shape;97;p15"/>
          <p:cNvSpPr txBox="1"/>
          <p:nvPr/>
        </p:nvSpPr>
        <p:spPr>
          <a:xfrm>
            <a:off x="1097280" y="2148840"/>
            <a:ext cx="5669280" cy="173736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Diffusion models</a:t>
            </a:r>
            <a:endParaRPr/>
          </a:p>
        </p:txBody>
      </p:sp>
      <p:sp>
        <p:nvSpPr>
          <p:cNvPr id="98" name="Google Shape;98;p15"/>
          <p:cNvSpPr txBox="1"/>
          <p:nvPr/>
        </p:nvSpPr>
        <p:spPr>
          <a:xfrm>
            <a:off x="1097280" y="4114800"/>
            <a:ext cx="54864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CFC8F2"/>
                </a:solidFill>
                <a:latin typeface="Arial"/>
                <a:ea typeface="Arial"/>
                <a:cs typeface="Arial"/>
                <a:sym typeface="Arial"/>
              </a:rPr>
              <a:t>Basics: forward &amp; reverse processes, training, guidance and text-to-image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6"/>
          <p:cNvSpPr txBox="1"/>
          <p:nvPr/>
        </p:nvSpPr>
        <p:spPr>
          <a:xfrm>
            <a:off x="566928" y="310896"/>
            <a:ext cx="8686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159AA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PART 1 · BASICS</a:t>
            </a:r>
            <a:endParaRPr/>
          </a:p>
        </p:txBody>
      </p:sp>
      <p:sp>
        <p:nvSpPr>
          <p:cNvPr id="104" name="Google Shape;104;p16"/>
          <p:cNvSpPr txBox="1"/>
          <p:nvPr/>
        </p:nvSpPr>
        <p:spPr>
          <a:xfrm>
            <a:off x="548640" y="566928"/>
            <a:ext cx="96926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20124D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Agenda</a:t>
            </a:r>
            <a:endParaRPr/>
          </a:p>
        </p:txBody>
      </p:sp>
      <p:sp>
        <p:nvSpPr>
          <p:cNvPr id="105" name="Google Shape;105;p16"/>
          <p:cNvSpPr/>
          <p:nvPr/>
        </p:nvSpPr>
        <p:spPr>
          <a:xfrm>
            <a:off x="1325880" y="1371600"/>
            <a:ext cx="10241280" cy="804672"/>
          </a:xfrm>
          <a:prstGeom prst="roundRect">
            <a:avLst>
              <a:gd fmla="val 18182" name="adj"/>
            </a:avLst>
          </a:prstGeom>
          <a:solidFill>
            <a:srgbClr val="FFFFFF"/>
          </a:solidFill>
          <a:ln cap="flat" cmpd="sng" w="12700">
            <a:solidFill>
              <a:srgbClr val="E1DEEE"/>
            </a:solidFill>
            <a:prstDash val="solid"/>
            <a:round/>
            <a:headEnd len="sm" w="sm" type="none"/>
            <a:tailEnd len="sm" w="sm" type="none"/>
          </a:ln>
          <a:effectLst>
            <a:outerShdw blurRad="228600" rotWithShape="0" algn="t" dir="5400000" dist="50800">
              <a:srgbClr val="20124D">
                <a:alpha val="12941"/>
              </a:srgbClr>
            </a:outerShdw>
          </a:effectLst>
        </p:spPr>
        <p:txBody>
          <a:bodyPr anchorCtr="0" anchor="ctr" bIns="73150" lIns="109725" spcFirstLastPara="1" rIns="109725" wrap="square" tIns="73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16"/>
          <p:cNvSpPr txBox="1"/>
          <p:nvPr/>
        </p:nvSpPr>
        <p:spPr>
          <a:xfrm>
            <a:off x="1600200" y="1371600"/>
            <a:ext cx="914400" cy="8046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159AA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01</a:t>
            </a:r>
            <a:endParaRPr/>
          </a:p>
        </p:txBody>
      </p:sp>
      <p:sp>
        <p:nvSpPr>
          <p:cNvPr id="107" name="Google Shape;107;p16"/>
          <p:cNvSpPr txBox="1"/>
          <p:nvPr/>
        </p:nvSpPr>
        <p:spPr>
          <a:xfrm>
            <a:off x="2606040" y="1371600"/>
            <a:ext cx="3291840" cy="8046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20124D"/>
                </a:solidFill>
                <a:latin typeface="Arial"/>
                <a:ea typeface="Arial"/>
                <a:cs typeface="Arial"/>
                <a:sym typeface="Arial"/>
              </a:rPr>
              <a:t>Forward process</a:t>
            </a:r>
            <a:endParaRPr/>
          </a:p>
        </p:txBody>
      </p:sp>
      <p:sp>
        <p:nvSpPr>
          <p:cNvPr id="108" name="Google Shape;108;p16"/>
          <p:cNvSpPr txBox="1"/>
          <p:nvPr/>
        </p:nvSpPr>
        <p:spPr>
          <a:xfrm>
            <a:off x="5852160" y="1371600"/>
            <a:ext cx="5486400" cy="8046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6B6F85"/>
                </a:solidFill>
                <a:latin typeface="Arial"/>
                <a:ea typeface="Arial"/>
                <a:cs typeface="Arial"/>
                <a:sym typeface="Arial"/>
              </a:rPr>
              <a:t>How noise is added: variance exploding vs variance preserving</a:t>
            </a:r>
            <a:endParaRPr/>
          </a:p>
        </p:txBody>
      </p:sp>
      <p:sp>
        <p:nvSpPr>
          <p:cNvPr id="109" name="Google Shape;109;p16"/>
          <p:cNvSpPr/>
          <p:nvPr/>
        </p:nvSpPr>
        <p:spPr>
          <a:xfrm>
            <a:off x="1325880" y="2322576"/>
            <a:ext cx="10241280" cy="804672"/>
          </a:xfrm>
          <a:prstGeom prst="roundRect">
            <a:avLst>
              <a:gd fmla="val 18182" name="adj"/>
            </a:avLst>
          </a:prstGeom>
          <a:solidFill>
            <a:srgbClr val="FFFFFF"/>
          </a:solidFill>
          <a:ln cap="flat" cmpd="sng" w="12700">
            <a:solidFill>
              <a:srgbClr val="E1DEEE"/>
            </a:solidFill>
            <a:prstDash val="solid"/>
            <a:round/>
            <a:headEnd len="sm" w="sm" type="none"/>
            <a:tailEnd len="sm" w="sm" type="none"/>
          </a:ln>
          <a:effectLst>
            <a:outerShdw blurRad="228600" rotWithShape="0" algn="t" dir="5400000" dist="50800">
              <a:srgbClr val="20124D">
                <a:alpha val="12941"/>
              </a:srgbClr>
            </a:outerShdw>
          </a:effectLst>
        </p:spPr>
        <p:txBody>
          <a:bodyPr anchorCtr="0" anchor="ctr" bIns="73150" lIns="109725" spcFirstLastPara="1" rIns="109725" wrap="square" tIns="73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16"/>
          <p:cNvSpPr txBox="1"/>
          <p:nvPr/>
        </p:nvSpPr>
        <p:spPr>
          <a:xfrm>
            <a:off x="1600200" y="2322576"/>
            <a:ext cx="914400" cy="8046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159AA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02</a:t>
            </a:r>
            <a:endParaRPr/>
          </a:p>
        </p:txBody>
      </p:sp>
      <p:sp>
        <p:nvSpPr>
          <p:cNvPr id="111" name="Google Shape;111;p16"/>
          <p:cNvSpPr txBox="1"/>
          <p:nvPr/>
        </p:nvSpPr>
        <p:spPr>
          <a:xfrm>
            <a:off x="2606040" y="2322576"/>
            <a:ext cx="3291840" cy="8046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20124D"/>
                </a:solidFill>
                <a:latin typeface="Arial"/>
                <a:ea typeface="Arial"/>
                <a:cs typeface="Arial"/>
                <a:sym typeface="Arial"/>
              </a:rPr>
              <a:t>Reverse process</a:t>
            </a:r>
            <a:endParaRPr/>
          </a:p>
        </p:txBody>
      </p:sp>
      <p:sp>
        <p:nvSpPr>
          <p:cNvPr id="112" name="Google Shape;112;p16"/>
          <p:cNvSpPr txBox="1"/>
          <p:nvPr/>
        </p:nvSpPr>
        <p:spPr>
          <a:xfrm>
            <a:off x="5852160" y="2322576"/>
            <a:ext cx="5486400" cy="8046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6B6F85"/>
                </a:solidFill>
                <a:latin typeface="Arial"/>
                <a:ea typeface="Arial"/>
                <a:cs typeface="Arial"/>
                <a:sym typeface="Arial"/>
              </a:rPr>
              <a:t>Step-by-step denoising and how it compares to a VAE</a:t>
            </a:r>
            <a:endParaRPr/>
          </a:p>
        </p:txBody>
      </p:sp>
      <p:sp>
        <p:nvSpPr>
          <p:cNvPr id="113" name="Google Shape;113;p16"/>
          <p:cNvSpPr/>
          <p:nvPr/>
        </p:nvSpPr>
        <p:spPr>
          <a:xfrm>
            <a:off x="1325880" y="3273552"/>
            <a:ext cx="10241280" cy="804672"/>
          </a:xfrm>
          <a:prstGeom prst="roundRect">
            <a:avLst>
              <a:gd fmla="val 18182" name="adj"/>
            </a:avLst>
          </a:prstGeom>
          <a:solidFill>
            <a:srgbClr val="FFFFFF"/>
          </a:solidFill>
          <a:ln cap="flat" cmpd="sng" w="12700">
            <a:solidFill>
              <a:srgbClr val="E1DEEE"/>
            </a:solidFill>
            <a:prstDash val="solid"/>
            <a:round/>
            <a:headEnd len="sm" w="sm" type="none"/>
            <a:tailEnd len="sm" w="sm" type="none"/>
          </a:ln>
          <a:effectLst>
            <a:outerShdw blurRad="228600" rotWithShape="0" algn="t" dir="5400000" dist="50800">
              <a:srgbClr val="20124D">
                <a:alpha val="12941"/>
              </a:srgbClr>
            </a:outerShdw>
          </a:effectLst>
        </p:spPr>
        <p:txBody>
          <a:bodyPr anchorCtr="0" anchor="ctr" bIns="73150" lIns="109725" spcFirstLastPara="1" rIns="109725" wrap="square" tIns="73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16"/>
          <p:cNvSpPr txBox="1"/>
          <p:nvPr/>
        </p:nvSpPr>
        <p:spPr>
          <a:xfrm>
            <a:off x="1600200" y="3273552"/>
            <a:ext cx="914400" cy="8046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159AA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03</a:t>
            </a:r>
            <a:endParaRPr/>
          </a:p>
        </p:txBody>
      </p:sp>
      <p:sp>
        <p:nvSpPr>
          <p:cNvPr id="115" name="Google Shape;115;p16"/>
          <p:cNvSpPr txBox="1"/>
          <p:nvPr/>
        </p:nvSpPr>
        <p:spPr>
          <a:xfrm>
            <a:off x="2606040" y="3273552"/>
            <a:ext cx="3291840" cy="8046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20124D"/>
                </a:solidFill>
                <a:latin typeface="Arial"/>
                <a:ea typeface="Arial"/>
                <a:cs typeface="Arial"/>
                <a:sym typeface="Arial"/>
              </a:rPr>
              <a:t>Training</a:t>
            </a:r>
            <a:endParaRPr/>
          </a:p>
        </p:txBody>
      </p:sp>
      <p:sp>
        <p:nvSpPr>
          <p:cNvPr id="116" name="Google Shape;116;p16"/>
          <p:cNvSpPr txBox="1"/>
          <p:nvPr/>
        </p:nvSpPr>
        <p:spPr>
          <a:xfrm>
            <a:off x="5852160" y="3273552"/>
            <a:ext cx="5486400" cy="8046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6B6F85"/>
                </a:solidFill>
                <a:latin typeface="Arial"/>
                <a:ea typeface="Arial"/>
                <a:cs typeface="Arial"/>
                <a:sym typeface="Arial"/>
              </a:rPr>
              <a:t>ELBO, the simplified loss and the training / sampling algorithms</a:t>
            </a:r>
            <a:endParaRPr/>
          </a:p>
        </p:txBody>
      </p:sp>
      <p:sp>
        <p:nvSpPr>
          <p:cNvPr id="117" name="Google Shape;117;p16"/>
          <p:cNvSpPr/>
          <p:nvPr/>
        </p:nvSpPr>
        <p:spPr>
          <a:xfrm>
            <a:off x="1325880" y="4224528"/>
            <a:ext cx="10241280" cy="804672"/>
          </a:xfrm>
          <a:prstGeom prst="roundRect">
            <a:avLst>
              <a:gd fmla="val 18182" name="adj"/>
            </a:avLst>
          </a:prstGeom>
          <a:solidFill>
            <a:srgbClr val="FFFFFF"/>
          </a:solidFill>
          <a:ln cap="flat" cmpd="sng" w="12700">
            <a:solidFill>
              <a:srgbClr val="E1DEEE"/>
            </a:solidFill>
            <a:prstDash val="solid"/>
            <a:round/>
            <a:headEnd len="sm" w="sm" type="none"/>
            <a:tailEnd len="sm" w="sm" type="none"/>
          </a:ln>
          <a:effectLst>
            <a:outerShdw blurRad="228600" rotWithShape="0" algn="t" dir="5400000" dist="50800">
              <a:srgbClr val="20124D">
                <a:alpha val="12941"/>
              </a:srgbClr>
            </a:outerShdw>
          </a:effectLst>
        </p:spPr>
        <p:txBody>
          <a:bodyPr anchorCtr="0" anchor="ctr" bIns="73150" lIns="109725" spcFirstLastPara="1" rIns="109725" wrap="square" tIns="73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16"/>
          <p:cNvSpPr txBox="1"/>
          <p:nvPr/>
        </p:nvSpPr>
        <p:spPr>
          <a:xfrm>
            <a:off x="1600200" y="4224528"/>
            <a:ext cx="914400" cy="8046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159AA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04</a:t>
            </a:r>
            <a:endParaRPr/>
          </a:p>
        </p:txBody>
      </p:sp>
      <p:sp>
        <p:nvSpPr>
          <p:cNvPr id="119" name="Google Shape;119;p16"/>
          <p:cNvSpPr txBox="1"/>
          <p:nvPr/>
        </p:nvSpPr>
        <p:spPr>
          <a:xfrm>
            <a:off x="2606040" y="4224528"/>
            <a:ext cx="3291840" cy="8046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20124D"/>
                </a:solidFill>
                <a:latin typeface="Arial"/>
                <a:ea typeface="Arial"/>
                <a:cs typeface="Arial"/>
                <a:sym typeface="Arial"/>
              </a:rPr>
              <a:t>DDPM &amp; guidance</a:t>
            </a:r>
            <a:endParaRPr/>
          </a:p>
        </p:txBody>
      </p:sp>
      <p:sp>
        <p:nvSpPr>
          <p:cNvPr id="120" name="Google Shape;120;p16"/>
          <p:cNvSpPr txBox="1"/>
          <p:nvPr/>
        </p:nvSpPr>
        <p:spPr>
          <a:xfrm>
            <a:off x="5852160" y="4224528"/>
            <a:ext cx="5486400" cy="8046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6B6F85"/>
                </a:solidFill>
                <a:latin typeface="Arial"/>
                <a:ea typeface="Arial"/>
                <a:cs typeface="Arial"/>
                <a:sym typeface="Arial"/>
              </a:rPr>
              <a:t>Samples in pixel space, classifier and classifier-free guidance</a:t>
            </a:r>
            <a:endParaRPr/>
          </a:p>
        </p:txBody>
      </p:sp>
      <p:sp>
        <p:nvSpPr>
          <p:cNvPr id="121" name="Google Shape;121;p16"/>
          <p:cNvSpPr/>
          <p:nvPr/>
        </p:nvSpPr>
        <p:spPr>
          <a:xfrm>
            <a:off x="1325880" y="5175504"/>
            <a:ext cx="10241280" cy="804672"/>
          </a:xfrm>
          <a:prstGeom prst="roundRect">
            <a:avLst>
              <a:gd fmla="val 18182" name="adj"/>
            </a:avLst>
          </a:prstGeom>
          <a:solidFill>
            <a:srgbClr val="FFFFFF"/>
          </a:solidFill>
          <a:ln cap="flat" cmpd="sng" w="12700">
            <a:solidFill>
              <a:srgbClr val="E1DEEE"/>
            </a:solidFill>
            <a:prstDash val="solid"/>
            <a:round/>
            <a:headEnd len="sm" w="sm" type="none"/>
            <a:tailEnd len="sm" w="sm" type="none"/>
          </a:ln>
          <a:effectLst>
            <a:outerShdw blurRad="228600" rotWithShape="0" algn="t" dir="5400000" dist="50800">
              <a:srgbClr val="20124D">
                <a:alpha val="12941"/>
              </a:srgbClr>
            </a:outerShdw>
          </a:effectLst>
        </p:spPr>
        <p:txBody>
          <a:bodyPr anchorCtr="0" anchor="ctr" bIns="73150" lIns="109725" spcFirstLastPara="1" rIns="109725" wrap="square" tIns="73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16"/>
          <p:cNvSpPr txBox="1"/>
          <p:nvPr/>
        </p:nvSpPr>
        <p:spPr>
          <a:xfrm>
            <a:off x="1600200" y="5175504"/>
            <a:ext cx="914400" cy="8046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159AA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05</a:t>
            </a:r>
            <a:endParaRPr/>
          </a:p>
        </p:txBody>
      </p:sp>
      <p:sp>
        <p:nvSpPr>
          <p:cNvPr id="123" name="Google Shape;123;p16"/>
          <p:cNvSpPr txBox="1"/>
          <p:nvPr/>
        </p:nvSpPr>
        <p:spPr>
          <a:xfrm>
            <a:off x="2606040" y="5175504"/>
            <a:ext cx="3291840" cy="8046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20124D"/>
                </a:solidFill>
                <a:latin typeface="Arial"/>
                <a:ea typeface="Arial"/>
                <a:cs typeface="Arial"/>
                <a:sym typeface="Arial"/>
              </a:rPr>
              <a:t>Text-to-image</a:t>
            </a:r>
            <a:endParaRPr/>
          </a:p>
        </p:txBody>
      </p:sp>
      <p:sp>
        <p:nvSpPr>
          <p:cNvPr id="124" name="Google Shape;124;p16"/>
          <p:cNvSpPr txBox="1"/>
          <p:nvPr/>
        </p:nvSpPr>
        <p:spPr>
          <a:xfrm>
            <a:off x="5852160" y="5175504"/>
            <a:ext cx="5486400" cy="8046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6B6F85"/>
                </a:solidFill>
                <a:latin typeface="Arial"/>
                <a:ea typeface="Arial"/>
                <a:cs typeface="Arial"/>
                <a:sym typeface="Arial"/>
              </a:rPr>
              <a:t>GLIDE</a:t>
            </a:r>
            <a:r>
              <a:rPr lang="en-US" sz="1500">
                <a:solidFill>
                  <a:srgbClr val="6B6F85"/>
                </a:solidFill>
              </a:rPr>
              <a:t>,</a:t>
            </a:r>
            <a:r>
              <a:rPr b="0" i="0" lang="en-US" sz="1500" u="none" cap="none" strike="noStrike">
                <a:solidFill>
                  <a:srgbClr val="6B6F85"/>
                </a:solidFill>
                <a:latin typeface="Arial"/>
                <a:ea typeface="Arial"/>
                <a:cs typeface="Arial"/>
                <a:sym typeface="Arial"/>
              </a:rPr>
              <a:t> Imagen, Dalle2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7"/>
          <p:cNvSpPr txBox="1"/>
          <p:nvPr/>
        </p:nvSpPr>
        <p:spPr>
          <a:xfrm>
            <a:off x="566928" y="310896"/>
            <a:ext cx="8686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159AA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01 · FORWARD PROCESS</a:t>
            </a:r>
            <a:endParaRPr/>
          </a:p>
        </p:txBody>
      </p:sp>
      <p:sp>
        <p:nvSpPr>
          <p:cNvPr id="130" name="Google Shape;130;p17"/>
          <p:cNvSpPr txBox="1"/>
          <p:nvPr/>
        </p:nvSpPr>
        <p:spPr>
          <a:xfrm>
            <a:off x="548640" y="566928"/>
            <a:ext cx="96926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20124D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Generative models</a:t>
            </a:r>
            <a:endParaRPr/>
          </a:p>
        </p:txBody>
      </p:sp>
      <p:sp>
        <p:nvSpPr>
          <p:cNvPr id="131" name="Google Shape;131;p17"/>
          <p:cNvSpPr/>
          <p:nvPr/>
        </p:nvSpPr>
        <p:spPr>
          <a:xfrm>
            <a:off x="1325880" y="1600200"/>
            <a:ext cx="3931920" cy="1554480"/>
          </a:xfrm>
          <a:prstGeom prst="roundRect">
            <a:avLst>
              <a:gd fmla="val 9412" name="adj"/>
            </a:avLst>
          </a:prstGeom>
          <a:solidFill>
            <a:srgbClr val="F4F3FA"/>
          </a:solidFill>
          <a:ln>
            <a:noFill/>
          </a:ln>
        </p:spPr>
        <p:txBody>
          <a:bodyPr anchorCtr="0" anchor="ctr" bIns="73150" lIns="109725" spcFirstLastPara="1" rIns="109725" wrap="square" tIns="73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17"/>
          <p:cNvSpPr/>
          <p:nvPr/>
        </p:nvSpPr>
        <p:spPr>
          <a:xfrm>
            <a:off x="1554480" y="1828800"/>
            <a:ext cx="420624" cy="420624"/>
          </a:xfrm>
          <a:prstGeom prst="ellipse">
            <a:avLst/>
          </a:prstGeom>
          <a:solidFill>
            <a:srgbClr val="159AAE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</a:t>
            </a:r>
            <a:endParaRPr/>
          </a:p>
        </p:txBody>
      </p:sp>
      <p:sp>
        <p:nvSpPr>
          <p:cNvPr id="133" name="Google Shape;133;p17"/>
          <p:cNvSpPr txBox="1"/>
          <p:nvPr/>
        </p:nvSpPr>
        <p:spPr>
          <a:xfrm>
            <a:off x="2148840" y="1801368"/>
            <a:ext cx="29260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20124D"/>
                </a:solidFill>
                <a:latin typeface="Arial"/>
                <a:ea typeface="Arial"/>
                <a:cs typeface="Arial"/>
                <a:sym typeface="Arial"/>
              </a:rPr>
              <a:t>Training</a:t>
            </a:r>
            <a:endParaRPr/>
          </a:p>
        </p:txBody>
      </p:sp>
      <p:sp>
        <p:nvSpPr>
          <p:cNvPr id="134" name="Google Shape;134;p17"/>
          <p:cNvSpPr txBox="1"/>
          <p:nvPr/>
        </p:nvSpPr>
        <p:spPr>
          <a:xfrm>
            <a:off x="1600200" y="2331720"/>
            <a:ext cx="347472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23213A"/>
                </a:solidFill>
                <a:latin typeface="Arial"/>
                <a:ea typeface="Arial"/>
                <a:cs typeface="Arial"/>
                <a:sym typeface="Arial"/>
              </a:rPr>
              <a:t>Learn the data distribution p(x) from a set of samples</a:t>
            </a:r>
            <a:endParaRPr/>
          </a:p>
        </p:txBody>
      </p:sp>
      <p:sp>
        <p:nvSpPr>
          <p:cNvPr id="135" name="Google Shape;135;p17"/>
          <p:cNvSpPr/>
          <p:nvPr/>
        </p:nvSpPr>
        <p:spPr>
          <a:xfrm>
            <a:off x="1325880" y="3383280"/>
            <a:ext cx="3931920" cy="1554480"/>
          </a:xfrm>
          <a:prstGeom prst="roundRect">
            <a:avLst>
              <a:gd fmla="val 9412" name="adj"/>
            </a:avLst>
          </a:prstGeom>
          <a:solidFill>
            <a:srgbClr val="F4F3FA"/>
          </a:solidFill>
          <a:ln>
            <a:noFill/>
          </a:ln>
        </p:spPr>
        <p:txBody>
          <a:bodyPr anchorCtr="0" anchor="ctr" bIns="73150" lIns="109725" spcFirstLastPara="1" rIns="109725" wrap="square" tIns="73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17"/>
          <p:cNvSpPr/>
          <p:nvPr/>
        </p:nvSpPr>
        <p:spPr>
          <a:xfrm>
            <a:off x="1554480" y="3611880"/>
            <a:ext cx="420624" cy="420624"/>
          </a:xfrm>
          <a:prstGeom prst="ellipse">
            <a:avLst/>
          </a:prstGeom>
          <a:solidFill>
            <a:srgbClr val="159AAE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2</a:t>
            </a:r>
            <a:endParaRPr/>
          </a:p>
        </p:txBody>
      </p:sp>
      <p:sp>
        <p:nvSpPr>
          <p:cNvPr id="137" name="Google Shape;137;p17"/>
          <p:cNvSpPr txBox="1"/>
          <p:nvPr/>
        </p:nvSpPr>
        <p:spPr>
          <a:xfrm>
            <a:off x="2148840" y="3584448"/>
            <a:ext cx="29260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20124D"/>
                </a:solidFill>
                <a:latin typeface="Arial"/>
                <a:ea typeface="Arial"/>
                <a:cs typeface="Arial"/>
                <a:sym typeface="Arial"/>
              </a:rPr>
              <a:t>Sampling</a:t>
            </a:r>
            <a:endParaRPr/>
          </a:p>
        </p:txBody>
      </p:sp>
      <p:sp>
        <p:nvSpPr>
          <p:cNvPr id="138" name="Google Shape;138;p17"/>
          <p:cNvSpPr txBox="1"/>
          <p:nvPr/>
        </p:nvSpPr>
        <p:spPr>
          <a:xfrm>
            <a:off x="1600200" y="4114800"/>
            <a:ext cx="347472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23213A"/>
                </a:solidFill>
                <a:latin typeface="Arial"/>
                <a:ea typeface="Arial"/>
                <a:cs typeface="Arial"/>
                <a:sym typeface="Arial"/>
              </a:rPr>
              <a:t>Draw new, previously unseen samples from the learned distribution</a:t>
            </a:r>
            <a:endParaRPr/>
          </a:p>
        </p:txBody>
      </p:sp>
      <p:sp>
        <p:nvSpPr>
          <p:cNvPr id="139" name="Google Shape;139;p17"/>
          <p:cNvSpPr/>
          <p:nvPr/>
        </p:nvSpPr>
        <p:spPr>
          <a:xfrm>
            <a:off x="5577840" y="1262756"/>
            <a:ext cx="6080760" cy="4926847"/>
          </a:xfrm>
          <a:prstGeom prst="roundRect">
            <a:avLst>
              <a:gd fmla="val 2970" name="adj"/>
            </a:avLst>
          </a:prstGeom>
          <a:solidFill>
            <a:srgbClr val="FFFFFF"/>
          </a:solidFill>
          <a:ln cap="flat" cmpd="sng" w="12700">
            <a:solidFill>
              <a:srgbClr val="E1DEEE"/>
            </a:solidFill>
            <a:prstDash val="solid"/>
            <a:round/>
            <a:headEnd len="sm" w="sm" type="none"/>
            <a:tailEnd len="sm" w="sm" type="none"/>
          </a:ln>
          <a:effectLst>
            <a:outerShdw blurRad="228600" rotWithShape="0" algn="t" dir="5400000" dist="50800">
              <a:srgbClr val="20124D">
                <a:alpha val="12941"/>
              </a:srgbClr>
            </a:outerShdw>
          </a:effectLst>
        </p:spPr>
        <p:txBody>
          <a:bodyPr anchorCtr="0" anchor="ctr" bIns="73150" lIns="109725" spcFirstLastPara="1" rIns="109725" wrap="square" tIns="73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0" name="Google Shape;140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0" y="1399916"/>
            <a:ext cx="5806440" cy="4652527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7"/>
          <p:cNvSpPr txBox="1"/>
          <p:nvPr/>
        </p:nvSpPr>
        <p:spPr>
          <a:xfrm>
            <a:off x="5715000" y="6235324"/>
            <a:ext cx="5806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6B6F85"/>
                </a:solidFill>
                <a:latin typeface="Arial"/>
                <a:ea typeface="Arial"/>
                <a:cs typeface="Arial"/>
                <a:sym typeface="Arial"/>
              </a:rPr>
              <a:t>Images: </a:t>
            </a:r>
            <a:r>
              <a:rPr b="0" i="0" lang="en-US" sz="1100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4"/>
              </a:rPr>
              <a:t>FLUX.2 [klein]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8"/>
          <p:cNvSpPr txBox="1"/>
          <p:nvPr/>
        </p:nvSpPr>
        <p:spPr>
          <a:xfrm>
            <a:off x="566928" y="310896"/>
            <a:ext cx="8686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159AA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01 · FORWARD PROCESS</a:t>
            </a:r>
            <a:endParaRPr/>
          </a:p>
        </p:txBody>
      </p:sp>
      <p:sp>
        <p:nvSpPr>
          <p:cNvPr id="147" name="Google Shape;147;p18"/>
          <p:cNvSpPr txBox="1"/>
          <p:nvPr/>
        </p:nvSpPr>
        <p:spPr>
          <a:xfrm>
            <a:off x="548640" y="566928"/>
            <a:ext cx="96926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20124D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Generative models: a taxonomy</a:t>
            </a:r>
            <a:endParaRPr/>
          </a:p>
        </p:txBody>
      </p:sp>
      <p:cxnSp>
        <p:nvCxnSpPr>
          <p:cNvPr id="148" name="Google Shape;148;p18"/>
          <p:cNvCxnSpPr/>
          <p:nvPr/>
        </p:nvCxnSpPr>
        <p:spPr>
          <a:xfrm>
            <a:off x="7155180" y="1920240"/>
            <a:ext cx="0" cy="251460"/>
          </a:xfrm>
          <a:prstGeom prst="straightConnector1">
            <a:avLst/>
          </a:prstGeom>
          <a:noFill/>
          <a:ln cap="flat" cmpd="sng" w="19050">
            <a:solidFill>
              <a:srgbClr val="BFC3D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9" name="Google Shape;149;p18"/>
          <p:cNvCxnSpPr/>
          <p:nvPr/>
        </p:nvCxnSpPr>
        <p:spPr>
          <a:xfrm>
            <a:off x="4617720" y="2171700"/>
            <a:ext cx="5074920" cy="0"/>
          </a:xfrm>
          <a:prstGeom prst="straightConnector1">
            <a:avLst/>
          </a:prstGeom>
          <a:noFill/>
          <a:ln cap="flat" cmpd="sng" w="19050">
            <a:solidFill>
              <a:srgbClr val="BFC3D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0" name="Google Shape;150;p18"/>
          <p:cNvCxnSpPr/>
          <p:nvPr/>
        </p:nvCxnSpPr>
        <p:spPr>
          <a:xfrm>
            <a:off x="4617720" y="2171700"/>
            <a:ext cx="0" cy="251460"/>
          </a:xfrm>
          <a:prstGeom prst="straightConnector1">
            <a:avLst/>
          </a:prstGeom>
          <a:noFill/>
          <a:ln cap="flat" cmpd="sng" w="19050">
            <a:solidFill>
              <a:srgbClr val="BFC3D9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51" name="Google Shape;151;p18"/>
          <p:cNvCxnSpPr/>
          <p:nvPr/>
        </p:nvCxnSpPr>
        <p:spPr>
          <a:xfrm>
            <a:off x="9692640" y="2171700"/>
            <a:ext cx="0" cy="251460"/>
          </a:xfrm>
          <a:prstGeom prst="straightConnector1">
            <a:avLst/>
          </a:prstGeom>
          <a:noFill/>
          <a:ln cap="flat" cmpd="sng" w="19050">
            <a:solidFill>
              <a:srgbClr val="BFC3D9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52" name="Google Shape;152;p18"/>
          <p:cNvCxnSpPr/>
          <p:nvPr/>
        </p:nvCxnSpPr>
        <p:spPr>
          <a:xfrm>
            <a:off x="4617720" y="2971800"/>
            <a:ext cx="0" cy="251460"/>
          </a:xfrm>
          <a:prstGeom prst="straightConnector1">
            <a:avLst/>
          </a:prstGeom>
          <a:noFill/>
          <a:ln cap="flat" cmpd="sng" w="19050">
            <a:solidFill>
              <a:srgbClr val="BFC3D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3" name="Google Shape;153;p18"/>
          <p:cNvCxnSpPr/>
          <p:nvPr/>
        </p:nvCxnSpPr>
        <p:spPr>
          <a:xfrm>
            <a:off x="2926080" y="3223260"/>
            <a:ext cx="3383280" cy="0"/>
          </a:xfrm>
          <a:prstGeom prst="straightConnector1">
            <a:avLst/>
          </a:prstGeom>
          <a:noFill/>
          <a:ln cap="flat" cmpd="sng" w="19050">
            <a:solidFill>
              <a:srgbClr val="BFC3D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4" name="Google Shape;154;p18"/>
          <p:cNvCxnSpPr/>
          <p:nvPr/>
        </p:nvCxnSpPr>
        <p:spPr>
          <a:xfrm>
            <a:off x="2926080" y="3223260"/>
            <a:ext cx="0" cy="251460"/>
          </a:xfrm>
          <a:prstGeom prst="straightConnector1">
            <a:avLst/>
          </a:prstGeom>
          <a:noFill/>
          <a:ln cap="flat" cmpd="sng" w="19050">
            <a:solidFill>
              <a:srgbClr val="BFC3D9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55" name="Google Shape;155;p18"/>
          <p:cNvCxnSpPr/>
          <p:nvPr/>
        </p:nvCxnSpPr>
        <p:spPr>
          <a:xfrm>
            <a:off x="6309360" y="3223260"/>
            <a:ext cx="0" cy="251460"/>
          </a:xfrm>
          <a:prstGeom prst="straightConnector1">
            <a:avLst/>
          </a:prstGeom>
          <a:noFill/>
          <a:ln cap="flat" cmpd="sng" w="19050">
            <a:solidFill>
              <a:srgbClr val="BFC3D9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56" name="Google Shape;156;p18"/>
          <p:cNvCxnSpPr/>
          <p:nvPr/>
        </p:nvCxnSpPr>
        <p:spPr>
          <a:xfrm>
            <a:off x="9692640" y="2971800"/>
            <a:ext cx="0" cy="251460"/>
          </a:xfrm>
          <a:prstGeom prst="straightConnector1">
            <a:avLst/>
          </a:prstGeom>
          <a:noFill/>
          <a:ln cap="flat" cmpd="sng" w="19050">
            <a:solidFill>
              <a:srgbClr val="BFC3D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7" name="Google Shape;157;p18"/>
          <p:cNvCxnSpPr/>
          <p:nvPr/>
        </p:nvCxnSpPr>
        <p:spPr>
          <a:xfrm>
            <a:off x="9692640" y="3223260"/>
            <a:ext cx="0" cy="251460"/>
          </a:xfrm>
          <a:prstGeom prst="straightConnector1">
            <a:avLst/>
          </a:prstGeom>
          <a:noFill/>
          <a:ln cap="flat" cmpd="sng" w="19050">
            <a:solidFill>
              <a:srgbClr val="BFC3D9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58" name="Google Shape;158;p18"/>
          <p:cNvCxnSpPr/>
          <p:nvPr/>
        </p:nvCxnSpPr>
        <p:spPr>
          <a:xfrm>
            <a:off x="2926080" y="4023360"/>
            <a:ext cx="0" cy="251460"/>
          </a:xfrm>
          <a:prstGeom prst="straightConnector1">
            <a:avLst/>
          </a:prstGeom>
          <a:noFill/>
          <a:ln cap="flat" cmpd="sng" w="19050">
            <a:solidFill>
              <a:srgbClr val="BFC3D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9" name="Google Shape;159;p18"/>
          <p:cNvCxnSpPr/>
          <p:nvPr/>
        </p:nvCxnSpPr>
        <p:spPr>
          <a:xfrm>
            <a:off x="2926080" y="4274820"/>
            <a:ext cx="0" cy="251460"/>
          </a:xfrm>
          <a:prstGeom prst="straightConnector1">
            <a:avLst/>
          </a:prstGeom>
          <a:noFill/>
          <a:ln cap="flat" cmpd="sng" w="19050">
            <a:solidFill>
              <a:srgbClr val="BFC3D9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60" name="Google Shape;160;p18"/>
          <p:cNvCxnSpPr/>
          <p:nvPr/>
        </p:nvCxnSpPr>
        <p:spPr>
          <a:xfrm>
            <a:off x="6309360" y="4023360"/>
            <a:ext cx="0" cy="251460"/>
          </a:xfrm>
          <a:prstGeom prst="straightConnector1">
            <a:avLst/>
          </a:prstGeom>
          <a:noFill/>
          <a:ln cap="flat" cmpd="sng" w="19050">
            <a:solidFill>
              <a:srgbClr val="BFC3D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61" name="Google Shape;161;p18"/>
          <p:cNvCxnSpPr/>
          <p:nvPr/>
        </p:nvCxnSpPr>
        <p:spPr>
          <a:xfrm>
            <a:off x="6309360" y="4274820"/>
            <a:ext cx="0" cy="251460"/>
          </a:xfrm>
          <a:prstGeom prst="straightConnector1">
            <a:avLst/>
          </a:prstGeom>
          <a:noFill/>
          <a:ln cap="flat" cmpd="sng" w="19050">
            <a:solidFill>
              <a:srgbClr val="BFC3D9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62" name="Google Shape;162;p18"/>
          <p:cNvSpPr/>
          <p:nvPr/>
        </p:nvSpPr>
        <p:spPr>
          <a:xfrm>
            <a:off x="5692140" y="1371600"/>
            <a:ext cx="2926080" cy="548640"/>
          </a:xfrm>
          <a:prstGeom prst="roundRect">
            <a:avLst>
              <a:gd fmla="val 20000" name="adj"/>
            </a:avLst>
          </a:prstGeom>
          <a:solidFill>
            <a:srgbClr val="20124D"/>
          </a:solidFill>
          <a:ln>
            <a:noFill/>
          </a:ln>
          <a:effectLst>
            <a:outerShdw blurRad="228600" rotWithShape="0" algn="t" dir="5400000" dist="50800">
              <a:srgbClr val="20124D">
                <a:alpha val="12941"/>
              </a:srgbClr>
            </a:outerShdw>
          </a:effectLst>
        </p:spPr>
        <p:txBody>
          <a:bodyPr anchorCtr="0" anchor="ctr" bIns="0" lIns="45700" spcFirstLastPara="1" rIns="4570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Generative models</a:t>
            </a:r>
            <a:endParaRPr/>
          </a:p>
        </p:txBody>
      </p:sp>
      <p:sp>
        <p:nvSpPr>
          <p:cNvPr id="163" name="Google Shape;163;p18"/>
          <p:cNvSpPr/>
          <p:nvPr/>
        </p:nvSpPr>
        <p:spPr>
          <a:xfrm>
            <a:off x="3154680" y="2423160"/>
            <a:ext cx="2926080" cy="548640"/>
          </a:xfrm>
          <a:prstGeom prst="roundRect">
            <a:avLst>
              <a:gd fmla="val 20000" name="adj"/>
            </a:avLst>
          </a:prstGeom>
          <a:solidFill>
            <a:srgbClr val="E4E0F7"/>
          </a:solidFill>
          <a:ln>
            <a:noFill/>
          </a:ln>
          <a:effectLst>
            <a:outerShdw blurRad="228600" rotWithShape="0" algn="t" dir="5400000" dist="50800">
              <a:srgbClr val="20124D">
                <a:alpha val="12941"/>
              </a:srgbClr>
            </a:outerShdw>
          </a:effectLst>
        </p:spPr>
        <p:txBody>
          <a:bodyPr anchorCtr="0" anchor="ctr" bIns="0" lIns="45700" spcFirstLastPara="1" rIns="4570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23213A"/>
                </a:solidFill>
                <a:latin typeface="Arial"/>
                <a:ea typeface="Arial"/>
                <a:cs typeface="Arial"/>
                <a:sym typeface="Arial"/>
              </a:rPr>
              <a:t>Likelihood-based</a:t>
            </a:r>
            <a:endParaRPr/>
          </a:p>
        </p:txBody>
      </p:sp>
      <p:sp>
        <p:nvSpPr>
          <p:cNvPr id="164" name="Google Shape;164;p18"/>
          <p:cNvSpPr/>
          <p:nvPr/>
        </p:nvSpPr>
        <p:spPr>
          <a:xfrm>
            <a:off x="8229600" y="2423160"/>
            <a:ext cx="2926080" cy="548640"/>
          </a:xfrm>
          <a:prstGeom prst="roundRect">
            <a:avLst>
              <a:gd fmla="val 20000" name="adj"/>
            </a:avLst>
          </a:prstGeom>
          <a:solidFill>
            <a:srgbClr val="E4E0F7"/>
          </a:solidFill>
          <a:ln>
            <a:noFill/>
          </a:ln>
          <a:effectLst>
            <a:outerShdw blurRad="228600" rotWithShape="0" algn="t" dir="5400000" dist="50800">
              <a:srgbClr val="20124D">
                <a:alpha val="12941"/>
              </a:srgbClr>
            </a:outerShdw>
          </a:effectLst>
        </p:spPr>
        <p:txBody>
          <a:bodyPr anchorCtr="0" anchor="ctr" bIns="0" lIns="45700" spcFirstLastPara="1" rIns="4570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23213A"/>
                </a:solidFill>
                <a:latin typeface="Arial"/>
                <a:ea typeface="Arial"/>
                <a:cs typeface="Arial"/>
                <a:sym typeface="Arial"/>
              </a:rPr>
              <a:t>Likelihood-free</a:t>
            </a:r>
            <a:endParaRPr/>
          </a:p>
        </p:txBody>
      </p:sp>
      <p:sp>
        <p:nvSpPr>
          <p:cNvPr id="165" name="Google Shape;165;p18"/>
          <p:cNvSpPr/>
          <p:nvPr/>
        </p:nvSpPr>
        <p:spPr>
          <a:xfrm>
            <a:off x="1463040" y="3474720"/>
            <a:ext cx="2926080" cy="548640"/>
          </a:xfrm>
          <a:prstGeom prst="roundRect">
            <a:avLst>
              <a:gd fmla="val 20000" name="adj"/>
            </a:avLst>
          </a:prstGeom>
          <a:solidFill>
            <a:srgbClr val="FFFFFF"/>
          </a:solidFill>
          <a:ln cap="flat" cmpd="sng" w="12700">
            <a:solidFill>
              <a:srgbClr val="E1DEEE"/>
            </a:solidFill>
            <a:prstDash val="solid"/>
            <a:round/>
            <a:headEnd len="sm" w="sm" type="none"/>
            <a:tailEnd len="sm" w="sm" type="none"/>
          </a:ln>
          <a:effectLst>
            <a:outerShdw blurRad="228600" rotWithShape="0" algn="t" dir="5400000" dist="50800">
              <a:srgbClr val="20124D">
                <a:alpha val="12941"/>
              </a:srgbClr>
            </a:outerShdw>
          </a:effectLst>
        </p:spPr>
        <p:txBody>
          <a:bodyPr anchorCtr="0" anchor="ctr" bIns="0" lIns="45700" spcFirstLastPara="1" rIns="4570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23213A"/>
                </a:solidFill>
                <a:latin typeface="Arial"/>
                <a:ea typeface="Arial"/>
                <a:cs typeface="Arial"/>
                <a:sym typeface="Arial"/>
              </a:rPr>
              <a:t>Approximate density</a:t>
            </a:r>
            <a:endParaRPr/>
          </a:p>
        </p:txBody>
      </p:sp>
      <p:sp>
        <p:nvSpPr>
          <p:cNvPr id="166" name="Google Shape;166;p18"/>
          <p:cNvSpPr/>
          <p:nvPr/>
        </p:nvSpPr>
        <p:spPr>
          <a:xfrm>
            <a:off x="4846320" y="3474720"/>
            <a:ext cx="2926080" cy="548640"/>
          </a:xfrm>
          <a:prstGeom prst="roundRect">
            <a:avLst>
              <a:gd fmla="val 20000" name="adj"/>
            </a:avLst>
          </a:prstGeom>
          <a:solidFill>
            <a:srgbClr val="FFFFFF"/>
          </a:solidFill>
          <a:ln cap="flat" cmpd="sng" w="12700">
            <a:solidFill>
              <a:srgbClr val="E1DEEE"/>
            </a:solidFill>
            <a:prstDash val="solid"/>
            <a:round/>
            <a:headEnd len="sm" w="sm" type="none"/>
            <a:tailEnd len="sm" w="sm" type="none"/>
          </a:ln>
          <a:effectLst>
            <a:outerShdw blurRad="228600" rotWithShape="0" algn="t" dir="5400000" dist="50800">
              <a:srgbClr val="20124D">
                <a:alpha val="12941"/>
              </a:srgbClr>
            </a:outerShdw>
          </a:effectLst>
        </p:spPr>
        <p:txBody>
          <a:bodyPr anchorCtr="0" anchor="ctr" bIns="0" lIns="45700" spcFirstLastPara="1" rIns="4570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23213A"/>
                </a:solidFill>
                <a:latin typeface="Arial"/>
                <a:ea typeface="Arial"/>
                <a:cs typeface="Arial"/>
                <a:sym typeface="Arial"/>
              </a:rPr>
              <a:t>Tractable density</a:t>
            </a:r>
            <a:endParaRPr/>
          </a:p>
        </p:txBody>
      </p:sp>
      <p:sp>
        <p:nvSpPr>
          <p:cNvPr id="167" name="Google Shape;167;p18"/>
          <p:cNvSpPr/>
          <p:nvPr/>
        </p:nvSpPr>
        <p:spPr>
          <a:xfrm>
            <a:off x="8229600" y="3474720"/>
            <a:ext cx="2926080" cy="548640"/>
          </a:xfrm>
          <a:prstGeom prst="roundRect">
            <a:avLst>
              <a:gd fmla="val 20000" name="adj"/>
            </a:avLst>
          </a:prstGeom>
          <a:solidFill>
            <a:srgbClr val="F4F3FA"/>
          </a:solidFill>
          <a:ln>
            <a:noFill/>
          </a:ln>
          <a:effectLst>
            <a:outerShdw blurRad="228600" rotWithShape="0" algn="t" dir="5400000" dist="50800">
              <a:srgbClr val="20124D">
                <a:alpha val="12941"/>
              </a:srgbClr>
            </a:outerShdw>
          </a:effectLst>
        </p:spPr>
        <p:txBody>
          <a:bodyPr anchorCtr="0" anchor="ctr" bIns="0" lIns="45700" spcFirstLastPara="1" rIns="4570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23213A"/>
                </a:solidFill>
                <a:latin typeface="Arial"/>
                <a:ea typeface="Arial"/>
                <a:cs typeface="Arial"/>
                <a:sym typeface="Arial"/>
              </a:rPr>
              <a:t>GANs</a:t>
            </a:r>
            <a:endParaRPr/>
          </a:p>
        </p:txBody>
      </p:sp>
      <p:sp>
        <p:nvSpPr>
          <p:cNvPr id="168" name="Google Shape;168;p18"/>
          <p:cNvSpPr/>
          <p:nvPr/>
        </p:nvSpPr>
        <p:spPr>
          <a:xfrm>
            <a:off x="1325880" y="4526280"/>
            <a:ext cx="3200400" cy="1508760"/>
          </a:xfrm>
          <a:prstGeom prst="roundRect">
            <a:avLst>
              <a:gd fmla="val 9697" name="adj"/>
            </a:avLst>
          </a:prstGeom>
          <a:solidFill>
            <a:srgbClr val="F4F3FA"/>
          </a:solidFill>
          <a:ln>
            <a:noFill/>
          </a:ln>
        </p:spPr>
        <p:txBody>
          <a:bodyPr anchorCtr="0" anchor="ctr" bIns="73150" lIns="109725" spcFirstLastPara="1" rIns="109725" wrap="square" tIns="73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18"/>
          <p:cNvSpPr/>
          <p:nvPr/>
        </p:nvSpPr>
        <p:spPr>
          <a:xfrm>
            <a:off x="1463040" y="4663440"/>
            <a:ext cx="2926080" cy="548640"/>
          </a:xfrm>
          <a:prstGeom prst="roundRect">
            <a:avLst>
              <a:gd fmla="val 20000" name="adj"/>
            </a:avLst>
          </a:prstGeom>
          <a:solidFill>
            <a:srgbClr val="FFFFFF"/>
          </a:solidFill>
          <a:ln cap="flat" cmpd="sng" w="12700">
            <a:solidFill>
              <a:srgbClr val="E1DE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45700" spcFirstLastPara="1" rIns="4570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23213A"/>
                </a:solidFill>
                <a:latin typeface="Arial"/>
                <a:ea typeface="Arial"/>
                <a:cs typeface="Arial"/>
                <a:sym typeface="Arial"/>
              </a:rPr>
              <a:t>VAEs</a:t>
            </a:r>
            <a:endParaRPr/>
          </a:p>
        </p:txBody>
      </p:sp>
      <p:sp>
        <p:nvSpPr>
          <p:cNvPr id="170" name="Google Shape;170;p18"/>
          <p:cNvSpPr/>
          <p:nvPr/>
        </p:nvSpPr>
        <p:spPr>
          <a:xfrm>
            <a:off x="1463040" y="5349240"/>
            <a:ext cx="2926080" cy="548640"/>
          </a:xfrm>
          <a:prstGeom prst="roundRect">
            <a:avLst>
              <a:gd fmla="val 20000" name="adj"/>
            </a:avLst>
          </a:prstGeom>
          <a:solidFill>
            <a:srgbClr val="159AAE"/>
          </a:solidFill>
          <a:ln>
            <a:noFill/>
          </a:ln>
        </p:spPr>
        <p:txBody>
          <a:bodyPr anchorCtr="0" anchor="ctr" bIns="0" lIns="45700" spcFirstLastPara="1" rIns="4570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Diffusion models</a:t>
            </a:r>
            <a:endParaRPr/>
          </a:p>
        </p:txBody>
      </p:sp>
      <p:sp>
        <p:nvSpPr>
          <p:cNvPr id="171" name="Google Shape;171;p18"/>
          <p:cNvSpPr/>
          <p:nvPr/>
        </p:nvSpPr>
        <p:spPr>
          <a:xfrm>
            <a:off x="4709160" y="4526280"/>
            <a:ext cx="3200400" cy="1508760"/>
          </a:xfrm>
          <a:prstGeom prst="roundRect">
            <a:avLst>
              <a:gd fmla="val 9697" name="adj"/>
            </a:avLst>
          </a:prstGeom>
          <a:solidFill>
            <a:srgbClr val="F4F3FA"/>
          </a:solidFill>
          <a:ln>
            <a:noFill/>
          </a:ln>
        </p:spPr>
        <p:txBody>
          <a:bodyPr anchorCtr="0" anchor="ctr" bIns="73150" lIns="109725" spcFirstLastPara="1" rIns="109725" wrap="square" tIns="73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18"/>
          <p:cNvSpPr/>
          <p:nvPr/>
        </p:nvSpPr>
        <p:spPr>
          <a:xfrm>
            <a:off x="4846320" y="4663440"/>
            <a:ext cx="2926080" cy="548640"/>
          </a:xfrm>
          <a:prstGeom prst="roundRect">
            <a:avLst>
              <a:gd fmla="val 20000" name="adj"/>
            </a:avLst>
          </a:prstGeom>
          <a:solidFill>
            <a:srgbClr val="FFFFFF"/>
          </a:solidFill>
          <a:ln cap="flat" cmpd="sng" w="12700">
            <a:solidFill>
              <a:srgbClr val="E1DE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45700" spcFirstLastPara="1" rIns="4570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23213A"/>
                </a:solidFill>
                <a:latin typeface="Arial"/>
                <a:ea typeface="Arial"/>
                <a:cs typeface="Arial"/>
                <a:sym typeface="Arial"/>
              </a:rPr>
              <a:t>Normalizing Flows</a:t>
            </a:r>
            <a:endParaRPr/>
          </a:p>
        </p:txBody>
      </p:sp>
      <p:sp>
        <p:nvSpPr>
          <p:cNvPr id="173" name="Google Shape;173;p18"/>
          <p:cNvSpPr/>
          <p:nvPr/>
        </p:nvSpPr>
        <p:spPr>
          <a:xfrm>
            <a:off x="4846320" y="5349240"/>
            <a:ext cx="2926080" cy="548640"/>
          </a:xfrm>
          <a:prstGeom prst="roundRect">
            <a:avLst>
              <a:gd fmla="val 20000" name="adj"/>
            </a:avLst>
          </a:prstGeom>
          <a:solidFill>
            <a:srgbClr val="FFFFFF"/>
          </a:solidFill>
          <a:ln cap="flat" cmpd="sng" w="12700">
            <a:solidFill>
              <a:srgbClr val="E1DE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45700" spcFirstLastPara="1" rIns="4570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23213A"/>
                </a:solidFill>
                <a:latin typeface="Arial"/>
                <a:ea typeface="Arial"/>
                <a:cs typeface="Arial"/>
                <a:sym typeface="Arial"/>
              </a:rPr>
              <a:t>Autoregressive</a:t>
            </a:r>
            <a:endParaRPr/>
          </a:p>
        </p:txBody>
      </p:sp>
      <p:sp>
        <p:nvSpPr>
          <p:cNvPr id="174" name="Google Shape;174;p18"/>
          <p:cNvSpPr txBox="1"/>
          <p:nvPr/>
        </p:nvSpPr>
        <p:spPr>
          <a:xfrm>
            <a:off x="1325880" y="6126480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159AAE"/>
                </a:solidFill>
                <a:latin typeface="Arial"/>
                <a:ea typeface="Arial"/>
                <a:cs typeface="Arial"/>
                <a:sym typeface="Arial"/>
              </a:rPr>
              <a:t>↑ topic of this lecture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9"/>
          <p:cNvSpPr txBox="1"/>
          <p:nvPr/>
        </p:nvSpPr>
        <p:spPr>
          <a:xfrm>
            <a:off x="566928" y="310896"/>
            <a:ext cx="8686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159AA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01 · FORWARD PROCESS</a:t>
            </a:r>
            <a:endParaRPr/>
          </a:p>
        </p:txBody>
      </p:sp>
      <p:sp>
        <p:nvSpPr>
          <p:cNvPr id="180" name="Google Shape;180;p19"/>
          <p:cNvSpPr txBox="1"/>
          <p:nvPr/>
        </p:nvSpPr>
        <p:spPr>
          <a:xfrm>
            <a:off x="548640" y="566928"/>
            <a:ext cx="96926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20124D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StyleGAN3 vs StyleGAN2</a:t>
            </a:r>
            <a:endParaRPr/>
          </a:p>
        </p:txBody>
      </p:sp>
      <p:sp>
        <p:nvSpPr>
          <p:cNvPr id="181" name="Google Shape;181;p19"/>
          <p:cNvSpPr/>
          <p:nvPr/>
        </p:nvSpPr>
        <p:spPr>
          <a:xfrm>
            <a:off x="682600" y="2118956"/>
            <a:ext cx="5569394" cy="2894409"/>
          </a:xfrm>
          <a:prstGeom prst="roundRect">
            <a:avLst>
              <a:gd fmla="val 5055" name="adj"/>
            </a:avLst>
          </a:prstGeom>
          <a:solidFill>
            <a:srgbClr val="FFFFFF"/>
          </a:solidFill>
          <a:ln cap="flat" cmpd="sng" w="12700">
            <a:solidFill>
              <a:srgbClr val="E1DEEE"/>
            </a:solidFill>
            <a:prstDash val="solid"/>
            <a:round/>
            <a:headEnd len="sm" w="sm" type="none"/>
            <a:tailEnd len="sm" w="sm" type="none"/>
          </a:ln>
          <a:effectLst>
            <a:outerShdw blurRad="228600" rotWithShape="0" algn="t" dir="5400000" dist="50800">
              <a:srgbClr val="20124D">
                <a:alpha val="12941"/>
              </a:srgbClr>
            </a:outerShdw>
          </a:effectLst>
        </p:spPr>
        <p:txBody>
          <a:bodyPr anchorCtr="0" anchor="ctr" bIns="73150" lIns="109725" spcFirstLastPara="1" rIns="109725" wrap="square" tIns="73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2" name="Google Shape;182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2328" y="2228684"/>
            <a:ext cx="5349938" cy="2674953"/>
          </a:xfrm>
          <a:prstGeom prst="roundRect">
            <a:avLst>
              <a:gd fmla="val 2735" name="adj"/>
            </a:avLst>
          </a:prstGeom>
          <a:noFill/>
          <a:ln>
            <a:noFill/>
          </a:ln>
        </p:spPr>
      </p:pic>
      <p:sp>
        <p:nvSpPr>
          <p:cNvPr id="183" name="Google Shape;183;p19"/>
          <p:cNvSpPr/>
          <p:nvPr/>
        </p:nvSpPr>
        <p:spPr>
          <a:xfrm>
            <a:off x="6398298" y="2118956"/>
            <a:ext cx="5110798" cy="2894409"/>
          </a:xfrm>
          <a:prstGeom prst="roundRect">
            <a:avLst>
              <a:gd fmla="val 5055" name="adj"/>
            </a:avLst>
          </a:prstGeom>
          <a:solidFill>
            <a:srgbClr val="FFFFFF"/>
          </a:solidFill>
          <a:ln cap="flat" cmpd="sng" w="12700">
            <a:solidFill>
              <a:srgbClr val="E1DEEE"/>
            </a:solidFill>
            <a:prstDash val="solid"/>
            <a:round/>
            <a:headEnd len="sm" w="sm" type="none"/>
            <a:tailEnd len="sm" w="sm" type="none"/>
          </a:ln>
          <a:effectLst>
            <a:outerShdw blurRad="228600" rotWithShape="0" algn="t" dir="5400000" dist="50800">
              <a:srgbClr val="20124D">
                <a:alpha val="12941"/>
              </a:srgbClr>
            </a:outerShdw>
          </a:effectLst>
        </p:spPr>
        <p:txBody>
          <a:bodyPr anchorCtr="0" anchor="ctr" bIns="73150" lIns="109725" spcFirstLastPara="1" rIns="109725" wrap="square" tIns="73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4" name="Google Shape;184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08026" y="2228684"/>
            <a:ext cx="4891342" cy="2674953"/>
          </a:xfrm>
          <a:prstGeom prst="roundRect">
            <a:avLst>
              <a:gd fmla="val 2735" name="adj"/>
            </a:avLst>
          </a:prstGeom>
          <a:noFill/>
          <a:ln>
            <a:noFill/>
          </a:ln>
        </p:spPr>
      </p:pic>
      <p:sp>
        <p:nvSpPr>
          <p:cNvPr id="185" name="Google Shape;185;p19"/>
          <p:cNvSpPr txBox="1"/>
          <p:nvPr/>
        </p:nvSpPr>
        <p:spPr>
          <a:xfrm>
            <a:off x="792328" y="5177956"/>
            <a:ext cx="10607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6B6F85"/>
                </a:solidFill>
                <a:latin typeface="Arial"/>
                <a:ea typeface="Arial"/>
                <a:cs typeface="Arial"/>
                <a:sym typeface="Arial"/>
              </a:rPr>
              <a:t>Source: </a:t>
            </a:r>
            <a:r>
              <a:rPr b="0" i="0" lang="en-US" sz="1200" u="none" cap="none" strike="noStrike">
                <a:solidFill>
                  <a:srgbClr val="159AAE"/>
                </a:solidFill>
                <a:latin typeface="Arial"/>
                <a:ea typeface="Arial"/>
                <a:cs typeface="Arial"/>
                <a:sym typeface="Arial"/>
              </a:rPr>
              <a:t>nvlabs.github.io/stylegan3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0"/>
          <p:cNvSpPr txBox="1"/>
          <p:nvPr/>
        </p:nvSpPr>
        <p:spPr>
          <a:xfrm>
            <a:off x="566928" y="310896"/>
            <a:ext cx="8686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159AA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01 · FORWARD PROCESS</a:t>
            </a:r>
            <a:endParaRPr/>
          </a:p>
        </p:txBody>
      </p:sp>
      <p:sp>
        <p:nvSpPr>
          <p:cNvPr id="191" name="Google Shape;191;p20"/>
          <p:cNvSpPr txBox="1"/>
          <p:nvPr/>
        </p:nvSpPr>
        <p:spPr>
          <a:xfrm>
            <a:off x="548640" y="566928"/>
            <a:ext cx="96926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20124D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Diffusion models</a:t>
            </a:r>
            <a:endParaRPr/>
          </a:p>
        </p:txBody>
      </p:sp>
      <p:sp>
        <p:nvSpPr>
          <p:cNvPr id="192" name="Google Shape;192;p20"/>
          <p:cNvSpPr/>
          <p:nvPr/>
        </p:nvSpPr>
        <p:spPr>
          <a:xfrm>
            <a:off x="929488" y="1325880"/>
            <a:ext cx="5074920" cy="5074920"/>
          </a:xfrm>
          <a:prstGeom prst="roundRect">
            <a:avLst>
              <a:gd fmla="val 2883" name="adj"/>
            </a:avLst>
          </a:prstGeom>
          <a:solidFill>
            <a:srgbClr val="FFFFFF"/>
          </a:solidFill>
          <a:ln cap="flat" cmpd="sng" w="12700">
            <a:solidFill>
              <a:srgbClr val="E1DEEE"/>
            </a:solidFill>
            <a:prstDash val="solid"/>
            <a:round/>
            <a:headEnd len="sm" w="sm" type="none"/>
            <a:tailEnd len="sm" w="sm" type="none"/>
          </a:ln>
          <a:effectLst>
            <a:outerShdw blurRad="228600" rotWithShape="0" algn="t" dir="5400000" dist="50800">
              <a:srgbClr val="20124D">
                <a:alpha val="12941"/>
              </a:srgbClr>
            </a:outerShdw>
          </a:effectLst>
        </p:spPr>
        <p:txBody>
          <a:bodyPr anchorCtr="0" anchor="ctr" bIns="73150" lIns="109725" spcFirstLastPara="1" rIns="109725" wrap="square" tIns="73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3" name="Google Shape;193;p20" title="cifar10_large-1.gif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0928" y="1417320"/>
            <a:ext cx="4892040" cy="4892040"/>
          </a:xfrm>
          <a:prstGeom prst="roundRect">
            <a:avLst>
              <a:gd fmla="val 1869" name="adj"/>
            </a:avLst>
          </a:prstGeom>
          <a:noFill/>
          <a:ln>
            <a:noFill/>
          </a:ln>
        </p:spPr>
      </p:pic>
      <p:sp>
        <p:nvSpPr>
          <p:cNvPr id="194" name="Google Shape;194;p20"/>
          <p:cNvSpPr/>
          <p:nvPr/>
        </p:nvSpPr>
        <p:spPr>
          <a:xfrm>
            <a:off x="6187288" y="1325880"/>
            <a:ext cx="5074920" cy="5074920"/>
          </a:xfrm>
          <a:prstGeom prst="roundRect">
            <a:avLst>
              <a:gd fmla="val 2883" name="adj"/>
            </a:avLst>
          </a:prstGeom>
          <a:solidFill>
            <a:srgbClr val="FFFFFF"/>
          </a:solidFill>
          <a:ln cap="flat" cmpd="sng" w="12700">
            <a:solidFill>
              <a:srgbClr val="E1DEEE"/>
            </a:solidFill>
            <a:prstDash val="solid"/>
            <a:round/>
            <a:headEnd len="sm" w="sm" type="none"/>
            <a:tailEnd len="sm" w="sm" type="none"/>
          </a:ln>
          <a:effectLst>
            <a:outerShdw blurRad="228600" rotWithShape="0" algn="t" dir="5400000" dist="50800">
              <a:srgbClr val="20124D">
                <a:alpha val="12941"/>
              </a:srgbClr>
            </a:outerShdw>
          </a:effectLst>
        </p:spPr>
        <p:txBody>
          <a:bodyPr anchorCtr="0" anchor="ctr" bIns="73150" lIns="109725" spcFirstLastPara="1" rIns="109725" wrap="square" tIns="73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5" name="Google Shape;195;p20" title="celeba_large-1.gif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78728" y="1417320"/>
            <a:ext cx="4892040" cy="4892040"/>
          </a:xfrm>
          <a:prstGeom prst="roundRect">
            <a:avLst>
              <a:gd fmla="val 1869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21"/>
          <p:cNvSpPr txBox="1"/>
          <p:nvPr/>
        </p:nvSpPr>
        <p:spPr>
          <a:xfrm>
            <a:off x="566928" y="310896"/>
            <a:ext cx="8686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159AA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01 · FORWARD PROCESS</a:t>
            </a:r>
            <a:endParaRPr/>
          </a:p>
        </p:txBody>
      </p:sp>
      <p:sp>
        <p:nvSpPr>
          <p:cNvPr id="201" name="Google Shape;201;p21"/>
          <p:cNvSpPr txBox="1"/>
          <p:nvPr/>
        </p:nvSpPr>
        <p:spPr>
          <a:xfrm>
            <a:off x="548640" y="566928"/>
            <a:ext cx="96926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20124D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Diffusion models: the idea</a:t>
            </a:r>
            <a:endParaRPr/>
          </a:p>
        </p:txBody>
      </p:sp>
      <p:sp>
        <p:nvSpPr>
          <p:cNvPr id="202" name="Google Shape;202;p21"/>
          <p:cNvSpPr/>
          <p:nvPr/>
        </p:nvSpPr>
        <p:spPr>
          <a:xfrm>
            <a:off x="1325880" y="1325880"/>
            <a:ext cx="4983480" cy="1234440"/>
          </a:xfrm>
          <a:prstGeom prst="roundRect">
            <a:avLst>
              <a:gd fmla="val 11852" name="adj"/>
            </a:avLst>
          </a:prstGeom>
          <a:solidFill>
            <a:srgbClr val="F4F3FA"/>
          </a:solidFill>
          <a:ln>
            <a:noFill/>
          </a:ln>
        </p:spPr>
        <p:txBody>
          <a:bodyPr anchorCtr="0" anchor="ctr" bIns="73150" lIns="109725" spcFirstLastPara="1" rIns="109725" wrap="square" tIns="73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21"/>
          <p:cNvSpPr txBox="1"/>
          <p:nvPr/>
        </p:nvSpPr>
        <p:spPr>
          <a:xfrm>
            <a:off x="1600200" y="1463040"/>
            <a:ext cx="3657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20124D"/>
                </a:solidFill>
                <a:latin typeface="Arial"/>
                <a:ea typeface="Arial"/>
                <a:cs typeface="Arial"/>
                <a:sym typeface="Arial"/>
              </a:rPr>
              <a:t>→  Forward process</a:t>
            </a:r>
            <a:endParaRPr/>
          </a:p>
        </p:txBody>
      </p:sp>
      <p:sp>
        <p:nvSpPr>
          <p:cNvPr id="204" name="Google Shape;204;p21"/>
          <p:cNvSpPr txBox="1"/>
          <p:nvPr/>
        </p:nvSpPr>
        <p:spPr>
          <a:xfrm>
            <a:off x="1600200" y="1938528"/>
            <a:ext cx="44805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23213A"/>
                </a:solidFill>
                <a:latin typeface="Arial"/>
                <a:ea typeface="Arial"/>
                <a:cs typeface="Arial"/>
                <a:sym typeface="Arial"/>
              </a:rPr>
              <a:t>Gradually adds noise to the input</a:t>
            </a:r>
            <a:endParaRPr/>
          </a:p>
        </p:txBody>
      </p:sp>
      <p:sp>
        <p:nvSpPr>
          <p:cNvPr id="205" name="Google Shape;205;p21"/>
          <p:cNvSpPr/>
          <p:nvPr/>
        </p:nvSpPr>
        <p:spPr>
          <a:xfrm>
            <a:off x="5074920" y="1527048"/>
            <a:ext cx="1005840" cy="347472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12700">
            <a:solidFill>
              <a:srgbClr val="6B6F8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6B6F85"/>
                </a:solidFill>
                <a:latin typeface="Arial"/>
                <a:ea typeface="Arial"/>
                <a:cs typeface="Arial"/>
                <a:sym typeface="Arial"/>
              </a:rPr>
              <a:t>fixed</a:t>
            </a:r>
            <a:endParaRPr/>
          </a:p>
        </p:txBody>
      </p:sp>
      <p:sp>
        <p:nvSpPr>
          <p:cNvPr id="206" name="Google Shape;206;p21"/>
          <p:cNvSpPr/>
          <p:nvPr/>
        </p:nvSpPr>
        <p:spPr>
          <a:xfrm>
            <a:off x="6583680" y="1325880"/>
            <a:ext cx="4983480" cy="1234440"/>
          </a:xfrm>
          <a:prstGeom prst="roundRect">
            <a:avLst>
              <a:gd fmla="val 11852" name="adj"/>
            </a:avLst>
          </a:prstGeom>
          <a:solidFill>
            <a:srgbClr val="F4F3FA"/>
          </a:solidFill>
          <a:ln>
            <a:noFill/>
          </a:ln>
        </p:spPr>
        <p:txBody>
          <a:bodyPr anchorCtr="0" anchor="ctr" bIns="73150" lIns="109725" spcFirstLastPara="1" rIns="109725" wrap="square" tIns="73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21"/>
          <p:cNvSpPr txBox="1"/>
          <p:nvPr/>
        </p:nvSpPr>
        <p:spPr>
          <a:xfrm>
            <a:off x="6858000" y="1463040"/>
            <a:ext cx="3657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20124D"/>
                </a:solidFill>
                <a:latin typeface="Arial"/>
                <a:ea typeface="Arial"/>
                <a:cs typeface="Arial"/>
                <a:sym typeface="Arial"/>
              </a:rPr>
              <a:t>←  Reverse process</a:t>
            </a:r>
            <a:endParaRPr/>
          </a:p>
        </p:txBody>
      </p:sp>
      <p:sp>
        <p:nvSpPr>
          <p:cNvPr id="208" name="Google Shape;208;p21"/>
          <p:cNvSpPr txBox="1"/>
          <p:nvPr/>
        </p:nvSpPr>
        <p:spPr>
          <a:xfrm>
            <a:off x="6858000" y="1938528"/>
            <a:ext cx="44805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23213A"/>
                </a:solidFill>
                <a:latin typeface="Arial"/>
                <a:ea typeface="Arial"/>
                <a:cs typeface="Arial"/>
                <a:sym typeface="Arial"/>
              </a:rPr>
              <a:t>Learns to generate data by denoising</a:t>
            </a:r>
            <a:endParaRPr/>
          </a:p>
        </p:txBody>
      </p:sp>
      <p:sp>
        <p:nvSpPr>
          <p:cNvPr id="209" name="Google Shape;209;p21"/>
          <p:cNvSpPr/>
          <p:nvPr/>
        </p:nvSpPr>
        <p:spPr>
          <a:xfrm>
            <a:off x="10332720" y="1527048"/>
            <a:ext cx="1005840" cy="347472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12700">
            <a:solidFill>
              <a:srgbClr val="159AA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159AAE"/>
                </a:solidFill>
                <a:latin typeface="Arial"/>
                <a:ea typeface="Arial"/>
                <a:cs typeface="Arial"/>
                <a:sym typeface="Arial"/>
              </a:rPr>
              <a:t>trained</a:t>
            </a:r>
            <a:endParaRPr/>
          </a:p>
        </p:txBody>
      </p:sp>
      <p:pic>
        <p:nvPicPr>
          <p:cNvPr id="210" name="Google Shape;210;p21" title="fp.png"/>
          <p:cNvPicPr preferRelativeResize="0"/>
          <p:nvPr/>
        </p:nvPicPr>
        <p:blipFill rotWithShape="1">
          <a:blip r:embed="rId3">
            <a:alphaModFix/>
          </a:blip>
          <a:srcRect b="14325" l="0" r="0" t="0"/>
          <a:stretch/>
        </p:blipFill>
        <p:spPr>
          <a:xfrm>
            <a:off x="1357019" y="2923092"/>
            <a:ext cx="9720924" cy="2702223"/>
          </a:xfrm>
          <a:prstGeom prst="rect">
            <a:avLst/>
          </a:prstGeom>
          <a:noFill/>
          <a:ln>
            <a:noFill/>
          </a:ln>
        </p:spPr>
      </p:pic>
      <p:pic>
        <p:nvPicPr>
          <p:cNvPr id="211" name="Google Shape;211;p21" title="bp.png"/>
          <p:cNvPicPr preferRelativeResize="0"/>
          <p:nvPr/>
        </p:nvPicPr>
        <p:blipFill rotWithShape="1">
          <a:blip r:embed="rId4">
            <a:alphaModFix/>
          </a:blip>
          <a:srcRect b="93006" l="0" r="0" t="0"/>
          <a:stretch/>
        </p:blipFill>
        <p:spPr>
          <a:xfrm>
            <a:off x="976431" y="5825421"/>
            <a:ext cx="10245126" cy="216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12" name="Google Shape;212;p21" title="bp.png"/>
          <p:cNvPicPr preferRelativeResize="0"/>
          <p:nvPr/>
        </p:nvPicPr>
        <p:blipFill rotWithShape="1">
          <a:blip r:embed="rId4">
            <a:alphaModFix/>
          </a:blip>
          <a:srcRect b="87878" l="0" r="0" t="6573"/>
          <a:stretch/>
        </p:blipFill>
        <p:spPr>
          <a:xfrm rot="10800000">
            <a:off x="1250739" y="5625317"/>
            <a:ext cx="10245126" cy="17183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22"/>
          <p:cNvSpPr txBox="1"/>
          <p:nvPr/>
        </p:nvSpPr>
        <p:spPr>
          <a:xfrm>
            <a:off x="566928" y="310896"/>
            <a:ext cx="8686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159AA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01 · FORWARD PROCESS</a:t>
            </a:r>
            <a:endParaRPr/>
          </a:p>
        </p:txBody>
      </p:sp>
      <p:sp>
        <p:nvSpPr>
          <p:cNvPr id="218" name="Google Shape;218;p22"/>
          <p:cNvSpPr txBox="1"/>
          <p:nvPr/>
        </p:nvSpPr>
        <p:spPr>
          <a:xfrm>
            <a:off x="548640" y="566928"/>
            <a:ext cx="96926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20124D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Forward process</a:t>
            </a:r>
            <a:endParaRPr/>
          </a:p>
        </p:txBody>
      </p:sp>
      <p:pic>
        <p:nvPicPr>
          <p:cNvPr id="219" name="Google Shape;219;p22" title="fp.png"/>
          <p:cNvPicPr preferRelativeResize="0"/>
          <p:nvPr/>
        </p:nvPicPr>
        <p:blipFill rotWithShape="1">
          <a:blip r:embed="rId3">
            <a:alphaModFix/>
          </a:blip>
          <a:srcRect b="14325" l="0" r="0" t="0"/>
          <a:stretch/>
        </p:blipFill>
        <p:spPr>
          <a:xfrm>
            <a:off x="1340968" y="1234440"/>
            <a:ext cx="9509760" cy="2643513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22"/>
          <p:cNvSpPr/>
          <p:nvPr/>
        </p:nvSpPr>
        <p:spPr>
          <a:xfrm>
            <a:off x="1203808" y="4160520"/>
            <a:ext cx="4754880" cy="2194560"/>
          </a:xfrm>
          <a:prstGeom prst="roundRect">
            <a:avLst>
              <a:gd fmla="val 6667" name="adj"/>
            </a:avLst>
          </a:prstGeom>
          <a:solidFill>
            <a:srgbClr val="FFFFFF"/>
          </a:solidFill>
          <a:ln cap="flat" cmpd="sng" w="12700">
            <a:solidFill>
              <a:srgbClr val="E1DEEE"/>
            </a:solidFill>
            <a:prstDash val="solid"/>
            <a:round/>
            <a:headEnd len="sm" w="sm" type="none"/>
            <a:tailEnd len="sm" w="sm" type="none"/>
          </a:ln>
          <a:effectLst>
            <a:outerShdw blurRad="228600" rotWithShape="0" algn="t" dir="5400000" dist="50800">
              <a:srgbClr val="20124D">
                <a:alpha val="12941"/>
              </a:srgbClr>
            </a:outerShdw>
          </a:effectLst>
        </p:spPr>
        <p:txBody>
          <a:bodyPr anchorCtr="0" anchor="ctr" bIns="73150" lIns="109725" spcFirstLastPara="1" rIns="109725" wrap="square" tIns="73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p22"/>
          <p:cNvSpPr/>
          <p:nvPr/>
        </p:nvSpPr>
        <p:spPr>
          <a:xfrm>
            <a:off x="1432408" y="4361688"/>
            <a:ext cx="4297680" cy="457200"/>
          </a:xfrm>
          <a:prstGeom prst="roundRect">
            <a:avLst>
              <a:gd fmla="val 50000" name="adj"/>
            </a:avLst>
          </a:prstGeom>
          <a:solidFill>
            <a:srgbClr val="FCEEE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C8463F"/>
                </a:solidFill>
                <a:latin typeface="Arial"/>
                <a:ea typeface="Arial"/>
                <a:cs typeface="Arial"/>
                <a:sym typeface="Arial"/>
              </a:rPr>
              <a:t>Variance Exploding (VE)</a:t>
            </a:r>
            <a:endParaRPr/>
          </a:p>
        </p:txBody>
      </p:sp>
      <p:sp>
        <p:nvSpPr>
          <p:cNvPr id="222" name="Google Shape;222;p22"/>
          <p:cNvSpPr/>
          <p:nvPr/>
        </p:nvSpPr>
        <p:spPr>
          <a:xfrm>
            <a:off x="6233008" y="4160520"/>
            <a:ext cx="4754880" cy="2194560"/>
          </a:xfrm>
          <a:prstGeom prst="roundRect">
            <a:avLst>
              <a:gd fmla="val 6667" name="adj"/>
            </a:avLst>
          </a:prstGeom>
          <a:solidFill>
            <a:srgbClr val="FFFFFF"/>
          </a:solidFill>
          <a:ln cap="flat" cmpd="sng" w="12700">
            <a:solidFill>
              <a:srgbClr val="E1DEEE"/>
            </a:solidFill>
            <a:prstDash val="solid"/>
            <a:round/>
            <a:headEnd len="sm" w="sm" type="none"/>
            <a:tailEnd len="sm" w="sm" type="none"/>
          </a:ln>
          <a:effectLst>
            <a:outerShdw blurRad="228600" rotWithShape="0" algn="t" dir="5400000" dist="50800">
              <a:srgbClr val="20124D">
                <a:alpha val="12941"/>
              </a:srgbClr>
            </a:outerShdw>
          </a:effectLst>
        </p:spPr>
        <p:txBody>
          <a:bodyPr anchorCtr="0" anchor="ctr" bIns="73150" lIns="109725" spcFirstLastPara="1" rIns="109725" wrap="square" tIns="73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22"/>
          <p:cNvSpPr/>
          <p:nvPr/>
        </p:nvSpPr>
        <p:spPr>
          <a:xfrm>
            <a:off x="6461608" y="4361688"/>
            <a:ext cx="4297680" cy="457200"/>
          </a:xfrm>
          <a:prstGeom prst="roundRect">
            <a:avLst>
              <a:gd fmla="val 50000" name="adj"/>
            </a:avLst>
          </a:prstGeom>
          <a:solidFill>
            <a:srgbClr val="EAF1F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2B67C6"/>
                </a:solidFill>
                <a:latin typeface="Arial"/>
                <a:ea typeface="Arial"/>
                <a:cs typeface="Arial"/>
                <a:sym typeface="Arial"/>
              </a:rPr>
              <a:t>Variance Preserving (VP)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23"/>
          <p:cNvSpPr txBox="1"/>
          <p:nvPr/>
        </p:nvSpPr>
        <p:spPr>
          <a:xfrm>
            <a:off x="566928" y="310896"/>
            <a:ext cx="8686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159AA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01 · FORWARD PROCESS</a:t>
            </a:r>
            <a:endParaRPr/>
          </a:p>
        </p:txBody>
      </p:sp>
      <p:sp>
        <p:nvSpPr>
          <p:cNvPr id="229" name="Google Shape;229;p23"/>
          <p:cNvSpPr txBox="1"/>
          <p:nvPr/>
        </p:nvSpPr>
        <p:spPr>
          <a:xfrm>
            <a:off x="548640" y="566928"/>
            <a:ext cx="96926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20124D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Forward process</a:t>
            </a:r>
            <a:endParaRPr/>
          </a:p>
        </p:txBody>
      </p:sp>
      <p:pic>
        <p:nvPicPr>
          <p:cNvPr id="230" name="Google Shape;230;p23" title="fp.png"/>
          <p:cNvPicPr preferRelativeResize="0"/>
          <p:nvPr/>
        </p:nvPicPr>
        <p:blipFill rotWithShape="1">
          <a:blip r:embed="rId3">
            <a:alphaModFix/>
          </a:blip>
          <a:srcRect b="14325" l="0" r="0" t="0"/>
          <a:stretch/>
        </p:blipFill>
        <p:spPr>
          <a:xfrm>
            <a:off x="1340968" y="1234440"/>
            <a:ext cx="9509760" cy="2643513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23"/>
          <p:cNvSpPr txBox="1"/>
          <p:nvPr/>
        </p:nvSpPr>
        <p:spPr>
          <a:xfrm>
            <a:off x="1203808" y="3776472"/>
            <a:ext cx="54864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159AA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START</a:t>
            </a:r>
            <a:endParaRPr/>
          </a:p>
        </p:txBody>
      </p:sp>
      <p:sp>
        <p:nvSpPr>
          <p:cNvPr id="232" name="Google Shape;232;p23"/>
          <p:cNvSpPr/>
          <p:nvPr/>
        </p:nvSpPr>
        <p:spPr>
          <a:xfrm>
            <a:off x="1203808" y="4160520"/>
            <a:ext cx="4754880" cy="2194560"/>
          </a:xfrm>
          <a:prstGeom prst="roundRect">
            <a:avLst>
              <a:gd fmla="val 6667" name="adj"/>
            </a:avLst>
          </a:prstGeom>
          <a:solidFill>
            <a:srgbClr val="FFFFFF"/>
          </a:solidFill>
          <a:ln cap="flat" cmpd="sng" w="12700">
            <a:solidFill>
              <a:srgbClr val="E1DEEE"/>
            </a:solidFill>
            <a:prstDash val="solid"/>
            <a:round/>
            <a:headEnd len="sm" w="sm" type="none"/>
            <a:tailEnd len="sm" w="sm" type="none"/>
          </a:ln>
          <a:effectLst>
            <a:outerShdw blurRad="228600" rotWithShape="0" algn="t" dir="5400000" dist="50800">
              <a:srgbClr val="20124D">
                <a:alpha val="12941"/>
              </a:srgbClr>
            </a:outerShdw>
          </a:effectLst>
        </p:spPr>
        <p:txBody>
          <a:bodyPr anchorCtr="0" anchor="ctr" bIns="73150" lIns="109725" spcFirstLastPara="1" rIns="109725" wrap="square" tIns="73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p23"/>
          <p:cNvSpPr/>
          <p:nvPr/>
        </p:nvSpPr>
        <p:spPr>
          <a:xfrm>
            <a:off x="1432408" y="4361688"/>
            <a:ext cx="4297680" cy="457200"/>
          </a:xfrm>
          <a:prstGeom prst="roundRect">
            <a:avLst>
              <a:gd fmla="val 50000" name="adj"/>
            </a:avLst>
          </a:prstGeom>
          <a:solidFill>
            <a:srgbClr val="FCEEE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C8463F"/>
                </a:solidFill>
                <a:latin typeface="Arial"/>
                <a:ea typeface="Arial"/>
                <a:cs typeface="Arial"/>
                <a:sym typeface="Arial"/>
              </a:rPr>
              <a:t>Variance Exploding (VE)</a:t>
            </a:r>
            <a:endParaRPr/>
          </a:p>
        </p:txBody>
      </p:sp>
      <p:pic>
        <p:nvPicPr>
          <p:cNvPr id="234" name="Google Shape;234;p23" title="{&quot;red&quot;:7,&quot;green&quot;:55,&quot;blue&quot;:99,&quot;origURL&quot;:&quot;https://www.codecogs.com/eqnedit.php?latex=x%20%5Csim%20p_%7Bdata%7D#0&quot;,&quot;size&quot;:18,&quot;width&quot;:157.03937007874015,&quot;height&quot;:58.181102362204726}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80572" y="5480331"/>
            <a:ext cx="1401352" cy="240739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23"/>
          <p:cNvSpPr/>
          <p:nvPr/>
        </p:nvSpPr>
        <p:spPr>
          <a:xfrm>
            <a:off x="6233008" y="4160520"/>
            <a:ext cx="4754880" cy="2194560"/>
          </a:xfrm>
          <a:prstGeom prst="roundRect">
            <a:avLst>
              <a:gd fmla="val 6667" name="adj"/>
            </a:avLst>
          </a:prstGeom>
          <a:solidFill>
            <a:srgbClr val="FFFFFF"/>
          </a:solidFill>
          <a:ln cap="flat" cmpd="sng" w="12700">
            <a:solidFill>
              <a:srgbClr val="E1DEEE"/>
            </a:solidFill>
            <a:prstDash val="solid"/>
            <a:round/>
            <a:headEnd len="sm" w="sm" type="none"/>
            <a:tailEnd len="sm" w="sm" type="none"/>
          </a:ln>
          <a:effectLst>
            <a:outerShdw blurRad="228600" rotWithShape="0" algn="t" dir="5400000" dist="50800">
              <a:srgbClr val="20124D">
                <a:alpha val="12941"/>
              </a:srgbClr>
            </a:outerShdw>
          </a:effectLst>
        </p:spPr>
        <p:txBody>
          <a:bodyPr anchorCtr="0" anchor="ctr" bIns="73150" lIns="109725" spcFirstLastPara="1" rIns="109725" wrap="square" tIns="73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p23"/>
          <p:cNvSpPr/>
          <p:nvPr/>
        </p:nvSpPr>
        <p:spPr>
          <a:xfrm>
            <a:off x="6461608" y="4361688"/>
            <a:ext cx="4297680" cy="457200"/>
          </a:xfrm>
          <a:prstGeom prst="roundRect">
            <a:avLst>
              <a:gd fmla="val 50000" name="adj"/>
            </a:avLst>
          </a:prstGeom>
          <a:solidFill>
            <a:srgbClr val="EAF1F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2B67C6"/>
                </a:solidFill>
                <a:latin typeface="Arial"/>
                <a:ea typeface="Arial"/>
                <a:cs typeface="Arial"/>
                <a:sym typeface="Arial"/>
              </a:rPr>
              <a:t>Variance Preserving (VP)</a:t>
            </a:r>
            <a:endParaRPr/>
          </a:p>
        </p:txBody>
      </p:sp>
      <p:pic>
        <p:nvPicPr>
          <p:cNvPr id="237" name="Google Shape;237;p23" title="{&quot;red&quot;:7,&quot;green&quot;:55,&quot;blue&quot;:99,&quot;origURL&quot;:&quot;https://www.codecogs.com/eqnedit.php?latex=x%20%5Csim%20p_%7Bdata%7D#0&quot;,&quot;size&quot;:18,&quot;width&quot;:157.03937007874015,&quot;height&quot;:58.181102362204726}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909772" y="5480331"/>
            <a:ext cx="1401352" cy="24073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24"/>
          <p:cNvSpPr txBox="1"/>
          <p:nvPr/>
        </p:nvSpPr>
        <p:spPr>
          <a:xfrm>
            <a:off x="566928" y="310896"/>
            <a:ext cx="8686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159AA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01 · FORWARD PROCESS</a:t>
            </a:r>
            <a:endParaRPr/>
          </a:p>
        </p:txBody>
      </p:sp>
      <p:sp>
        <p:nvSpPr>
          <p:cNvPr id="243" name="Google Shape;243;p24"/>
          <p:cNvSpPr txBox="1"/>
          <p:nvPr/>
        </p:nvSpPr>
        <p:spPr>
          <a:xfrm>
            <a:off x="548640" y="566928"/>
            <a:ext cx="96926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20124D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Forward process</a:t>
            </a:r>
            <a:endParaRPr/>
          </a:p>
        </p:txBody>
      </p:sp>
      <p:pic>
        <p:nvPicPr>
          <p:cNvPr id="244" name="Google Shape;244;p24" title="fp.png"/>
          <p:cNvPicPr preferRelativeResize="0"/>
          <p:nvPr/>
        </p:nvPicPr>
        <p:blipFill rotWithShape="1">
          <a:blip r:embed="rId3">
            <a:alphaModFix/>
          </a:blip>
          <a:srcRect b="14325" l="0" r="0" t="0"/>
          <a:stretch/>
        </p:blipFill>
        <p:spPr>
          <a:xfrm>
            <a:off x="1340968" y="1234440"/>
            <a:ext cx="9509760" cy="2643513"/>
          </a:xfrm>
          <a:prstGeom prst="rect">
            <a:avLst/>
          </a:prstGeom>
          <a:noFill/>
          <a:ln>
            <a:noFill/>
          </a:ln>
        </p:spPr>
      </p:pic>
      <p:sp>
        <p:nvSpPr>
          <p:cNvPr id="245" name="Google Shape;245;p24"/>
          <p:cNvSpPr txBox="1"/>
          <p:nvPr/>
        </p:nvSpPr>
        <p:spPr>
          <a:xfrm>
            <a:off x="1203808" y="3776472"/>
            <a:ext cx="54864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159AA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SAMPLE</a:t>
            </a:r>
            <a:endParaRPr/>
          </a:p>
        </p:txBody>
      </p:sp>
      <p:sp>
        <p:nvSpPr>
          <p:cNvPr id="246" name="Google Shape;246;p24"/>
          <p:cNvSpPr/>
          <p:nvPr/>
        </p:nvSpPr>
        <p:spPr>
          <a:xfrm>
            <a:off x="1203808" y="4160520"/>
            <a:ext cx="4754880" cy="2194560"/>
          </a:xfrm>
          <a:prstGeom prst="roundRect">
            <a:avLst>
              <a:gd fmla="val 6667" name="adj"/>
            </a:avLst>
          </a:prstGeom>
          <a:solidFill>
            <a:srgbClr val="FFFFFF"/>
          </a:solidFill>
          <a:ln cap="flat" cmpd="sng" w="12700">
            <a:solidFill>
              <a:srgbClr val="E1DEEE"/>
            </a:solidFill>
            <a:prstDash val="solid"/>
            <a:round/>
            <a:headEnd len="sm" w="sm" type="none"/>
            <a:tailEnd len="sm" w="sm" type="none"/>
          </a:ln>
          <a:effectLst>
            <a:outerShdw blurRad="228600" rotWithShape="0" algn="t" dir="5400000" dist="50800">
              <a:srgbClr val="20124D">
                <a:alpha val="12941"/>
              </a:srgbClr>
            </a:outerShdw>
          </a:effectLst>
        </p:spPr>
        <p:txBody>
          <a:bodyPr anchorCtr="0" anchor="ctr" bIns="73150" lIns="109725" spcFirstLastPara="1" rIns="109725" wrap="square" tIns="73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" name="Google Shape;247;p24"/>
          <p:cNvSpPr/>
          <p:nvPr/>
        </p:nvSpPr>
        <p:spPr>
          <a:xfrm>
            <a:off x="1432408" y="4361688"/>
            <a:ext cx="4297680" cy="457200"/>
          </a:xfrm>
          <a:prstGeom prst="roundRect">
            <a:avLst>
              <a:gd fmla="val 50000" name="adj"/>
            </a:avLst>
          </a:prstGeom>
          <a:solidFill>
            <a:srgbClr val="FCEEE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C8463F"/>
                </a:solidFill>
                <a:latin typeface="Arial"/>
                <a:ea typeface="Arial"/>
                <a:cs typeface="Arial"/>
                <a:sym typeface="Arial"/>
              </a:rPr>
              <a:t>Variance Exploding (VE)</a:t>
            </a:r>
            <a:endParaRPr/>
          </a:p>
        </p:txBody>
      </p:sp>
      <p:pic>
        <p:nvPicPr>
          <p:cNvPr id="248" name="Google Shape;248;p24" title="{&quot;red&quot;:7,&quot;green&quot;:55,&quot;blue&quot;:99,&quot;origURL&quot;:&quot;https://www.codecogs.com/eqnedit.php?latex=x_t%20%3D%20x_%7Bt-1%7D%20%2B%20g(t)%5Cepsilon_t#0&quot;,&quot;size&quot;:18,&quot;width&quot;:93.63779527559055,&quot;height&quot;:101.81102362204724}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121510" y="5150043"/>
            <a:ext cx="2919475" cy="398121"/>
          </a:xfrm>
          <a:prstGeom prst="rect">
            <a:avLst/>
          </a:prstGeom>
          <a:noFill/>
          <a:ln>
            <a:noFill/>
          </a:ln>
        </p:spPr>
      </p:pic>
      <p:pic>
        <p:nvPicPr>
          <p:cNvPr id="249" name="Google Shape;249;p24" title="{&quot;red&quot;:7,&quot;green&quot;:55,&quot;blue&quot;:99,&quot;origURL&quot;:&quot;https://www.codecogs.com/eqnedit.php?latex=%5Cepsilon_t%20%5Csim%20%5Cmathcal%7BN%7D(0%2C%20I)#0&quot;,&quot;size&quot;:18,&quot;width&quot;:288.70866141732284,&quot;height&quot;:58.181102362204726}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615469" y="5657892"/>
            <a:ext cx="1931557" cy="393466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p24"/>
          <p:cNvSpPr/>
          <p:nvPr/>
        </p:nvSpPr>
        <p:spPr>
          <a:xfrm>
            <a:off x="6233008" y="4160520"/>
            <a:ext cx="4754880" cy="2194560"/>
          </a:xfrm>
          <a:prstGeom prst="roundRect">
            <a:avLst>
              <a:gd fmla="val 6667" name="adj"/>
            </a:avLst>
          </a:prstGeom>
          <a:solidFill>
            <a:srgbClr val="FFFFFF"/>
          </a:solidFill>
          <a:ln cap="flat" cmpd="sng" w="12700">
            <a:solidFill>
              <a:srgbClr val="E1DEEE"/>
            </a:solidFill>
            <a:prstDash val="solid"/>
            <a:round/>
            <a:headEnd len="sm" w="sm" type="none"/>
            <a:tailEnd len="sm" w="sm" type="none"/>
          </a:ln>
          <a:effectLst>
            <a:outerShdw blurRad="228600" rotWithShape="0" algn="t" dir="5400000" dist="50800">
              <a:srgbClr val="20124D">
                <a:alpha val="12941"/>
              </a:srgbClr>
            </a:outerShdw>
          </a:effectLst>
        </p:spPr>
        <p:txBody>
          <a:bodyPr anchorCtr="0" anchor="ctr" bIns="73150" lIns="109725" spcFirstLastPara="1" rIns="109725" wrap="square" tIns="73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1" name="Google Shape;251;p24"/>
          <p:cNvSpPr/>
          <p:nvPr/>
        </p:nvSpPr>
        <p:spPr>
          <a:xfrm>
            <a:off x="6461608" y="4361688"/>
            <a:ext cx="4297680" cy="457200"/>
          </a:xfrm>
          <a:prstGeom prst="roundRect">
            <a:avLst>
              <a:gd fmla="val 50000" name="adj"/>
            </a:avLst>
          </a:prstGeom>
          <a:solidFill>
            <a:srgbClr val="EAF1F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2B67C6"/>
                </a:solidFill>
                <a:latin typeface="Arial"/>
                <a:ea typeface="Arial"/>
                <a:cs typeface="Arial"/>
                <a:sym typeface="Arial"/>
              </a:rPr>
              <a:t>Variance Preserving (VP)</a:t>
            </a:r>
            <a:endParaRPr/>
          </a:p>
        </p:txBody>
      </p:sp>
      <p:pic>
        <p:nvPicPr>
          <p:cNvPr id="252" name="Google Shape;252;p24" title="{&quot;red&quot;:7,&quot;green&quot;:55,&quot;blue&quot;:99,&quot;origURL&quot;:&quot;https://www.codecogs.com/eqnedit.php?latex=x_t%20%3D%20%5Csqrt%7B1%20-%20%5Cbeta_t%7Dx_%7Bt-1%7D%20%2B%20%5Csqrt%7B%5Cbeta_t%7D%5Cepsilon_t#0&quot;,&quot;size&quot;:18,&quot;width&quot;:288.70866141732284,&quot;height&quot;:58.181102362204726}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553061" y="5127919"/>
            <a:ext cx="4114774" cy="442369"/>
          </a:xfrm>
          <a:prstGeom prst="rect">
            <a:avLst/>
          </a:prstGeom>
          <a:noFill/>
          <a:ln>
            <a:noFill/>
          </a:ln>
        </p:spPr>
      </p:pic>
      <p:pic>
        <p:nvPicPr>
          <p:cNvPr id="253" name="Google Shape;253;p24" title="{&quot;red&quot;:7,&quot;green&quot;:55,&quot;blue&quot;:99,&quot;origURL&quot;:&quot;https://www.codecogs.com/eqnedit.php?latex=%5Cepsilon_t%20%5Csim%20%5Cmathcal%7BN%7D(0%2C%20I)#0&quot;,&quot;size&quot;:18,&quot;width&quot;:288.70866141732284,&quot;height&quot;:58.181102362204726}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44669" y="5680016"/>
            <a:ext cx="1931557" cy="39346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25"/>
          <p:cNvSpPr txBox="1"/>
          <p:nvPr/>
        </p:nvSpPr>
        <p:spPr>
          <a:xfrm>
            <a:off x="566928" y="310896"/>
            <a:ext cx="8686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159AA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01 · FORWARD PROCESS</a:t>
            </a:r>
            <a:endParaRPr/>
          </a:p>
        </p:txBody>
      </p:sp>
      <p:sp>
        <p:nvSpPr>
          <p:cNvPr id="259" name="Google Shape;259;p25"/>
          <p:cNvSpPr txBox="1"/>
          <p:nvPr/>
        </p:nvSpPr>
        <p:spPr>
          <a:xfrm>
            <a:off x="548640" y="566928"/>
            <a:ext cx="96926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20124D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Forward process</a:t>
            </a:r>
            <a:endParaRPr/>
          </a:p>
        </p:txBody>
      </p:sp>
      <p:pic>
        <p:nvPicPr>
          <p:cNvPr id="260" name="Google Shape;260;p25" title="fp.png"/>
          <p:cNvPicPr preferRelativeResize="0"/>
          <p:nvPr/>
        </p:nvPicPr>
        <p:blipFill rotWithShape="1">
          <a:blip r:embed="rId3">
            <a:alphaModFix/>
          </a:blip>
          <a:srcRect b="14325" l="0" r="0" t="0"/>
          <a:stretch/>
        </p:blipFill>
        <p:spPr>
          <a:xfrm>
            <a:off x="1340968" y="1234440"/>
            <a:ext cx="9509760" cy="2643513"/>
          </a:xfrm>
          <a:prstGeom prst="rect">
            <a:avLst/>
          </a:prstGeom>
          <a:noFill/>
          <a:ln>
            <a:noFill/>
          </a:ln>
        </p:spPr>
      </p:pic>
      <p:sp>
        <p:nvSpPr>
          <p:cNvPr id="261" name="Google Shape;261;p25"/>
          <p:cNvSpPr txBox="1"/>
          <p:nvPr/>
        </p:nvSpPr>
        <p:spPr>
          <a:xfrm>
            <a:off x="1203808" y="3776472"/>
            <a:ext cx="54864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159AA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SAMPLE</a:t>
            </a:r>
            <a:endParaRPr/>
          </a:p>
        </p:txBody>
      </p:sp>
      <p:sp>
        <p:nvSpPr>
          <p:cNvPr id="262" name="Google Shape;262;p25"/>
          <p:cNvSpPr/>
          <p:nvPr/>
        </p:nvSpPr>
        <p:spPr>
          <a:xfrm>
            <a:off x="1203808" y="4160520"/>
            <a:ext cx="4754880" cy="2194560"/>
          </a:xfrm>
          <a:prstGeom prst="roundRect">
            <a:avLst>
              <a:gd fmla="val 6667" name="adj"/>
            </a:avLst>
          </a:prstGeom>
          <a:solidFill>
            <a:srgbClr val="FFFFFF"/>
          </a:solidFill>
          <a:ln cap="flat" cmpd="sng" w="12700">
            <a:solidFill>
              <a:srgbClr val="E1DEEE"/>
            </a:solidFill>
            <a:prstDash val="solid"/>
            <a:round/>
            <a:headEnd len="sm" w="sm" type="none"/>
            <a:tailEnd len="sm" w="sm" type="none"/>
          </a:ln>
          <a:effectLst>
            <a:outerShdw blurRad="228600" rotWithShape="0" algn="t" dir="5400000" dist="50800">
              <a:srgbClr val="20124D">
                <a:alpha val="12941"/>
              </a:srgbClr>
            </a:outerShdw>
          </a:effectLst>
        </p:spPr>
        <p:txBody>
          <a:bodyPr anchorCtr="0" anchor="ctr" bIns="73150" lIns="109725" spcFirstLastPara="1" rIns="109725" wrap="square" tIns="73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3" name="Google Shape;263;p25"/>
          <p:cNvSpPr/>
          <p:nvPr/>
        </p:nvSpPr>
        <p:spPr>
          <a:xfrm>
            <a:off x="1432408" y="4361688"/>
            <a:ext cx="4297680" cy="457200"/>
          </a:xfrm>
          <a:prstGeom prst="roundRect">
            <a:avLst>
              <a:gd fmla="val 50000" name="adj"/>
            </a:avLst>
          </a:prstGeom>
          <a:solidFill>
            <a:srgbClr val="FCEEE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C8463F"/>
                </a:solidFill>
                <a:latin typeface="Arial"/>
                <a:ea typeface="Arial"/>
                <a:cs typeface="Arial"/>
                <a:sym typeface="Arial"/>
              </a:rPr>
              <a:t>Variance Exploding (VE)</a:t>
            </a:r>
            <a:endParaRPr/>
          </a:p>
        </p:txBody>
      </p:sp>
      <p:pic>
        <p:nvPicPr>
          <p:cNvPr id="264" name="Google Shape;264;p25" title="{&quot;red&quot;:7,&quot;green&quot;:55,&quot;blue&quot;:99,&quot;origURL&quot;:&quot;https://www.codecogs.com/eqnedit.php?latex=x_t%20%3D%20x_0%20%2B%20%5Csigma_t%20%5Cepsilon_t#0&quot;,&quot;size&quot;:18,&quot;width&quot;:93.63779527559055,&quot;height&quot;:123.61417322834646}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426380" y="4998516"/>
            <a:ext cx="2309735" cy="296394"/>
          </a:xfrm>
          <a:prstGeom prst="rect">
            <a:avLst/>
          </a:prstGeom>
          <a:noFill/>
          <a:ln>
            <a:noFill/>
          </a:ln>
        </p:spPr>
      </p:pic>
      <p:pic>
        <p:nvPicPr>
          <p:cNvPr id="265" name="Google Shape;265;p25" title="{&quot;red&quot;:7,&quot;green&quot;:55,&quot;blue&quot;:99,&quot;origURL&quot;:&quot;https://www.codecogs.com/eqnedit.php?latex=%5Csigma_t%5E2%20%3D%20%5Csum_0%5Et%20g_i%5E2(i)#0&quot;,&quot;size&quot;:18,&quot;width&quot;:389.45669291338584,&quot;height&quot;:36.354330708661415}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766010" y="5404638"/>
            <a:ext cx="1630474" cy="798245"/>
          </a:xfrm>
          <a:prstGeom prst="rect">
            <a:avLst/>
          </a:prstGeom>
          <a:noFill/>
          <a:ln>
            <a:noFill/>
          </a:ln>
        </p:spPr>
      </p:pic>
      <p:sp>
        <p:nvSpPr>
          <p:cNvPr id="266" name="Google Shape;266;p25"/>
          <p:cNvSpPr/>
          <p:nvPr/>
        </p:nvSpPr>
        <p:spPr>
          <a:xfrm>
            <a:off x="6233008" y="4160520"/>
            <a:ext cx="4754880" cy="2194560"/>
          </a:xfrm>
          <a:prstGeom prst="roundRect">
            <a:avLst>
              <a:gd fmla="val 6667" name="adj"/>
            </a:avLst>
          </a:prstGeom>
          <a:solidFill>
            <a:srgbClr val="FFFFFF"/>
          </a:solidFill>
          <a:ln cap="flat" cmpd="sng" w="12700">
            <a:solidFill>
              <a:srgbClr val="E1DEEE"/>
            </a:solidFill>
            <a:prstDash val="solid"/>
            <a:round/>
            <a:headEnd len="sm" w="sm" type="none"/>
            <a:tailEnd len="sm" w="sm" type="none"/>
          </a:ln>
          <a:effectLst>
            <a:outerShdw blurRad="228600" rotWithShape="0" algn="t" dir="5400000" dist="50800">
              <a:srgbClr val="20124D">
                <a:alpha val="12941"/>
              </a:srgbClr>
            </a:outerShdw>
          </a:effectLst>
        </p:spPr>
        <p:txBody>
          <a:bodyPr anchorCtr="0" anchor="ctr" bIns="73150" lIns="109725" spcFirstLastPara="1" rIns="109725" wrap="square" tIns="73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7" name="Google Shape;267;p25"/>
          <p:cNvSpPr/>
          <p:nvPr/>
        </p:nvSpPr>
        <p:spPr>
          <a:xfrm>
            <a:off x="6461608" y="4361688"/>
            <a:ext cx="4297680" cy="457200"/>
          </a:xfrm>
          <a:prstGeom prst="roundRect">
            <a:avLst>
              <a:gd fmla="val 50000" name="adj"/>
            </a:avLst>
          </a:prstGeom>
          <a:solidFill>
            <a:srgbClr val="EAF1F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2B67C6"/>
                </a:solidFill>
                <a:latin typeface="Arial"/>
                <a:ea typeface="Arial"/>
                <a:cs typeface="Arial"/>
                <a:sym typeface="Arial"/>
              </a:rPr>
              <a:t>Variance Preserving (VP)</a:t>
            </a:r>
            <a:endParaRPr/>
          </a:p>
        </p:txBody>
      </p:sp>
      <p:pic>
        <p:nvPicPr>
          <p:cNvPr id="268" name="Google Shape;268;p25" title="{&quot;red&quot;:7,&quot;green&quot;:55,&quot;blue&quot;:99,&quot;origURL&quot;:&quot;https://www.codecogs.com/eqnedit.php?latex=x_t%20%3D%20%5Csqrt%7B%5Cbar%7B%5Calpha%7D_t%7D%20%5C%2C%20x_0%20%2B%20%5Csqrt%7B1%20-%20%5Cbar%7B%5Calpha%7D_t%7D%5Cepsilon_t#0&quot;,&quot;size&quot;:11,&quot;width&quot;:328.0629921259843,&quot;height&quot;:43.20472440944882}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746158" y="4997698"/>
            <a:ext cx="3728579" cy="374962"/>
          </a:xfrm>
          <a:prstGeom prst="rect">
            <a:avLst/>
          </a:prstGeom>
          <a:noFill/>
          <a:ln>
            <a:noFill/>
          </a:ln>
        </p:spPr>
      </p:pic>
      <p:pic>
        <p:nvPicPr>
          <p:cNvPr id="269" name="Google Shape;269;p25" title="{&quot;red&quot;:7,&quot;green&quot;:55,&quot;blue&quot;:99,&quot;origURL&quot;:&quot;https://www.codecogs.com/eqnedit.php?latex=%5Calpha_t%20%3D%201%20-%20%5Cbeta_t#0&quot;,&quot;size&quot;:11,&quot;width&quot;:169.03937007874015,&quot;height&quot;:27.874015748031496}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154114" y="5705489"/>
            <a:ext cx="1443317" cy="275112"/>
          </a:xfrm>
          <a:prstGeom prst="rect">
            <a:avLst/>
          </a:prstGeom>
          <a:noFill/>
          <a:ln>
            <a:noFill/>
          </a:ln>
        </p:spPr>
      </p:pic>
      <p:pic>
        <p:nvPicPr>
          <p:cNvPr id="270" name="Google Shape;270;p25" title="{&quot;red&quot;:7,&quot;green&quot;:55,&quot;blue&quot;:99,&quot;origURL&quot;:&quot;https://www.codecogs.com/eqnedit.php?latex=%5Cbar%7B%5Calpha%7D_t%20%3D%20%20%5Cprod_%7Bi%3D1%7D%5Et%20%5Calpha_t#0&quot;,&quot;size&quot;:11,&quot;width&quot;:207.11811023622047,&quot;height&quot;:41.196850393700785}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917472" y="5482388"/>
            <a:ext cx="1149309" cy="72131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26"/>
          <p:cNvSpPr txBox="1"/>
          <p:nvPr/>
        </p:nvSpPr>
        <p:spPr>
          <a:xfrm>
            <a:off x="566928" y="310896"/>
            <a:ext cx="8686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159AA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01 · FORWARD PROCESS</a:t>
            </a:r>
            <a:endParaRPr/>
          </a:p>
        </p:txBody>
      </p:sp>
      <p:sp>
        <p:nvSpPr>
          <p:cNvPr id="276" name="Google Shape;276;p26"/>
          <p:cNvSpPr txBox="1"/>
          <p:nvPr/>
        </p:nvSpPr>
        <p:spPr>
          <a:xfrm>
            <a:off x="548640" y="566928"/>
            <a:ext cx="96926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20124D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Forward process</a:t>
            </a:r>
            <a:endParaRPr/>
          </a:p>
        </p:txBody>
      </p:sp>
      <p:pic>
        <p:nvPicPr>
          <p:cNvPr id="277" name="Google Shape;277;p26" title="fp.png"/>
          <p:cNvPicPr preferRelativeResize="0"/>
          <p:nvPr/>
        </p:nvPicPr>
        <p:blipFill rotWithShape="1">
          <a:blip r:embed="rId3">
            <a:alphaModFix/>
          </a:blip>
          <a:srcRect b="14325" l="0" r="0" t="0"/>
          <a:stretch/>
        </p:blipFill>
        <p:spPr>
          <a:xfrm>
            <a:off x="1340968" y="1234440"/>
            <a:ext cx="9509760" cy="2643513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26"/>
          <p:cNvSpPr txBox="1"/>
          <p:nvPr/>
        </p:nvSpPr>
        <p:spPr>
          <a:xfrm>
            <a:off x="1203808" y="3776472"/>
            <a:ext cx="54864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159AA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DISTRIBUTION</a:t>
            </a:r>
            <a:endParaRPr/>
          </a:p>
        </p:txBody>
      </p:sp>
      <p:sp>
        <p:nvSpPr>
          <p:cNvPr id="279" name="Google Shape;279;p26"/>
          <p:cNvSpPr/>
          <p:nvPr/>
        </p:nvSpPr>
        <p:spPr>
          <a:xfrm>
            <a:off x="1203808" y="4160520"/>
            <a:ext cx="4754880" cy="2194560"/>
          </a:xfrm>
          <a:prstGeom prst="roundRect">
            <a:avLst>
              <a:gd fmla="val 6667" name="adj"/>
            </a:avLst>
          </a:prstGeom>
          <a:solidFill>
            <a:srgbClr val="FFFFFF"/>
          </a:solidFill>
          <a:ln cap="flat" cmpd="sng" w="12700">
            <a:solidFill>
              <a:srgbClr val="E1DEEE"/>
            </a:solidFill>
            <a:prstDash val="solid"/>
            <a:round/>
            <a:headEnd len="sm" w="sm" type="none"/>
            <a:tailEnd len="sm" w="sm" type="none"/>
          </a:ln>
          <a:effectLst>
            <a:outerShdw blurRad="228600" rotWithShape="0" algn="t" dir="5400000" dist="50800">
              <a:srgbClr val="20124D">
                <a:alpha val="12941"/>
              </a:srgbClr>
            </a:outerShdw>
          </a:effectLst>
        </p:spPr>
        <p:txBody>
          <a:bodyPr anchorCtr="0" anchor="ctr" bIns="73150" lIns="109725" spcFirstLastPara="1" rIns="109725" wrap="square" tIns="73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0" name="Google Shape;280;p26"/>
          <p:cNvSpPr/>
          <p:nvPr/>
        </p:nvSpPr>
        <p:spPr>
          <a:xfrm>
            <a:off x="1432408" y="4361688"/>
            <a:ext cx="4297680" cy="457200"/>
          </a:xfrm>
          <a:prstGeom prst="roundRect">
            <a:avLst>
              <a:gd fmla="val 50000" name="adj"/>
            </a:avLst>
          </a:prstGeom>
          <a:solidFill>
            <a:srgbClr val="FCEEE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C8463F"/>
                </a:solidFill>
                <a:latin typeface="Arial"/>
                <a:ea typeface="Arial"/>
                <a:cs typeface="Arial"/>
                <a:sym typeface="Arial"/>
              </a:rPr>
              <a:t>Variance Exploding (VE)</a:t>
            </a:r>
            <a:endParaRPr/>
          </a:p>
        </p:txBody>
      </p:sp>
      <p:pic>
        <p:nvPicPr>
          <p:cNvPr id="281" name="Google Shape;281;p26" title="{&quot;red&quot;:7,&quot;green&quot;:55,&quot;blue&quot;:99,&quot;origURL&quot;:&quot;https://www.codecogs.com/eqnedit.php?latex=%5Cmathcal%7BN%7D(x_t%7Cx_0%2C%5Csigma_T%5E2I)#0&quot;,&quot;size&quot;:18,&quot;width&quot;:389.45669291338584,&quot;height&quot;:36.354330708661415}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997686" y="5299687"/>
            <a:ext cx="3167124" cy="602025"/>
          </a:xfrm>
          <a:prstGeom prst="rect">
            <a:avLst/>
          </a:prstGeom>
          <a:noFill/>
          <a:ln>
            <a:noFill/>
          </a:ln>
        </p:spPr>
      </p:pic>
      <p:sp>
        <p:nvSpPr>
          <p:cNvPr id="282" name="Google Shape;282;p26"/>
          <p:cNvSpPr/>
          <p:nvPr/>
        </p:nvSpPr>
        <p:spPr>
          <a:xfrm>
            <a:off x="6233008" y="4160520"/>
            <a:ext cx="4754880" cy="2194560"/>
          </a:xfrm>
          <a:prstGeom prst="roundRect">
            <a:avLst>
              <a:gd fmla="val 6667" name="adj"/>
            </a:avLst>
          </a:prstGeom>
          <a:solidFill>
            <a:srgbClr val="FFFFFF"/>
          </a:solidFill>
          <a:ln cap="flat" cmpd="sng" w="12700">
            <a:solidFill>
              <a:srgbClr val="E1DEEE"/>
            </a:solidFill>
            <a:prstDash val="solid"/>
            <a:round/>
            <a:headEnd len="sm" w="sm" type="none"/>
            <a:tailEnd len="sm" w="sm" type="none"/>
          </a:ln>
          <a:effectLst>
            <a:outerShdw blurRad="228600" rotWithShape="0" algn="t" dir="5400000" dist="50800">
              <a:srgbClr val="20124D">
                <a:alpha val="12941"/>
              </a:srgbClr>
            </a:outerShdw>
          </a:effectLst>
        </p:spPr>
        <p:txBody>
          <a:bodyPr anchorCtr="0" anchor="ctr" bIns="73150" lIns="109725" spcFirstLastPara="1" rIns="109725" wrap="square" tIns="73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3" name="Google Shape;283;p26"/>
          <p:cNvSpPr/>
          <p:nvPr/>
        </p:nvSpPr>
        <p:spPr>
          <a:xfrm>
            <a:off x="6461608" y="4361688"/>
            <a:ext cx="4297680" cy="457200"/>
          </a:xfrm>
          <a:prstGeom prst="roundRect">
            <a:avLst>
              <a:gd fmla="val 50000" name="adj"/>
            </a:avLst>
          </a:prstGeom>
          <a:solidFill>
            <a:srgbClr val="EAF1F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2B67C6"/>
                </a:solidFill>
                <a:latin typeface="Arial"/>
                <a:ea typeface="Arial"/>
                <a:cs typeface="Arial"/>
                <a:sym typeface="Arial"/>
              </a:rPr>
              <a:t>Variance Preserving (VP)</a:t>
            </a:r>
            <a:endParaRPr/>
          </a:p>
        </p:txBody>
      </p:sp>
      <p:pic>
        <p:nvPicPr>
          <p:cNvPr id="284" name="Google Shape;284;p26" title="{&quot;red&quot;:7,&quot;green&quot;:55,&quot;blue&quot;:99,&quot;origURL&quot;:&quot;https://www.codecogs.com/eqnedit.php?latex=%5Cmathcal%7BN%7D(x_t%7C%20%5Csqrt%7B%5Cbar%7B%5Calpha%7D_t%7Dx_0%20%2C%20(1%20-%20%5Cbar%7B%5Calpha%7D_t)I)#0&quot;,&quot;size&quot;:15,&quot;width&quot;:371.1968503937008,&quot;height&quot;:58.181102362204726}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553048" y="5379865"/>
            <a:ext cx="4114800" cy="44167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27"/>
          <p:cNvSpPr txBox="1"/>
          <p:nvPr/>
        </p:nvSpPr>
        <p:spPr>
          <a:xfrm>
            <a:off x="566928" y="310896"/>
            <a:ext cx="8686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159AA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01 · FORWARD PROCESS</a:t>
            </a:r>
            <a:endParaRPr/>
          </a:p>
        </p:txBody>
      </p:sp>
      <p:sp>
        <p:nvSpPr>
          <p:cNvPr id="290" name="Google Shape;290;p27"/>
          <p:cNvSpPr txBox="1"/>
          <p:nvPr/>
        </p:nvSpPr>
        <p:spPr>
          <a:xfrm>
            <a:off x="548640" y="566928"/>
            <a:ext cx="96926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20124D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Forward process: VE vs VP in action</a:t>
            </a:r>
            <a:endParaRPr/>
          </a:p>
        </p:txBody>
      </p:sp>
      <p:sp>
        <p:nvSpPr>
          <p:cNvPr id="291" name="Google Shape;291;p27"/>
          <p:cNvSpPr/>
          <p:nvPr/>
        </p:nvSpPr>
        <p:spPr>
          <a:xfrm>
            <a:off x="1097280" y="1920240"/>
            <a:ext cx="10424160" cy="3657600"/>
          </a:xfrm>
          <a:prstGeom prst="roundRect">
            <a:avLst>
              <a:gd fmla="val 4000" name="adj"/>
            </a:avLst>
          </a:prstGeom>
          <a:solidFill>
            <a:srgbClr val="FFFFFF"/>
          </a:solidFill>
          <a:ln cap="flat" cmpd="sng" w="12700">
            <a:solidFill>
              <a:srgbClr val="E1DEEE"/>
            </a:solidFill>
            <a:prstDash val="solid"/>
            <a:round/>
            <a:headEnd len="sm" w="sm" type="none"/>
            <a:tailEnd len="sm" w="sm" type="none"/>
          </a:ln>
          <a:effectLst>
            <a:outerShdw blurRad="228600" rotWithShape="0" algn="t" dir="5400000" dist="50800">
              <a:srgbClr val="20124D">
                <a:alpha val="12941"/>
              </a:srgbClr>
            </a:outerShdw>
          </a:effectLst>
        </p:spPr>
        <p:txBody>
          <a:bodyPr anchorCtr="0" anchor="ctr" bIns="73150" lIns="109725" spcFirstLastPara="1" rIns="109725" wrap="square" tIns="73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92" name="Google Shape;292;p27" title="diffusion_VE_vs_VP.gif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34440" y="2057400"/>
            <a:ext cx="10149840" cy="3383280"/>
          </a:xfrm>
          <a:prstGeom prst="rect">
            <a:avLst/>
          </a:prstGeom>
          <a:noFill/>
          <a:ln>
            <a:noFill/>
          </a:ln>
        </p:spPr>
      </p:pic>
      <p:sp>
        <p:nvSpPr>
          <p:cNvPr id="293" name="Google Shape;293;p27"/>
          <p:cNvSpPr/>
          <p:nvPr/>
        </p:nvSpPr>
        <p:spPr>
          <a:xfrm>
            <a:off x="8400400" y="2284225"/>
            <a:ext cx="1611600" cy="1530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>
        <p:nvSpPr>
          <p:cNvPr id="294" name="Google Shape;294;p27"/>
          <p:cNvSpPr/>
          <p:nvPr/>
        </p:nvSpPr>
        <p:spPr>
          <a:xfrm>
            <a:off x="8400400" y="5241225"/>
            <a:ext cx="1611600" cy="1530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>
        <p:nvSpPr>
          <p:cNvPr id="295" name="Google Shape;295;p27"/>
          <p:cNvSpPr txBox="1"/>
          <p:nvPr/>
        </p:nvSpPr>
        <p:spPr>
          <a:xfrm>
            <a:off x="8680600" y="5156175"/>
            <a:ext cx="10512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step t</a:t>
            </a:r>
            <a:endParaRPr sz="900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28"/>
          <p:cNvSpPr txBox="1"/>
          <p:nvPr/>
        </p:nvSpPr>
        <p:spPr>
          <a:xfrm>
            <a:off x="566928" y="310896"/>
            <a:ext cx="8686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159AA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01 · FORWARD PROCESS</a:t>
            </a:r>
            <a:endParaRPr/>
          </a:p>
        </p:txBody>
      </p:sp>
      <p:sp>
        <p:nvSpPr>
          <p:cNvPr id="301" name="Google Shape;301;p28"/>
          <p:cNvSpPr txBox="1"/>
          <p:nvPr/>
        </p:nvSpPr>
        <p:spPr>
          <a:xfrm>
            <a:off x="548640" y="566928"/>
            <a:ext cx="96926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20124D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Forward process: marginal distributions</a:t>
            </a:r>
            <a:endParaRPr/>
          </a:p>
        </p:txBody>
      </p:sp>
      <p:sp>
        <p:nvSpPr>
          <p:cNvPr id="302" name="Google Shape;302;p28"/>
          <p:cNvSpPr/>
          <p:nvPr/>
        </p:nvSpPr>
        <p:spPr>
          <a:xfrm>
            <a:off x="2177166" y="1234440"/>
            <a:ext cx="7898629" cy="5166360"/>
          </a:xfrm>
          <a:prstGeom prst="roundRect">
            <a:avLst>
              <a:gd fmla="val 2832" name="adj"/>
            </a:avLst>
          </a:prstGeom>
          <a:solidFill>
            <a:srgbClr val="FFFFFF"/>
          </a:solidFill>
          <a:ln cap="flat" cmpd="sng" w="12700">
            <a:solidFill>
              <a:srgbClr val="E1DEEE"/>
            </a:solidFill>
            <a:prstDash val="solid"/>
            <a:round/>
            <a:headEnd len="sm" w="sm" type="none"/>
            <a:tailEnd len="sm" w="sm" type="none"/>
          </a:ln>
          <a:effectLst>
            <a:outerShdw blurRad="228600" rotWithShape="0" algn="t" dir="5400000" dist="50800">
              <a:srgbClr val="20124D">
                <a:alpha val="12941"/>
              </a:srgbClr>
            </a:outerShdw>
          </a:effectLst>
        </p:spPr>
        <p:txBody>
          <a:bodyPr anchorCtr="0" anchor="ctr" bIns="73150" lIns="109725" spcFirstLastPara="1" rIns="109725" wrap="square" tIns="73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03" name="Google Shape;303;p28"/>
          <p:cNvPicPr preferRelativeResize="0"/>
          <p:nvPr/>
        </p:nvPicPr>
        <p:blipFill rotWithShape="1">
          <a:blip r:embed="rId3">
            <a:alphaModFix/>
          </a:blip>
          <a:srcRect b="0" l="0" r="0" t="7029"/>
          <a:stretch/>
        </p:blipFill>
        <p:spPr>
          <a:xfrm>
            <a:off x="2314326" y="1371600"/>
            <a:ext cx="7624309" cy="48920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29"/>
          <p:cNvSpPr txBox="1"/>
          <p:nvPr/>
        </p:nvSpPr>
        <p:spPr>
          <a:xfrm>
            <a:off x="1097280" y="1600200"/>
            <a:ext cx="5486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6FD3E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02</a:t>
            </a:r>
            <a:endParaRPr/>
          </a:p>
        </p:txBody>
      </p:sp>
      <p:sp>
        <p:nvSpPr>
          <p:cNvPr id="309" name="Google Shape;309;p29"/>
          <p:cNvSpPr txBox="1"/>
          <p:nvPr/>
        </p:nvSpPr>
        <p:spPr>
          <a:xfrm>
            <a:off x="1097280" y="2148840"/>
            <a:ext cx="5669280" cy="173736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Reverse process</a:t>
            </a:r>
            <a:endParaRPr/>
          </a:p>
        </p:txBody>
      </p:sp>
      <p:sp>
        <p:nvSpPr>
          <p:cNvPr id="310" name="Google Shape;310;p29"/>
          <p:cNvSpPr txBox="1"/>
          <p:nvPr/>
        </p:nvSpPr>
        <p:spPr>
          <a:xfrm>
            <a:off x="1097280" y="4114800"/>
            <a:ext cx="54864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CFC8F2"/>
                </a:solidFill>
                <a:latin typeface="Arial"/>
                <a:ea typeface="Arial"/>
                <a:cs typeface="Arial"/>
                <a:sym typeface="Arial"/>
              </a:rPr>
              <a:t>Generating data by step-by-step denoising · Diffusion vs VAE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30"/>
          <p:cNvSpPr txBox="1"/>
          <p:nvPr/>
        </p:nvSpPr>
        <p:spPr>
          <a:xfrm>
            <a:off x="566928" y="310896"/>
            <a:ext cx="8686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159AA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02 · REVERSE PROCESS</a:t>
            </a:r>
            <a:endParaRPr/>
          </a:p>
        </p:txBody>
      </p:sp>
      <p:sp>
        <p:nvSpPr>
          <p:cNvPr id="316" name="Google Shape;316;p30"/>
          <p:cNvSpPr txBox="1"/>
          <p:nvPr/>
        </p:nvSpPr>
        <p:spPr>
          <a:xfrm>
            <a:off x="548640" y="566928"/>
            <a:ext cx="96926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20124D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Generation by step-by-step denoising</a:t>
            </a:r>
            <a:endParaRPr/>
          </a:p>
        </p:txBody>
      </p:sp>
      <p:sp>
        <p:nvSpPr>
          <p:cNvPr id="317" name="Google Shape;317;p30"/>
          <p:cNvSpPr/>
          <p:nvPr/>
        </p:nvSpPr>
        <p:spPr>
          <a:xfrm>
            <a:off x="4846320" y="1242339"/>
            <a:ext cx="6858000" cy="3733241"/>
          </a:xfrm>
          <a:prstGeom prst="roundRect">
            <a:avLst>
              <a:gd fmla="val 3919" name="adj"/>
            </a:avLst>
          </a:prstGeom>
          <a:solidFill>
            <a:srgbClr val="FFFFFF"/>
          </a:solidFill>
          <a:ln cap="flat" cmpd="sng" w="12700">
            <a:solidFill>
              <a:srgbClr val="E1DEEE"/>
            </a:solidFill>
            <a:prstDash val="solid"/>
            <a:round/>
            <a:headEnd len="sm" w="sm" type="none"/>
            <a:tailEnd len="sm" w="sm" type="none"/>
          </a:ln>
          <a:effectLst>
            <a:outerShdw blurRad="228600" rotWithShape="0" algn="t" dir="5400000" dist="50800">
              <a:srgbClr val="20124D">
                <a:alpha val="12941"/>
              </a:srgbClr>
            </a:outerShdw>
          </a:effectLst>
        </p:spPr>
        <p:txBody>
          <a:bodyPr anchorCtr="0" anchor="ctr" bIns="73150" lIns="109725" spcFirstLastPara="1" rIns="109725" wrap="square" tIns="73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18" name="Google Shape;318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56048" y="1352067"/>
            <a:ext cx="6638544" cy="3513785"/>
          </a:xfrm>
          <a:prstGeom prst="rect">
            <a:avLst/>
          </a:prstGeom>
          <a:noFill/>
          <a:ln>
            <a:noFill/>
          </a:ln>
        </p:spPr>
      </p:pic>
      <p:sp>
        <p:nvSpPr>
          <p:cNvPr id="319" name="Google Shape;319;p30"/>
          <p:cNvSpPr/>
          <p:nvPr/>
        </p:nvSpPr>
        <p:spPr>
          <a:xfrm>
            <a:off x="1325880" y="1325880"/>
            <a:ext cx="3337560" cy="1600200"/>
          </a:xfrm>
          <a:prstGeom prst="roundRect">
            <a:avLst>
              <a:gd fmla="val 9143" name="adj"/>
            </a:avLst>
          </a:prstGeom>
          <a:solidFill>
            <a:srgbClr val="F4F3FA"/>
          </a:solidFill>
          <a:ln>
            <a:noFill/>
          </a:ln>
        </p:spPr>
        <p:txBody>
          <a:bodyPr anchorCtr="0" anchor="ctr" bIns="73150" lIns="109725" spcFirstLastPara="1" rIns="109725" wrap="square" tIns="73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0" name="Google Shape;320;p30"/>
          <p:cNvSpPr/>
          <p:nvPr/>
        </p:nvSpPr>
        <p:spPr>
          <a:xfrm>
            <a:off x="1508760" y="1508760"/>
            <a:ext cx="384048" cy="384048"/>
          </a:xfrm>
          <a:prstGeom prst="ellipse">
            <a:avLst/>
          </a:prstGeom>
          <a:solidFill>
            <a:srgbClr val="159AAE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</a:t>
            </a:r>
            <a:endParaRPr/>
          </a:p>
        </p:txBody>
      </p:sp>
      <p:sp>
        <p:nvSpPr>
          <p:cNvPr id="321" name="Google Shape;321;p30"/>
          <p:cNvSpPr txBox="1"/>
          <p:nvPr/>
        </p:nvSpPr>
        <p:spPr>
          <a:xfrm>
            <a:off x="2011680" y="1490472"/>
            <a:ext cx="256032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20124D"/>
                </a:solidFill>
                <a:latin typeface="Arial"/>
                <a:ea typeface="Arial"/>
                <a:cs typeface="Arial"/>
                <a:sym typeface="Arial"/>
              </a:rPr>
              <a:t>Sample pure noise</a:t>
            </a:r>
            <a:endParaRPr/>
          </a:p>
        </p:txBody>
      </p:sp>
      <p:pic>
        <p:nvPicPr>
          <p:cNvPr id="322" name="Google Shape;322;p30" title="{&quot;red&quot;:32,&quot;green&quot;:18,&quot;blue&quot;:77,&quot;origURL&quot;:&quot;https://www.codecogs.com/eqnedit.php?latex=%5Cmathbf%7Bx%7D_T%20%5Csim%20%5Cmathcal%7BN%7D(%5Cmathbf%7Bx%7D_T%3B%20%5Cmathbf%7B0%7D%2C%20%5Cmathbf%7BI%7D)#0&quot;,&quot;size&quot;:14,&quot;width&quot;:236.2204724409449,&quot;height&quot;:70.53543307086615}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94832" y="2249342"/>
            <a:ext cx="2399656" cy="347637"/>
          </a:xfrm>
          <a:prstGeom prst="rect">
            <a:avLst/>
          </a:prstGeom>
          <a:noFill/>
          <a:ln>
            <a:noFill/>
          </a:ln>
        </p:spPr>
      </p:pic>
      <p:sp>
        <p:nvSpPr>
          <p:cNvPr id="323" name="Google Shape;323;p30"/>
          <p:cNvSpPr/>
          <p:nvPr/>
        </p:nvSpPr>
        <p:spPr>
          <a:xfrm>
            <a:off x="1325880" y="3108960"/>
            <a:ext cx="3337560" cy="1600200"/>
          </a:xfrm>
          <a:prstGeom prst="roundRect">
            <a:avLst>
              <a:gd fmla="val 9143" name="adj"/>
            </a:avLst>
          </a:prstGeom>
          <a:solidFill>
            <a:srgbClr val="F4F3FA"/>
          </a:solidFill>
          <a:ln>
            <a:noFill/>
          </a:ln>
        </p:spPr>
        <p:txBody>
          <a:bodyPr anchorCtr="0" anchor="ctr" bIns="73150" lIns="109725" spcFirstLastPara="1" rIns="109725" wrap="square" tIns="73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4" name="Google Shape;324;p30"/>
          <p:cNvSpPr/>
          <p:nvPr/>
        </p:nvSpPr>
        <p:spPr>
          <a:xfrm>
            <a:off x="1508760" y="3291840"/>
            <a:ext cx="384048" cy="384048"/>
          </a:xfrm>
          <a:prstGeom prst="ellipse">
            <a:avLst/>
          </a:prstGeom>
          <a:solidFill>
            <a:srgbClr val="159AAE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2</a:t>
            </a:r>
            <a:endParaRPr/>
          </a:p>
        </p:txBody>
      </p:sp>
      <p:sp>
        <p:nvSpPr>
          <p:cNvPr id="325" name="Google Shape;325;p30"/>
          <p:cNvSpPr txBox="1"/>
          <p:nvPr/>
        </p:nvSpPr>
        <p:spPr>
          <a:xfrm>
            <a:off x="2011680" y="3273552"/>
            <a:ext cx="256032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20124D"/>
                </a:solidFill>
                <a:latin typeface="Arial"/>
                <a:ea typeface="Arial"/>
                <a:cs typeface="Arial"/>
                <a:sym typeface="Arial"/>
              </a:rPr>
              <a:t>Iteratively denoise</a:t>
            </a:r>
            <a:endParaRPr/>
          </a:p>
        </p:txBody>
      </p:sp>
      <p:pic>
        <p:nvPicPr>
          <p:cNvPr id="326" name="Google Shape;326;p30" title="{&quot;red&quot;:7,&quot;green&quot;:55,&quot;blue&quot;:99,&quot;origURL&quot;:&quot;https://www.codecogs.com/eqnedit.php?latex=%5Cmathbf%7Bx%7D_%7Bt-1%7D%20%5Csim%20%5Cunderbrace%7Bq(%5Cmathbf%7Bx%7D_%7Bt-1%7D%7C%5Cmathbf%7Bx%7D_t)%7D_%7B%5Ctext%7BTrue%20Denoising%20Dist.%7D%7D#0&quot;,&quot;size&quot;:14,&quot;width&quot;:236.2204724409449,&quot;height&quot;:90.04724409448819}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623060" y="3862357"/>
            <a:ext cx="2743200" cy="68776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31"/>
          <p:cNvSpPr txBox="1"/>
          <p:nvPr/>
        </p:nvSpPr>
        <p:spPr>
          <a:xfrm>
            <a:off x="566928" y="310896"/>
            <a:ext cx="8686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159AA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02 · REVERSE PROCESS</a:t>
            </a:r>
            <a:endParaRPr/>
          </a:p>
        </p:txBody>
      </p:sp>
      <p:sp>
        <p:nvSpPr>
          <p:cNvPr id="332" name="Google Shape;332;p31"/>
          <p:cNvSpPr txBox="1"/>
          <p:nvPr/>
        </p:nvSpPr>
        <p:spPr>
          <a:xfrm>
            <a:off x="548640" y="566928"/>
            <a:ext cx="96926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20124D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Generation by step-by-step denoising</a:t>
            </a:r>
            <a:endParaRPr/>
          </a:p>
        </p:txBody>
      </p:sp>
      <p:sp>
        <p:nvSpPr>
          <p:cNvPr id="333" name="Google Shape;333;p31"/>
          <p:cNvSpPr/>
          <p:nvPr/>
        </p:nvSpPr>
        <p:spPr>
          <a:xfrm>
            <a:off x="4846320" y="1242339"/>
            <a:ext cx="6858000" cy="3733241"/>
          </a:xfrm>
          <a:prstGeom prst="roundRect">
            <a:avLst>
              <a:gd fmla="val 3919" name="adj"/>
            </a:avLst>
          </a:prstGeom>
          <a:solidFill>
            <a:srgbClr val="FFFFFF"/>
          </a:solidFill>
          <a:ln cap="flat" cmpd="sng" w="12700">
            <a:solidFill>
              <a:srgbClr val="E1DEEE"/>
            </a:solidFill>
            <a:prstDash val="solid"/>
            <a:round/>
            <a:headEnd len="sm" w="sm" type="none"/>
            <a:tailEnd len="sm" w="sm" type="none"/>
          </a:ln>
          <a:effectLst>
            <a:outerShdw blurRad="228600" rotWithShape="0" algn="t" dir="5400000" dist="50800">
              <a:srgbClr val="20124D">
                <a:alpha val="12941"/>
              </a:srgbClr>
            </a:outerShdw>
          </a:effectLst>
        </p:spPr>
        <p:txBody>
          <a:bodyPr anchorCtr="0" anchor="ctr" bIns="73150" lIns="109725" spcFirstLastPara="1" rIns="109725" wrap="square" tIns="73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34" name="Google Shape;334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56048" y="1352067"/>
            <a:ext cx="6638544" cy="3513785"/>
          </a:xfrm>
          <a:prstGeom prst="rect">
            <a:avLst/>
          </a:prstGeom>
          <a:noFill/>
          <a:ln>
            <a:noFill/>
          </a:ln>
        </p:spPr>
      </p:pic>
      <p:sp>
        <p:nvSpPr>
          <p:cNvPr id="335" name="Google Shape;335;p31"/>
          <p:cNvSpPr/>
          <p:nvPr/>
        </p:nvSpPr>
        <p:spPr>
          <a:xfrm>
            <a:off x="1325880" y="1325880"/>
            <a:ext cx="3337560" cy="1600200"/>
          </a:xfrm>
          <a:prstGeom prst="roundRect">
            <a:avLst>
              <a:gd fmla="val 9143" name="adj"/>
            </a:avLst>
          </a:prstGeom>
          <a:solidFill>
            <a:srgbClr val="F4F3FA"/>
          </a:solidFill>
          <a:ln>
            <a:noFill/>
          </a:ln>
        </p:spPr>
        <p:txBody>
          <a:bodyPr anchorCtr="0" anchor="ctr" bIns="73150" lIns="109725" spcFirstLastPara="1" rIns="109725" wrap="square" tIns="73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6" name="Google Shape;336;p31"/>
          <p:cNvSpPr/>
          <p:nvPr/>
        </p:nvSpPr>
        <p:spPr>
          <a:xfrm>
            <a:off x="1508760" y="1508760"/>
            <a:ext cx="384048" cy="384048"/>
          </a:xfrm>
          <a:prstGeom prst="ellipse">
            <a:avLst/>
          </a:prstGeom>
          <a:solidFill>
            <a:srgbClr val="159AAE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</a:t>
            </a:r>
            <a:endParaRPr/>
          </a:p>
        </p:txBody>
      </p:sp>
      <p:sp>
        <p:nvSpPr>
          <p:cNvPr id="337" name="Google Shape;337;p31"/>
          <p:cNvSpPr txBox="1"/>
          <p:nvPr/>
        </p:nvSpPr>
        <p:spPr>
          <a:xfrm>
            <a:off x="2011680" y="1490472"/>
            <a:ext cx="256032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20124D"/>
                </a:solidFill>
                <a:latin typeface="Arial"/>
                <a:ea typeface="Arial"/>
                <a:cs typeface="Arial"/>
                <a:sym typeface="Arial"/>
              </a:rPr>
              <a:t>Sample pure noise</a:t>
            </a:r>
            <a:endParaRPr/>
          </a:p>
        </p:txBody>
      </p:sp>
      <p:pic>
        <p:nvPicPr>
          <p:cNvPr id="338" name="Google Shape;338;p31" title="{&quot;red&quot;:32,&quot;green&quot;:18,&quot;blue&quot;:77,&quot;origURL&quot;:&quot;https://www.codecogs.com/eqnedit.php?latex=%5Cmathbf%7Bx%7D_T%20%5Csim%20%5Cmathcal%7BN%7D(%5Cmathbf%7Bx%7D_T%3B%20%5Cmathbf%7B0%7D%2C%20%5Cmathbf%7BI%7D)#0&quot;,&quot;size&quot;:14,&quot;width&quot;:236.2204724409449,&quot;height&quot;:70.53543307086615}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94832" y="2249342"/>
            <a:ext cx="2399656" cy="347637"/>
          </a:xfrm>
          <a:prstGeom prst="rect">
            <a:avLst/>
          </a:prstGeom>
          <a:noFill/>
          <a:ln>
            <a:noFill/>
          </a:ln>
        </p:spPr>
      </p:pic>
      <p:sp>
        <p:nvSpPr>
          <p:cNvPr id="339" name="Google Shape;339;p31"/>
          <p:cNvSpPr/>
          <p:nvPr/>
        </p:nvSpPr>
        <p:spPr>
          <a:xfrm>
            <a:off x="1325880" y="3108960"/>
            <a:ext cx="3337560" cy="1600200"/>
          </a:xfrm>
          <a:prstGeom prst="roundRect">
            <a:avLst>
              <a:gd fmla="val 9143" name="adj"/>
            </a:avLst>
          </a:prstGeom>
          <a:solidFill>
            <a:srgbClr val="F4F3FA"/>
          </a:solidFill>
          <a:ln>
            <a:noFill/>
          </a:ln>
        </p:spPr>
        <p:txBody>
          <a:bodyPr anchorCtr="0" anchor="ctr" bIns="73150" lIns="109725" spcFirstLastPara="1" rIns="109725" wrap="square" tIns="73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0" name="Google Shape;340;p31"/>
          <p:cNvSpPr/>
          <p:nvPr/>
        </p:nvSpPr>
        <p:spPr>
          <a:xfrm>
            <a:off x="1508760" y="3291840"/>
            <a:ext cx="384048" cy="384048"/>
          </a:xfrm>
          <a:prstGeom prst="ellipse">
            <a:avLst/>
          </a:prstGeom>
          <a:solidFill>
            <a:srgbClr val="159AAE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2</a:t>
            </a:r>
            <a:endParaRPr/>
          </a:p>
        </p:txBody>
      </p:sp>
      <p:sp>
        <p:nvSpPr>
          <p:cNvPr id="341" name="Google Shape;341;p31"/>
          <p:cNvSpPr txBox="1"/>
          <p:nvPr/>
        </p:nvSpPr>
        <p:spPr>
          <a:xfrm>
            <a:off x="2011680" y="3273552"/>
            <a:ext cx="256032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20124D"/>
                </a:solidFill>
                <a:latin typeface="Arial"/>
                <a:ea typeface="Arial"/>
                <a:cs typeface="Arial"/>
                <a:sym typeface="Arial"/>
              </a:rPr>
              <a:t>Iteratively denoise</a:t>
            </a:r>
            <a:endParaRPr/>
          </a:p>
        </p:txBody>
      </p:sp>
      <p:pic>
        <p:nvPicPr>
          <p:cNvPr id="342" name="Google Shape;342;p31" title="{&quot;red&quot;:7,&quot;green&quot;:55,&quot;blue&quot;:99,&quot;origURL&quot;:&quot;https://www.codecogs.com/eqnedit.php?latex=%5Cmathbf%7Bx%7D_%7Bt-1%7D%20%5Csim%20%5Cunderbrace%7Bq(%5Cmathbf%7Bx%7D_%7Bt-1%7D%7C%5Cmathbf%7Bx%7D_t)%7D_%7B%5Ctext%7BTrue%20Denoising%20Dist.%7D%7D#0&quot;,&quot;size&quot;:14,&quot;width&quot;:236.2204724409449,&quot;height&quot;:90.04724409448819}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623060" y="3862357"/>
            <a:ext cx="2743200" cy="687766"/>
          </a:xfrm>
          <a:prstGeom prst="rect">
            <a:avLst/>
          </a:prstGeom>
          <a:noFill/>
          <a:ln>
            <a:noFill/>
          </a:ln>
        </p:spPr>
      </p:pic>
      <p:sp>
        <p:nvSpPr>
          <p:cNvPr id="343" name="Google Shape;343;p31"/>
          <p:cNvSpPr/>
          <p:nvPr/>
        </p:nvSpPr>
        <p:spPr>
          <a:xfrm>
            <a:off x="1325880" y="4983480"/>
            <a:ext cx="10378440" cy="777240"/>
          </a:xfrm>
          <a:prstGeom prst="roundRect">
            <a:avLst>
              <a:gd fmla="val 18824" name="adj"/>
            </a:avLst>
          </a:prstGeom>
          <a:solidFill>
            <a:srgbClr val="FFFFFF"/>
          </a:solidFill>
          <a:ln cap="flat" cmpd="sng" w="12700">
            <a:solidFill>
              <a:srgbClr val="E1DEEE"/>
            </a:solidFill>
            <a:prstDash val="solid"/>
            <a:round/>
            <a:headEnd len="sm" w="sm" type="none"/>
            <a:tailEnd len="sm" w="sm" type="none"/>
          </a:ln>
          <a:effectLst>
            <a:outerShdw blurRad="228600" rotWithShape="0" algn="t" dir="5400000" dist="50800">
              <a:srgbClr val="20124D">
                <a:alpha val="12941"/>
              </a:srgbClr>
            </a:outerShdw>
          </a:effectLst>
        </p:spPr>
        <p:txBody>
          <a:bodyPr anchorCtr="0" anchor="ctr" bIns="73150" lIns="109725" spcFirstLastPara="1" rIns="109725" wrap="square" tIns="73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44" name="Google Shape;344;p31" title="{&quot;red&quot;:7,&quot;green&quot;:55,&quot;blue&quot;:99,&quot;origURL&quot;:&quot;https://www.codecogs.com/eqnedit.php?latex=q(x_%7Bt-1%7D%20%5Cmid%20x_t)%20%3D%20%5Cint%20q(x_%7Bt-1%7D%20%5Cmid%20x_t%2C%20x_0)%20q(x_0%20%5Cmid%20x_t)%20%5C%2C%20dx_0#0&quot;,&quot;size&quot;:18,&quot;width&quot;:576,&quot;height&quot;:58.181102362204726}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554480" y="5088636"/>
            <a:ext cx="4752338" cy="56692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45" name="Google Shape;345;p31"/>
          <p:cNvCxnSpPr/>
          <p:nvPr/>
        </p:nvCxnSpPr>
        <p:spPr>
          <a:xfrm>
            <a:off x="6535418" y="5372100"/>
            <a:ext cx="2562862" cy="0"/>
          </a:xfrm>
          <a:prstGeom prst="straightConnector1">
            <a:avLst/>
          </a:prstGeom>
          <a:noFill/>
          <a:ln cap="flat" cmpd="sng" w="19050">
            <a:solidFill>
              <a:srgbClr val="C0392B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46" name="Google Shape;346;p31"/>
          <p:cNvSpPr/>
          <p:nvPr/>
        </p:nvSpPr>
        <p:spPr>
          <a:xfrm>
            <a:off x="9235440" y="5175504"/>
            <a:ext cx="2286000" cy="393192"/>
          </a:xfrm>
          <a:prstGeom prst="roundRect">
            <a:avLst>
              <a:gd fmla="val 50000" name="adj"/>
            </a:avLst>
          </a:prstGeom>
          <a:solidFill>
            <a:srgbClr val="FBEAE8"/>
          </a:solidFill>
          <a:ln>
            <a:noFill/>
          </a:ln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C0392B"/>
                </a:solidFill>
                <a:latin typeface="Arial"/>
                <a:ea typeface="Arial"/>
                <a:cs typeface="Arial"/>
                <a:sym typeface="Arial"/>
              </a:rPr>
              <a:t>intractable :(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32"/>
          <p:cNvSpPr txBox="1"/>
          <p:nvPr/>
        </p:nvSpPr>
        <p:spPr>
          <a:xfrm>
            <a:off x="566928" y="310896"/>
            <a:ext cx="8686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159AA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02 · REVERSE PROCESS</a:t>
            </a:r>
            <a:endParaRPr/>
          </a:p>
        </p:txBody>
      </p:sp>
      <p:sp>
        <p:nvSpPr>
          <p:cNvPr id="352" name="Google Shape;352;p32"/>
          <p:cNvSpPr txBox="1"/>
          <p:nvPr/>
        </p:nvSpPr>
        <p:spPr>
          <a:xfrm>
            <a:off x="548640" y="566928"/>
            <a:ext cx="96926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20124D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Generation by step-by-step denoising</a:t>
            </a:r>
            <a:endParaRPr/>
          </a:p>
        </p:txBody>
      </p:sp>
      <p:sp>
        <p:nvSpPr>
          <p:cNvPr id="353" name="Google Shape;353;p32"/>
          <p:cNvSpPr/>
          <p:nvPr/>
        </p:nvSpPr>
        <p:spPr>
          <a:xfrm>
            <a:off x="4846320" y="1242339"/>
            <a:ext cx="6858000" cy="3733241"/>
          </a:xfrm>
          <a:prstGeom prst="roundRect">
            <a:avLst>
              <a:gd fmla="val 3919" name="adj"/>
            </a:avLst>
          </a:prstGeom>
          <a:solidFill>
            <a:srgbClr val="FFFFFF"/>
          </a:solidFill>
          <a:ln cap="flat" cmpd="sng" w="12700">
            <a:solidFill>
              <a:srgbClr val="E1DEEE"/>
            </a:solidFill>
            <a:prstDash val="solid"/>
            <a:round/>
            <a:headEnd len="sm" w="sm" type="none"/>
            <a:tailEnd len="sm" w="sm" type="none"/>
          </a:ln>
          <a:effectLst>
            <a:outerShdw blurRad="228600" rotWithShape="0" algn="t" dir="5400000" dist="50800">
              <a:srgbClr val="20124D">
                <a:alpha val="12941"/>
              </a:srgbClr>
            </a:outerShdw>
          </a:effectLst>
        </p:spPr>
        <p:txBody>
          <a:bodyPr anchorCtr="0" anchor="ctr" bIns="73150" lIns="109725" spcFirstLastPara="1" rIns="109725" wrap="square" tIns="73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54" name="Google Shape;354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56048" y="1352067"/>
            <a:ext cx="6638544" cy="3513785"/>
          </a:xfrm>
          <a:prstGeom prst="rect">
            <a:avLst/>
          </a:prstGeom>
          <a:noFill/>
          <a:ln>
            <a:noFill/>
          </a:ln>
        </p:spPr>
      </p:pic>
      <p:sp>
        <p:nvSpPr>
          <p:cNvPr id="355" name="Google Shape;355;p32"/>
          <p:cNvSpPr/>
          <p:nvPr/>
        </p:nvSpPr>
        <p:spPr>
          <a:xfrm>
            <a:off x="1325880" y="1325880"/>
            <a:ext cx="3337560" cy="1600200"/>
          </a:xfrm>
          <a:prstGeom prst="roundRect">
            <a:avLst>
              <a:gd fmla="val 9143" name="adj"/>
            </a:avLst>
          </a:prstGeom>
          <a:solidFill>
            <a:srgbClr val="F4F3FA"/>
          </a:solidFill>
          <a:ln>
            <a:noFill/>
          </a:ln>
        </p:spPr>
        <p:txBody>
          <a:bodyPr anchorCtr="0" anchor="ctr" bIns="73150" lIns="109725" spcFirstLastPara="1" rIns="109725" wrap="square" tIns="73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6" name="Google Shape;356;p32"/>
          <p:cNvSpPr/>
          <p:nvPr/>
        </p:nvSpPr>
        <p:spPr>
          <a:xfrm>
            <a:off x="1508760" y="1508760"/>
            <a:ext cx="384048" cy="384048"/>
          </a:xfrm>
          <a:prstGeom prst="ellipse">
            <a:avLst/>
          </a:prstGeom>
          <a:solidFill>
            <a:srgbClr val="159AAE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</a:t>
            </a:r>
            <a:endParaRPr/>
          </a:p>
        </p:txBody>
      </p:sp>
      <p:sp>
        <p:nvSpPr>
          <p:cNvPr id="357" name="Google Shape;357;p32"/>
          <p:cNvSpPr txBox="1"/>
          <p:nvPr/>
        </p:nvSpPr>
        <p:spPr>
          <a:xfrm>
            <a:off x="2011680" y="1490472"/>
            <a:ext cx="256032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20124D"/>
                </a:solidFill>
                <a:latin typeface="Arial"/>
                <a:ea typeface="Arial"/>
                <a:cs typeface="Arial"/>
                <a:sym typeface="Arial"/>
              </a:rPr>
              <a:t>Sample pure noise</a:t>
            </a:r>
            <a:endParaRPr/>
          </a:p>
        </p:txBody>
      </p:sp>
      <p:pic>
        <p:nvPicPr>
          <p:cNvPr id="358" name="Google Shape;358;p32" title="{&quot;red&quot;:32,&quot;green&quot;:18,&quot;blue&quot;:77,&quot;origURL&quot;:&quot;https://www.codecogs.com/eqnedit.php?latex=%5Cmathbf%7Bx%7D_T%20%5Csim%20%5Cmathcal%7BN%7D(%5Cmathbf%7Bx%7D_T%3B%20%5Cmathbf%7B0%7D%2C%20%5Cmathbf%7BI%7D)#0&quot;,&quot;size&quot;:14,&quot;width&quot;:236.2204724409449,&quot;height&quot;:70.53543307086615}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94832" y="2249342"/>
            <a:ext cx="2399656" cy="347637"/>
          </a:xfrm>
          <a:prstGeom prst="rect">
            <a:avLst/>
          </a:prstGeom>
          <a:noFill/>
          <a:ln>
            <a:noFill/>
          </a:ln>
        </p:spPr>
      </p:pic>
      <p:sp>
        <p:nvSpPr>
          <p:cNvPr id="359" name="Google Shape;359;p32"/>
          <p:cNvSpPr/>
          <p:nvPr/>
        </p:nvSpPr>
        <p:spPr>
          <a:xfrm>
            <a:off x="1325880" y="3108960"/>
            <a:ext cx="3337560" cy="1600200"/>
          </a:xfrm>
          <a:prstGeom prst="roundRect">
            <a:avLst>
              <a:gd fmla="val 9143" name="adj"/>
            </a:avLst>
          </a:prstGeom>
          <a:solidFill>
            <a:srgbClr val="F4F3FA"/>
          </a:solidFill>
          <a:ln>
            <a:noFill/>
          </a:ln>
        </p:spPr>
        <p:txBody>
          <a:bodyPr anchorCtr="0" anchor="ctr" bIns="73150" lIns="109725" spcFirstLastPara="1" rIns="109725" wrap="square" tIns="73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0" name="Google Shape;360;p32"/>
          <p:cNvSpPr/>
          <p:nvPr/>
        </p:nvSpPr>
        <p:spPr>
          <a:xfrm>
            <a:off x="1508760" y="3291840"/>
            <a:ext cx="384048" cy="384048"/>
          </a:xfrm>
          <a:prstGeom prst="ellipse">
            <a:avLst/>
          </a:prstGeom>
          <a:solidFill>
            <a:srgbClr val="159AAE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2</a:t>
            </a:r>
            <a:endParaRPr/>
          </a:p>
        </p:txBody>
      </p:sp>
      <p:sp>
        <p:nvSpPr>
          <p:cNvPr id="361" name="Google Shape;361;p32"/>
          <p:cNvSpPr txBox="1"/>
          <p:nvPr/>
        </p:nvSpPr>
        <p:spPr>
          <a:xfrm>
            <a:off x="2011680" y="3273552"/>
            <a:ext cx="256032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20124D"/>
                </a:solidFill>
                <a:latin typeface="Arial"/>
                <a:ea typeface="Arial"/>
                <a:cs typeface="Arial"/>
                <a:sym typeface="Arial"/>
              </a:rPr>
              <a:t>Iteratively denoise</a:t>
            </a:r>
            <a:endParaRPr/>
          </a:p>
        </p:txBody>
      </p:sp>
      <p:pic>
        <p:nvPicPr>
          <p:cNvPr id="362" name="Google Shape;362;p32" title="{&quot;red&quot;:7,&quot;green&quot;:55,&quot;blue&quot;:99,&quot;origURL&quot;:&quot;https://www.codecogs.com/eqnedit.php?latex=%5Cmathbf%7Bx%7D_%7Bt-1%7D%20%5Csim%20%5Cunderbrace%7Bq(%5Cmathbf%7Bx%7D_%7Bt-1%7D%7C%5Cmathbf%7Bx%7D_t)%7D_%7B%5Ctext%7BTrue%20Denoising%20Dist.%7D%7D#0&quot;,&quot;size&quot;:14,&quot;width&quot;:236.2204724409449,&quot;height&quot;:90.04724409448819}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623060" y="3862357"/>
            <a:ext cx="2743200" cy="687766"/>
          </a:xfrm>
          <a:prstGeom prst="rect">
            <a:avLst/>
          </a:prstGeom>
          <a:noFill/>
          <a:ln>
            <a:noFill/>
          </a:ln>
        </p:spPr>
      </p:pic>
      <p:sp>
        <p:nvSpPr>
          <p:cNvPr id="363" name="Google Shape;363;p32"/>
          <p:cNvSpPr/>
          <p:nvPr/>
        </p:nvSpPr>
        <p:spPr>
          <a:xfrm>
            <a:off x="1325880" y="4983480"/>
            <a:ext cx="10378440" cy="777240"/>
          </a:xfrm>
          <a:prstGeom prst="roundRect">
            <a:avLst>
              <a:gd fmla="val 18824" name="adj"/>
            </a:avLst>
          </a:prstGeom>
          <a:solidFill>
            <a:srgbClr val="FFFFFF"/>
          </a:solidFill>
          <a:ln cap="flat" cmpd="sng" w="12700">
            <a:solidFill>
              <a:srgbClr val="E1DEEE"/>
            </a:solidFill>
            <a:prstDash val="solid"/>
            <a:round/>
            <a:headEnd len="sm" w="sm" type="none"/>
            <a:tailEnd len="sm" w="sm" type="none"/>
          </a:ln>
          <a:effectLst>
            <a:outerShdw blurRad="228600" rotWithShape="0" algn="t" dir="5400000" dist="50800">
              <a:srgbClr val="20124D">
                <a:alpha val="12941"/>
              </a:srgbClr>
            </a:outerShdw>
          </a:effectLst>
        </p:spPr>
        <p:txBody>
          <a:bodyPr anchorCtr="0" anchor="ctr" bIns="73150" lIns="109725" spcFirstLastPara="1" rIns="109725" wrap="square" tIns="73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64" name="Google Shape;364;p32" title="{&quot;red&quot;:7,&quot;green&quot;:55,&quot;blue&quot;:99,&quot;origURL&quot;:&quot;https://www.codecogs.com/eqnedit.php?latex=q(x_%7Bt-1%7D%20%5Cmid%20x_t)%20%3D%20%5Cint%20q(x_%7Bt-1%7D%20%5Cmid%20x_t%2C%20x_0)%20q(x_0%20%5Cmid%20x_t)%20%5C%2C%20dx_0#0&quot;,&quot;size&quot;:18,&quot;width&quot;:576,&quot;height&quot;:58.181102362204726}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554480" y="5088636"/>
            <a:ext cx="4752338" cy="56692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65" name="Google Shape;365;p32"/>
          <p:cNvCxnSpPr/>
          <p:nvPr/>
        </p:nvCxnSpPr>
        <p:spPr>
          <a:xfrm>
            <a:off x="6535418" y="5372100"/>
            <a:ext cx="2562862" cy="0"/>
          </a:xfrm>
          <a:prstGeom prst="straightConnector1">
            <a:avLst/>
          </a:prstGeom>
          <a:noFill/>
          <a:ln cap="flat" cmpd="sng" w="19050">
            <a:solidFill>
              <a:srgbClr val="C0392B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66" name="Google Shape;366;p32"/>
          <p:cNvSpPr/>
          <p:nvPr/>
        </p:nvSpPr>
        <p:spPr>
          <a:xfrm>
            <a:off x="9235440" y="5175504"/>
            <a:ext cx="2286000" cy="393192"/>
          </a:xfrm>
          <a:prstGeom prst="roundRect">
            <a:avLst>
              <a:gd fmla="val 50000" name="adj"/>
            </a:avLst>
          </a:prstGeom>
          <a:solidFill>
            <a:srgbClr val="FBEAE8"/>
          </a:solidFill>
          <a:ln>
            <a:noFill/>
          </a:ln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C0392B"/>
                </a:solidFill>
                <a:latin typeface="Arial"/>
                <a:ea typeface="Arial"/>
                <a:cs typeface="Arial"/>
                <a:sym typeface="Arial"/>
              </a:rPr>
              <a:t>intractable :(</a:t>
            </a:r>
            <a:endParaRPr/>
          </a:p>
        </p:txBody>
      </p:sp>
      <p:sp>
        <p:nvSpPr>
          <p:cNvPr id="367" name="Google Shape;367;p32"/>
          <p:cNvSpPr/>
          <p:nvPr/>
        </p:nvSpPr>
        <p:spPr>
          <a:xfrm>
            <a:off x="1325880" y="5897880"/>
            <a:ext cx="10378440" cy="548640"/>
          </a:xfrm>
          <a:prstGeom prst="roundRect">
            <a:avLst>
              <a:gd fmla="val 50000" name="adj"/>
            </a:avLst>
          </a:prstGeom>
          <a:solidFill>
            <a:srgbClr val="F4F3FA"/>
          </a:solidFill>
          <a:ln>
            <a:noFill/>
          </a:ln>
        </p:spPr>
        <p:txBody>
          <a:bodyPr anchorCtr="0" anchor="ctr" bIns="0" lIns="274300" spcFirstLastPara="1" rIns="182875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20124D"/>
                </a:solidFill>
                <a:latin typeface="Arial"/>
                <a:ea typeface="Arial"/>
                <a:cs typeface="Arial"/>
                <a:sym typeface="Arial"/>
              </a:rPr>
              <a:t>But can we approximate?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33"/>
          <p:cNvSpPr txBox="1"/>
          <p:nvPr/>
        </p:nvSpPr>
        <p:spPr>
          <a:xfrm>
            <a:off x="566928" y="310896"/>
            <a:ext cx="8686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159AA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02 · REVERSE PROCESS</a:t>
            </a:r>
            <a:endParaRPr/>
          </a:p>
        </p:txBody>
      </p:sp>
      <p:sp>
        <p:nvSpPr>
          <p:cNvPr id="373" name="Google Shape;373;p33"/>
          <p:cNvSpPr txBox="1"/>
          <p:nvPr/>
        </p:nvSpPr>
        <p:spPr>
          <a:xfrm>
            <a:off x="548640" y="566928"/>
            <a:ext cx="96926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20124D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Generation by step-by-step denoising</a:t>
            </a:r>
            <a:endParaRPr/>
          </a:p>
        </p:txBody>
      </p:sp>
      <p:sp>
        <p:nvSpPr>
          <p:cNvPr id="374" name="Google Shape;374;p33"/>
          <p:cNvSpPr/>
          <p:nvPr/>
        </p:nvSpPr>
        <p:spPr>
          <a:xfrm>
            <a:off x="4846320" y="1242339"/>
            <a:ext cx="6858000" cy="3733241"/>
          </a:xfrm>
          <a:prstGeom prst="roundRect">
            <a:avLst>
              <a:gd fmla="val 3919" name="adj"/>
            </a:avLst>
          </a:prstGeom>
          <a:solidFill>
            <a:srgbClr val="FFFFFF"/>
          </a:solidFill>
          <a:ln cap="flat" cmpd="sng" w="12700">
            <a:solidFill>
              <a:srgbClr val="E1DEEE"/>
            </a:solidFill>
            <a:prstDash val="solid"/>
            <a:round/>
            <a:headEnd len="sm" w="sm" type="none"/>
            <a:tailEnd len="sm" w="sm" type="none"/>
          </a:ln>
          <a:effectLst>
            <a:outerShdw blurRad="228600" rotWithShape="0" algn="t" dir="5400000" dist="50800">
              <a:srgbClr val="20124D">
                <a:alpha val="12941"/>
              </a:srgbClr>
            </a:outerShdw>
          </a:effectLst>
        </p:spPr>
        <p:txBody>
          <a:bodyPr anchorCtr="0" anchor="ctr" bIns="73150" lIns="109725" spcFirstLastPara="1" rIns="109725" wrap="square" tIns="73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75" name="Google Shape;375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56048" y="1352067"/>
            <a:ext cx="6638544" cy="3513785"/>
          </a:xfrm>
          <a:prstGeom prst="rect">
            <a:avLst/>
          </a:prstGeom>
          <a:noFill/>
          <a:ln>
            <a:noFill/>
          </a:ln>
        </p:spPr>
      </p:pic>
      <p:sp>
        <p:nvSpPr>
          <p:cNvPr id="376" name="Google Shape;376;p33"/>
          <p:cNvSpPr/>
          <p:nvPr/>
        </p:nvSpPr>
        <p:spPr>
          <a:xfrm>
            <a:off x="1325880" y="1325880"/>
            <a:ext cx="3337560" cy="1600200"/>
          </a:xfrm>
          <a:prstGeom prst="roundRect">
            <a:avLst>
              <a:gd fmla="val 9143" name="adj"/>
            </a:avLst>
          </a:prstGeom>
          <a:solidFill>
            <a:srgbClr val="F4F3FA"/>
          </a:solidFill>
          <a:ln>
            <a:noFill/>
          </a:ln>
        </p:spPr>
        <p:txBody>
          <a:bodyPr anchorCtr="0" anchor="ctr" bIns="73150" lIns="109725" spcFirstLastPara="1" rIns="109725" wrap="square" tIns="73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7" name="Google Shape;377;p33"/>
          <p:cNvSpPr/>
          <p:nvPr/>
        </p:nvSpPr>
        <p:spPr>
          <a:xfrm>
            <a:off x="1508760" y="1508760"/>
            <a:ext cx="384048" cy="384048"/>
          </a:xfrm>
          <a:prstGeom prst="ellipse">
            <a:avLst/>
          </a:prstGeom>
          <a:solidFill>
            <a:srgbClr val="159AAE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</a:t>
            </a:r>
            <a:endParaRPr/>
          </a:p>
        </p:txBody>
      </p:sp>
      <p:sp>
        <p:nvSpPr>
          <p:cNvPr id="378" name="Google Shape;378;p33"/>
          <p:cNvSpPr txBox="1"/>
          <p:nvPr/>
        </p:nvSpPr>
        <p:spPr>
          <a:xfrm>
            <a:off x="2011680" y="1490472"/>
            <a:ext cx="256032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20124D"/>
                </a:solidFill>
                <a:latin typeface="Arial"/>
                <a:ea typeface="Arial"/>
                <a:cs typeface="Arial"/>
                <a:sym typeface="Arial"/>
              </a:rPr>
              <a:t>Sample pure noise</a:t>
            </a:r>
            <a:endParaRPr/>
          </a:p>
        </p:txBody>
      </p:sp>
      <p:pic>
        <p:nvPicPr>
          <p:cNvPr id="379" name="Google Shape;379;p33" title="{&quot;red&quot;:32,&quot;green&quot;:18,&quot;blue&quot;:77,&quot;origURL&quot;:&quot;https://www.codecogs.com/eqnedit.php?latex=%5Cmathbf%7Bx%7D_T%20%5Csim%20%5Cmathcal%7BN%7D(%5Cmathbf%7Bx%7D_T%3B%20%5Cmathbf%7B0%7D%2C%20%5Cmathbf%7BI%7D)#0&quot;,&quot;size&quot;:14,&quot;width&quot;:236.2204724409449,&quot;height&quot;:70.53543307086615}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94832" y="2249342"/>
            <a:ext cx="2399656" cy="347637"/>
          </a:xfrm>
          <a:prstGeom prst="rect">
            <a:avLst/>
          </a:prstGeom>
          <a:noFill/>
          <a:ln>
            <a:noFill/>
          </a:ln>
        </p:spPr>
      </p:pic>
      <p:sp>
        <p:nvSpPr>
          <p:cNvPr id="380" name="Google Shape;380;p33"/>
          <p:cNvSpPr/>
          <p:nvPr/>
        </p:nvSpPr>
        <p:spPr>
          <a:xfrm>
            <a:off x="1325880" y="3108960"/>
            <a:ext cx="3337560" cy="1600200"/>
          </a:xfrm>
          <a:prstGeom prst="roundRect">
            <a:avLst>
              <a:gd fmla="val 9143" name="adj"/>
            </a:avLst>
          </a:prstGeom>
          <a:solidFill>
            <a:srgbClr val="F4F3FA"/>
          </a:solidFill>
          <a:ln>
            <a:noFill/>
          </a:ln>
        </p:spPr>
        <p:txBody>
          <a:bodyPr anchorCtr="0" anchor="ctr" bIns="73150" lIns="109725" spcFirstLastPara="1" rIns="109725" wrap="square" tIns="73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1" name="Google Shape;381;p33"/>
          <p:cNvSpPr/>
          <p:nvPr/>
        </p:nvSpPr>
        <p:spPr>
          <a:xfrm>
            <a:off x="1508760" y="3291840"/>
            <a:ext cx="384048" cy="384048"/>
          </a:xfrm>
          <a:prstGeom prst="ellipse">
            <a:avLst/>
          </a:prstGeom>
          <a:solidFill>
            <a:srgbClr val="159AAE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2</a:t>
            </a:r>
            <a:endParaRPr/>
          </a:p>
        </p:txBody>
      </p:sp>
      <p:sp>
        <p:nvSpPr>
          <p:cNvPr id="382" name="Google Shape;382;p33"/>
          <p:cNvSpPr txBox="1"/>
          <p:nvPr/>
        </p:nvSpPr>
        <p:spPr>
          <a:xfrm>
            <a:off x="2011680" y="3273552"/>
            <a:ext cx="256032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20124D"/>
                </a:solidFill>
                <a:latin typeface="Arial"/>
                <a:ea typeface="Arial"/>
                <a:cs typeface="Arial"/>
                <a:sym typeface="Arial"/>
              </a:rPr>
              <a:t>Iteratively denoise</a:t>
            </a:r>
            <a:endParaRPr/>
          </a:p>
        </p:txBody>
      </p:sp>
      <p:pic>
        <p:nvPicPr>
          <p:cNvPr id="383" name="Google Shape;383;p33" title="{&quot;red&quot;:7,&quot;green&quot;:55,&quot;blue&quot;:99,&quot;origURL&quot;:&quot;https://www.codecogs.com/eqnedit.php?latex=%5Cmathbf%7Bx%7D_%7Bt-1%7D%20%5Csim%20%5Cunderbrace%7Bq(%5Cmathbf%7Bx%7D_%7Bt-1%7D%7C%5Cmathbf%7Bx%7D_t)%7D_%7B%5Ctext%7BTrue%20Denoising%20Dist.%7D%7D#0&quot;,&quot;size&quot;:14,&quot;width&quot;:236.2204724409449,&quot;height&quot;:90.04724409448819}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623060" y="3862357"/>
            <a:ext cx="2743200" cy="687766"/>
          </a:xfrm>
          <a:prstGeom prst="rect">
            <a:avLst/>
          </a:prstGeom>
          <a:noFill/>
          <a:ln>
            <a:noFill/>
          </a:ln>
        </p:spPr>
      </p:pic>
      <p:sp>
        <p:nvSpPr>
          <p:cNvPr id="384" name="Google Shape;384;p33"/>
          <p:cNvSpPr/>
          <p:nvPr/>
        </p:nvSpPr>
        <p:spPr>
          <a:xfrm>
            <a:off x="1325880" y="4983480"/>
            <a:ext cx="10378440" cy="777240"/>
          </a:xfrm>
          <a:prstGeom prst="roundRect">
            <a:avLst>
              <a:gd fmla="val 18824" name="adj"/>
            </a:avLst>
          </a:prstGeom>
          <a:solidFill>
            <a:srgbClr val="FFFFFF"/>
          </a:solidFill>
          <a:ln cap="flat" cmpd="sng" w="12700">
            <a:solidFill>
              <a:srgbClr val="E1DEEE"/>
            </a:solidFill>
            <a:prstDash val="solid"/>
            <a:round/>
            <a:headEnd len="sm" w="sm" type="none"/>
            <a:tailEnd len="sm" w="sm" type="none"/>
          </a:ln>
          <a:effectLst>
            <a:outerShdw blurRad="228600" rotWithShape="0" algn="t" dir="5400000" dist="50800">
              <a:srgbClr val="20124D">
                <a:alpha val="12941"/>
              </a:srgbClr>
            </a:outerShdw>
          </a:effectLst>
        </p:spPr>
        <p:txBody>
          <a:bodyPr anchorCtr="0" anchor="ctr" bIns="73150" lIns="109725" spcFirstLastPara="1" rIns="109725" wrap="square" tIns="73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85" name="Google Shape;385;p33" title="{&quot;red&quot;:7,&quot;green&quot;:55,&quot;blue&quot;:99,&quot;origURL&quot;:&quot;https://www.codecogs.com/eqnedit.php?latex=q(x_%7Bt-1%7D%20%5Cmid%20x_t)%20%3D%20%5Cint%20q(x_%7Bt-1%7D%20%5Cmid%20x_t%2C%20x_0)%20q(x_0%20%5Cmid%20x_t)%20%5C%2C%20dx_0#0&quot;,&quot;size&quot;:18,&quot;width&quot;:576,&quot;height&quot;:58.181102362204726}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554480" y="5088636"/>
            <a:ext cx="4752338" cy="56692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86" name="Google Shape;386;p33"/>
          <p:cNvCxnSpPr/>
          <p:nvPr/>
        </p:nvCxnSpPr>
        <p:spPr>
          <a:xfrm>
            <a:off x="6535418" y="5372100"/>
            <a:ext cx="2562862" cy="0"/>
          </a:xfrm>
          <a:prstGeom prst="straightConnector1">
            <a:avLst/>
          </a:prstGeom>
          <a:noFill/>
          <a:ln cap="flat" cmpd="sng" w="19050">
            <a:solidFill>
              <a:srgbClr val="C0392B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87" name="Google Shape;387;p33"/>
          <p:cNvSpPr/>
          <p:nvPr/>
        </p:nvSpPr>
        <p:spPr>
          <a:xfrm>
            <a:off x="9235440" y="5175504"/>
            <a:ext cx="2286000" cy="393192"/>
          </a:xfrm>
          <a:prstGeom prst="roundRect">
            <a:avLst>
              <a:gd fmla="val 50000" name="adj"/>
            </a:avLst>
          </a:prstGeom>
          <a:solidFill>
            <a:srgbClr val="FBEAE8"/>
          </a:solidFill>
          <a:ln>
            <a:noFill/>
          </a:ln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C0392B"/>
                </a:solidFill>
                <a:latin typeface="Arial"/>
                <a:ea typeface="Arial"/>
                <a:cs typeface="Arial"/>
                <a:sym typeface="Arial"/>
              </a:rPr>
              <a:t>intractable :(</a:t>
            </a:r>
            <a:endParaRPr/>
          </a:p>
        </p:txBody>
      </p:sp>
      <p:sp>
        <p:nvSpPr>
          <p:cNvPr id="388" name="Google Shape;388;p33"/>
          <p:cNvSpPr/>
          <p:nvPr/>
        </p:nvSpPr>
        <p:spPr>
          <a:xfrm>
            <a:off x="1325880" y="5897880"/>
            <a:ext cx="10378440" cy="548640"/>
          </a:xfrm>
          <a:prstGeom prst="roundRect">
            <a:avLst>
              <a:gd fmla="val 50000" name="adj"/>
            </a:avLst>
          </a:prstGeom>
          <a:solidFill>
            <a:srgbClr val="E8F5EC"/>
          </a:solidFill>
          <a:ln>
            <a:noFill/>
          </a:ln>
        </p:spPr>
        <p:txBody>
          <a:bodyPr anchorCtr="0" anchor="ctr" bIns="0" lIns="274300" spcFirstLastPara="1" rIns="182875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20124D"/>
                </a:solidFill>
                <a:latin typeface="Arial"/>
                <a:ea typeface="Arial"/>
                <a:cs typeface="Arial"/>
                <a:sym typeface="Arial"/>
              </a:rPr>
              <a:t>But can we approximate?</a:t>
            </a:r>
            <a:r>
              <a:rPr b="1" i="0" lang="en-US" sz="1600" u="none" cap="none" strike="noStrike">
                <a:solidFill>
                  <a:srgbClr val="2E8A55"/>
                </a:solidFill>
                <a:latin typeface="Arial"/>
                <a:ea typeface="Arial"/>
                <a:cs typeface="Arial"/>
                <a:sym typeface="Arial"/>
              </a:rPr>
              <a:t>   Yes! Use a normal distribution with a small step for adding noise.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34"/>
          <p:cNvSpPr txBox="1"/>
          <p:nvPr/>
        </p:nvSpPr>
        <p:spPr>
          <a:xfrm>
            <a:off x="566928" y="310896"/>
            <a:ext cx="8686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159AA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02 · REVERSE PROCESS</a:t>
            </a:r>
            <a:endParaRPr/>
          </a:p>
        </p:txBody>
      </p:sp>
      <p:sp>
        <p:nvSpPr>
          <p:cNvPr id="394" name="Google Shape;394;p34"/>
          <p:cNvSpPr txBox="1"/>
          <p:nvPr/>
        </p:nvSpPr>
        <p:spPr>
          <a:xfrm>
            <a:off x="548640" y="566928"/>
            <a:ext cx="96926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20124D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Reverse (backward) process</a:t>
            </a:r>
            <a:endParaRPr/>
          </a:p>
        </p:txBody>
      </p:sp>
      <p:pic>
        <p:nvPicPr>
          <p:cNvPr id="395" name="Google Shape;395;p34" title="bp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49528" y="1188720"/>
            <a:ext cx="9692640" cy="2929336"/>
          </a:xfrm>
          <a:prstGeom prst="rect">
            <a:avLst/>
          </a:prstGeom>
          <a:noFill/>
          <a:ln>
            <a:noFill/>
          </a:ln>
        </p:spPr>
      </p:pic>
      <p:pic>
        <p:nvPicPr>
          <p:cNvPr id="396" name="Google Shape;396;p34" title="{&quot;red&quot;:7,&quot;green&quot;:55,&quot;blue&quot;:99,&quot;origURL&quot;:&quot;https://www.codecogs.com/eqnedit.php?latex=p_%5Ctheta(%5Cmathbf%7Bx%7D_%7Bt-1%7D%7C%5Cmathbf%7Bx%7D_t)%20%3D%20%5Cmathcal%7BN%7D(%5Cmathbf%7Bx%7D_%7Bt-1%7D%3B%20%5Cunderbrace%7B%5Cmu_%5Ctheta(%5Cmathbf%7Bx%7D_t%2C%20t)%7D_%7B%5Ctext%7BTrainable%20network%7D%7D%2C%20%5Csigma_t%5E2%5Cmathbf%7BI%7D)#0&quot;,&quot;size&quot;:14,&quot;width&quot;:236.2204724409449,&quot;height&quot;:129.0708661417323}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661626" y="3187686"/>
            <a:ext cx="1397631" cy="190243"/>
          </a:xfrm>
          <a:prstGeom prst="rect">
            <a:avLst/>
          </a:prstGeom>
          <a:noFill/>
          <a:ln>
            <a:noFill/>
          </a:ln>
        </p:spPr>
      </p:pic>
      <p:pic>
        <p:nvPicPr>
          <p:cNvPr id="397" name="Google Shape;397;p34" title="{&quot;red&quot;:7,&quot;green&quot;:55,&quot;blue&quot;:99,&quot;origURL&quot;:&quot;https://www.codecogs.com/eqnedit.php?latex=p_%5Ctheta(%5Cmathbf%7Bx%7D_%7Bt-1%7D%7C%5Cmathbf%7Bx%7D_t)%20%3D%20%5Cmathcal%7BN%7D(%5Cmathbf%7Bx%7D_%7Bt-1%7D%3B%20%5Cunderbrace%7B%5Cmu_%5Ctheta(%5Cmathbf%7Bx%7D_t%2C%20t)%7D_%7B%5Ctext%7BTrainable%20network%7D%7D%2C%20%5Csigma_t%5E2%5Cmathbf%7BI%7D)#0&quot;,&quot;size&quot;:14,&quot;width&quot;:236.2204724409449,&quot;height&quot;:129.0708661417323}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661626" y="3187686"/>
            <a:ext cx="1397631" cy="190243"/>
          </a:xfrm>
          <a:prstGeom prst="rect">
            <a:avLst/>
          </a:prstGeom>
          <a:noFill/>
          <a:ln>
            <a:noFill/>
          </a:ln>
        </p:spPr>
      </p:pic>
      <p:sp>
        <p:nvSpPr>
          <p:cNvPr id="398" name="Google Shape;398;p34"/>
          <p:cNvSpPr/>
          <p:nvPr/>
        </p:nvSpPr>
        <p:spPr>
          <a:xfrm>
            <a:off x="1325880" y="4343400"/>
            <a:ext cx="10378440" cy="2011680"/>
          </a:xfrm>
          <a:prstGeom prst="roundRect">
            <a:avLst>
              <a:gd fmla="val 7273" name="adj"/>
            </a:avLst>
          </a:prstGeom>
          <a:solidFill>
            <a:srgbClr val="F4F3FA"/>
          </a:solidFill>
          <a:ln>
            <a:noFill/>
          </a:ln>
        </p:spPr>
        <p:txBody>
          <a:bodyPr anchorCtr="0" anchor="ctr" bIns="73150" lIns="109725" spcFirstLastPara="1" rIns="109725" wrap="square" tIns="73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99" name="Google Shape;399;p34" title="{&quot;red&quot;:7,&quot;green&quot;:55,&quot;blue&quot;:99,&quot;origURL&quot;:&quot;https://www.codecogs.com/eqnedit.php?latex=p(%5Cmathbf%7Bx%7D_T)%20%3D%20%5Cmathcal%7BN%7D(%5Cmathbf%7Bx%7D_T%3B%20%5Cmathbf%7B0%7D%2C%20%5Cmathbf%7BI%7D)#0&quot;,&quot;size&quot;:14,&quot;width&quot;:236.2204724409449,&quot;height&quot;:70.53543307086615}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645920" y="4685636"/>
            <a:ext cx="3361680" cy="412809"/>
          </a:xfrm>
          <a:prstGeom prst="rect">
            <a:avLst/>
          </a:prstGeom>
          <a:noFill/>
          <a:ln>
            <a:noFill/>
          </a:ln>
        </p:spPr>
      </p:pic>
      <p:sp>
        <p:nvSpPr>
          <p:cNvPr id="400" name="Google Shape;400;p34"/>
          <p:cNvSpPr/>
          <p:nvPr/>
        </p:nvSpPr>
        <p:spPr>
          <a:xfrm>
            <a:off x="9144000" y="4709160"/>
            <a:ext cx="2331720" cy="36576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159AAE"/>
                </a:solidFill>
                <a:latin typeface="Arial"/>
                <a:ea typeface="Arial"/>
                <a:cs typeface="Arial"/>
                <a:sym typeface="Arial"/>
              </a:rPr>
              <a:t>prior: pure noise</a:t>
            </a:r>
            <a:endParaRPr/>
          </a:p>
        </p:txBody>
      </p:sp>
      <p:pic>
        <p:nvPicPr>
          <p:cNvPr id="401" name="Google Shape;401;p34" title="{&quot;red&quot;:7,&quot;green&quot;:55,&quot;blue&quot;:99,&quot;origURL&quot;:&quot;https://saxarona.github.io/mathjax-viewer/?input=p_%5Ctheta(x_%7Bt-1%7D%20%5Cmid%20x_t)%20%3D%20%5Cmathcal%7BN%7D%5Cbigl(%5Cmu_%5Ctheta(x_t%2C%20t)%2C%5C%3B%20%5CSigma_%5Ctheta(x_t%2C%20t)%5Cbigr).#0&quot;,&quot;size&quot;:14,&quot;width&quot;:236.2204724409449,&quot;height&quot;:70.53543307086615,&quot;slideId&quot;:&quot;g3fa744eecfa_4_3&quot;,&quot;pageElementId&quot;:&quot;g3fa744eecfa_4_36&quot;,&quot;spaceCount&quot;:62,&quot;spaceStart&quot;:0}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645920" y="5446665"/>
            <a:ext cx="7223062" cy="628110"/>
          </a:xfrm>
          <a:prstGeom prst="rect">
            <a:avLst/>
          </a:prstGeom>
          <a:noFill/>
          <a:ln>
            <a:noFill/>
          </a:ln>
        </p:spPr>
      </p:pic>
      <p:sp>
        <p:nvSpPr>
          <p:cNvPr id="402" name="Google Shape;402;p34"/>
          <p:cNvSpPr/>
          <p:nvPr/>
        </p:nvSpPr>
        <p:spPr>
          <a:xfrm>
            <a:off x="9144000" y="5577840"/>
            <a:ext cx="2331720" cy="36576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159AAE"/>
                </a:solidFill>
                <a:latin typeface="Arial"/>
                <a:ea typeface="Arial"/>
                <a:cs typeface="Arial"/>
                <a:sym typeface="Arial"/>
              </a:rPr>
              <a:t>learned denoising step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35"/>
          <p:cNvSpPr txBox="1"/>
          <p:nvPr/>
        </p:nvSpPr>
        <p:spPr>
          <a:xfrm>
            <a:off x="566928" y="310896"/>
            <a:ext cx="8686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159AA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02 · REVERSE PROCESS</a:t>
            </a:r>
            <a:endParaRPr/>
          </a:p>
        </p:txBody>
      </p:sp>
      <p:sp>
        <p:nvSpPr>
          <p:cNvPr id="408" name="Google Shape;408;p35"/>
          <p:cNvSpPr txBox="1"/>
          <p:nvPr/>
        </p:nvSpPr>
        <p:spPr>
          <a:xfrm>
            <a:off x="548640" y="566928"/>
            <a:ext cx="96926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20124D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Recap: VAE vs diffusion</a:t>
            </a:r>
            <a:endParaRPr/>
          </a:p>
        </p:txBody>
      </p:sp>
      <p:sp>
        <p:nvSpPr>
          <p:cNvPr id="409" name="Google Shape;409;p35"/>
          <p:cNvSpPr/>
          <p:nvPr/>
        </p:nvSpPr>
        <p:spPr>
          <a:xfrm>
            <a:off x="1325880" y="1406409"/>
            <a:ext cx="10378440" cy="1896343"/>
          </a:xfrm>
          <a:prstGeom prst="roundRect">
            <a:avLst>
              <a:gd fmla="val 7715" name="adj"/>
            </a:avLst>
          </a:prstGeom>
          <a:solidFill>
            <a:srgbClr val="FFFFFF"/>
          </a:solidFill>
          <a:ln cap="flat" cmpd="sng" w="12700">
            <a:solidFill>
              <a:srgbClr val="E1DEEE"/>
            </a:solidFill>
            <a:prstDash val="solid"/>
            <a:round/>
            <a:headEnd len="sm" w="sm" type="none"/>
            <a:tailEnd len="sm" w="sm" type="none"/>
          </a:ln>
          <a:effectLst>
            <a:outerShdw blurRad="228600" rotWithShape="0" algn="t" dir="5400000" dist="50800">
              <a:srgbClr val="20124D">
                <a:alpha val="12941"/>
              </a:srgbClr>
            </a:outerShdw>
          </a:effectLst>
        </p:spPr>
        <p:txBody>
          <a:bodyPr anchorCtr="0" anchor="ctr" bIns="73150" lIns="109725" spcFirstLastPara="1" rIns="109725" wrap="square" tIns="73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10" name="Google Shape;410;p35"/>
          <p:cNvPicPr preferRelativeResize="0"/>
          <p:nvPr/>
        </p:nvPicPr>
        <p:blipFill rotWithShape="1">
          <a:blip r:embed="rId3">
            <a:alphaModFix/>
          </a:blip>
          <a:srcRect b="49409" l="0" r="0" t="27373"/>
          <a:stretch/>
        </p:blipFill>
        <p:spPr>
          <a:xfrm>
            <a:off x="1463040" y="1543569"/>
            <a:ext cx="10104120" cy="1622023"/>
          </a:xfrm>
          <a:prstGeom prst="rect">
            <a:avLst/>
          </a:prstGeom>
          <a:noFill/>
          <a:ln>
            <a:noFill/>
          </a:ln>
        </p:spPr>
      </p:pic>
      <p:sp>
        <p:nvSpPr>
          <p:cNvPr id="411" name="Google Shape;411;p35"/>
          <p:cNvSpPr/>
          <p:nvPr/>
        </p:nvSpPr>
        <p:spPr>
          <a:xfrm>
            <a:off x="1325880" y="3998324"/>
            <a:ext cx="10378440" cy="2016033"/>
          </a:xfrm>
          <a:prstGeom prst="roundRect">
            <a:avLst>
              <a:gd fmla="val 7257" name="adj"/>
            </a:avLst>
          </a:prstGeom>
          <a:solidFill>
            <a:srgbClr val="FFFFFF"/>
          </a:solidFill>
          <a:ln cap="flat" cmpd="sng" w="12700">
            <a:solidFill>
              <a:srgbClr val="E1DEEE"/>
            </a:solidFill>
            <a:prstDash val="solid"/>
            <a:round/>
            <a:headEnd len="sm" w="sm" type="none"/>
            <a:tailEnd len="sm" w="sm" type="none"/>
          </a:ln>
          <a:effectLst>
            <a:outerShdw blurRad="228600" rotWithShape="0" algn="t" dir="5400000" dist="50800">
              <a:srgbClr val="20124D">
                <a:alpha val="12941"/>
              </a:srgbClr>
            </a:outerShdw>
          </a:effectLst>
        </p:spPr>
        <p:txBody>
          <a:bodyPr anchorCtr="0" anchor="ctr" bIns="73150" lIns="109725" spcFirstLastPara="1" rIns="109725" wrap="square" tIns="73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12" name="Google Shape;412;p35"/>
          <p:cNvPicPr preferRelativeResize="0"/>
          <p:nvPr/>
        </p:nvPicPr>
        <p:blipFill rotWithShape="1">
          <a:blip r:embed="rId3">
            <a:alphaModFix/>
          </a:blip>
          <a:srcRect b="0" l="-806" r="0" t="74869"/>
          <a:stretch/>
        </p:blipFill>
        <p:spPr>
          <a:xfrm>
            <a:off x="1463040" y="4135484"/>
            <a:ext cx="10104120" cy="17417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36"/>
          <p:cNvSpPr txBox="1"/>
          <p:nvPr/>
        </p:nvSpPr>
        <p:spPr>
          <a:xfrm>
            <a:off x="566928" y="310896"/>
            <a:ext cx="8686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159AA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02 · REVERSE PROCESS</a:t>
            </a:r>
            <a:endParaRPr/>
          </a:p>
        </p:txBody>
      </p:sp>
      <p:sp>
        <p:nvSpPr>
          <p:cNvPr id="418" name="Google Shape;418;p36"/>
          <p:cNvSpPr txBox="1"/>
          <p:nvPr/>
        </p:nvSpPr>
        <p:spPr>
          <a:xfrm>
            <a:off x="548640" y="566928"/>
            <a:ext cx="96926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20124D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Diffusion models vs VAE</a:t>
            </a:r>
            <a:endParaRPr/>
          </a:p>
        </p:txBody>
      </p:sp>
      <p:pic>
        <p:nvPicPr>
          <p:cNvPr id="419" name="Google Shape;419;p36" title="{&quot;red&quot;:7,&quot;green&quot;:55,&quot;blue&quot;:99,&quot;origURL&quot;:&quot;https://saxarona.github.io/mathjax-viewer/?input=%5Cmax_%5Ctheta%5C%2C%5Cmathbb%7BE%7D_%7Bx_0%5Csim%20q_%7B%5Cmathrm%7Bdata%7D%7D%7D%5Clog%20p_%5Ctheta(x_0)#0&quot;,&quot;size&quot;:14,&quot;width&quot;:236.2204724409449,&quot;height&quot;:90.04724409448819,&quot;slideId&quot;:&quot;g3d14c94fccb_0_295&quot;,&quot;pageElementId&quot;:&quot;g3fa67d68f19_0_99&quot;,&quot;spaceCount&quot;:18,&quot;spaceStart&quot;:0}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61348" y="1188720"/>
            <a:ext cx="3668999" cy="566229"/>
          </a:xfrm>
          <a:prstGeom prst="rect">
            <a:avLst/>
          </a:prstGeom>
          <a:noFill/>
          <a:ln>
            <a:noFill/>
          </a:ln>
        </p:spPr>
      </p:pic>
      <p:sp>
        <p:nvSpPr>
          <p:cNvPr id="420" name="Google Shape;420;p36"/>
          <p:cNvSpPr/>
          <p:nvPr/>
        </p:nvSpPr>
        <p:spPr>
          <a:xfrm>
            <a:off x="1371600" y="1965960"/>
            <a:ext cx="3749040" cy="502920"/>
          </a:xfrm>
          <a:prstGeom prst="roundRect">
            <a:avLst>
              <a:gd fmla="val 49091" name="adj"/>
            </a:avLst>
          </a:prstGeom>
          <a:solidFill>
            <a:srgbClr val="159AAE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Diffusion models</a:t>
            </a:r>
            <a:endParaRPr/>
          </a:p>
        </p:txBody>
      </p:sp>
      <p:sp>
        <p:nvSpPr>
          <p:cNvPr id="421" name="Google Shape;421;p36"/>
          <p:cNvSpPr/>
          <p:nvPr/>
        </p:nvSpPr>
        <p:spPr>
          <a:xfrm>
            <a:off x="7086600" y="1965960"/>
            <a:ext cx="3749040" cy="502920"/>
          </a:xfrm>
          <a:prstGeom prst="roundRect">
            <a:avLst>
              <a:gd fmla="val 49091" name="adj"/>
            </a:avLst>
          </a:prstGeom>
          <a:solidFill>
            <a:srgbClr val="5B3FC4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VAE</a:t>
            </a:r>
            <a:endParaRPr/>
          </a:p>
        </p:txBody>
      </p:sp>
      <p:pic>
        <p:nvPicPr>
          <p:cNvPr id="422" name="Google Shape;422;p36" title="{&quot;red&quot;:7,&quot;green&quot;:55,&quot;blue&quot;:99,&quot;origURL&quot;:&quot;https://www.codecogs.com/eqnedit.php?latex=ELBO_%7BDDPM%7D%20%3D%20%5Cmathbb%7BE%7D_%7Bq(%5Cmathbf%7Bx%7D_%7B1%3AT%7D%7C%5Cmathbf%7Bx%7D_0)%7D%20%5Clog%20%5Cfrac%7Bp_%5Ctheta(%5Cmathbf%7Bx%7D_%7B0%3AT%7D)%7D%7Bq(%5Cmathbf%7Bx%7D_%7B1%3AT%7D%7C%5Cmathbf%7Bx%7D_0)%7D#0&quot;,&quot;size&quot;:14,&quot;width&quot;:236.2204724409449,&quot;height&quot;:109.55905511811024}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71600" y="2697480"/>
            <a:ext cx="3749040" cy="532568"/>
          </a:xfrm>
          <a:prstGeom prst="rect">
            <a:avLst/>
          </a:prstGeom>
          <a:noFill/>
          <a:ln>
            <a:noFill/>
          </a:ln>
        </p:spPr>
      </p:pic>
      <p:pic>
        <p:nvPicPr>
          <p:cNvPr id="423" name="Google Shape;423;p36" title="{&quot;red&quot;:7,&quot;green&quot;:55,&quot;blue&quot;:99,&quot;origURL&quot;:&quot;https://www.codecogs.com/eqnedit.php?latex=ELBO_%7BVAE%7D%20%3D%20%5Cmathbb%7BE%7D_%7Bq_%5Cphi(%5Cmathbf%7Bz%7D%7C%5Cmathbf%7Bx%7D_0)%7D%20%5Clog%20%5Cfrac%7Bp_%5Ctheta(%5Cmathbf%7Bx%7D_0%2C%20%5Cmathbf%7Bz%7D)%7D%7Bq_%5Cphi(%5Cmathbf%7Bz%7D%7C%5Cmathbf%7Bx%7D_0)%7D#0&quot;,&quot;size&quot;:14,&quot;width&quot;:236.2204724409449,&quot;height&quot;:129.0708661417323}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167842" y="2697480"/>
            <a:ext cx="3586556" cy="590102"/>
          </a:xfrm>
          <a:prstGeom prst="rect">
            <a:avLst/>
          </a:prstGeom>
          <a:noFill/>
          <a:ln>
            <a:noFill/>
          </a:ln>
        </p:spPr>
      </p:pic>
      <p:sp>
        <p:nvSpPr>
          <p:cNvPr id="424" name="Google Shape;424;p36"/>
          <p:cNvSpPr/>
          <p:nvPr/>
        </p:nvSpPr>
        <p:spPr>
          <a:xfrm>
            <a:off x="1325880" y="3611880"/>
            <a:ext cx="10378440" cy="731520"/>
          </a:xfrm>
          <a:prstGeom prst="roundRect">
            <a:avLst>
              <a:gd fmla="val 20000" name="adj"/>
            </a:avLst>
          </a:prstGeom>
          <a:solidFill>
            <a:srgbClr val="F4F3FA"/>
          </a:solidFill>
          <a:ln>
            <a:noFill/>
          </a:ln>
        </p:spPr>
        <p:txBody>
          <a:bodyPr anchorCtr="0" anchor="ctr" bIns="73150" lIns="109725" spcFirstLastPara="1" rIns="109725" wrap="square" tIns="73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5" name="Google Shape;425;p36"/>
          <p:cNvSpPr txBox="1"/>
          <p:nvPr/>
        </p:nvSpPr>
        <p:spPr>
          <a:xfrm>
            <a:off x="1371600" y="3611880"/>
            <a:ext cx="37490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23213A"/>
                </a:solidFill>
                <a:latin typeface="Arial"/>
                <a:ea typeface="Arial"/>
                <a:cs typeface="Arial"/>
                <a:sym typeface="Arial"/>
              </a:rPr>
              <a:t>many latent states</a:t>
            </a:r>
            <a:endParaRPr/>
          </a:p>
        </p:txBody>
      </p:sp>
      <p:sp>
        <p:nvSpPr>
          <p:cNvPr id="426" name="Google Shape;426;p36"/>
          <p:cNvSpPr txBox="1"/>
          <p:nvPr/>
        </p:nvSpPr>
        <p:spPr>
          <a:xfrm>
            <a:off x="7086600" y="3611880"/>
            <a:ext cx="37490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23213A"/>
                </a:solidFill>
                <a:latin typeface="Arial"/>
                <a:ea typeface="Arial"/>
                <a:cs typeface="Arial"/>
                <a:sym typeface="Arial"/>
              </a:rPr>
              <a:t>one latent state</a:t>
            </a:r>
            <a:endParaRPr/>
          </a:p>
        </p:txBody>
      </p:sp>
      <p:sp>
        <p:nvSpPr>
          <p:cNvPr id="427" name="Google Shape;427;p36"/>
          <p:cNvSpPr txBox="1"/>
          <p:nvPr/>
        </p:nvSpPr>
        <p:spPr>
          <a:xfrm>
            <a:off x="5181448" y="3611880"/>
            <a:ext cx="18288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6B6F8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LATENT STATES</a:t>
            </a:r>
            <a:endParaRPr/>
          </a:p>
        </p:txBody>
      </p:sp>
      <p:sp>
        <p:nvSpPr>
          <p:cNvPr id="428" name="Google Shape;428;p36"/>
          <p:cNvSpPr/>
          <p:nvPr/>
        </p:nvSpPr>
        <p:spPr>
          <a:xfrm>
            <a:off x="1325880" y="4480560"/>
            <a:ext cx="10378440" cy="731520"/>
          </a:xfrm>
          <a:prstGeom prst="roundRect">
            <a:avLst>
              <a:gd fmla="val 20000" name="adj"/>
            </a:avLst>
          </a:prstGeom>
          <a:solidFill>
            <a:srgbClr val="FFFFFF"/>
          </a:solidFill>
          <a:ln cap="flat" cmpd="sng" w="12700">
            <a:solidFill>
              <a:srgbClr val="E1DE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3150" lIns="109725" spcFirstLastPara="1" rIns="109725" wrap="square" tIns="73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9" name="Google Shape;429;p36"/>
          <p:cNvSpPr txBox="1"/>
          <p:nvPr/>
        </p:nvSpPr>
        <p:spPr>
          <a:xfrm>
            <a:off x="1371600" y="4480560"/>
            <a:ext cx="37490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23213A"/>
                </a:solidFill>
                <a:latin typeface="Arial"/>
                <a:ea typeface="Arial"/>
                <a:cs typeface="Arial"/>
                <a:sym typeface="Arial"/>
              </a:rPr>
              <a:t>not trainable encoder</a:t>
            </a:r>
            <a:endParaRPr/>
          </a:p>
        </p:txBody>
      </p:sp>
      <p:sp>
        <p:nvSpPr>
          <p:cNvPr id="430" name="Google Shape;430;p36"/>
          <p:cNvSpPr txBox="1"/>
          <p:nvPr/>
        </p:nvSpPr>
        <p:spPr>
          <a:xfrm>
            <a:off x="7086600" y="4480560"/>
            <a:ext cx="37490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23213A"/>
                </a:solidFill>
                <a:latin typeface="Arial"/>
                <a:ea typeface="Arial"/>
                <a:cs typeface="Arial"/>
                <a:sym typeface="Arial"/>
              </a:rPr>
              <a:t>trainable encoder</a:t>
            </a:r>
            <a:endParaRPr/>
          </a:p>
        </p:txBody>
      </p:sp>
      <p:sp>
        <p:nvSpPr>
          <p:cNvPr id="431" name="Google Shape;431;p36"/>
          <p:cNvSpPr txBox="1"/>
          <p:nvPr/>
        </p:nvSpPr>
        <p:spPr>
          <a:xfrm>
            <a:off x="5181448" y="4480560"/>
            <a:ext cx="18288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6B6F8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ENCODER</a:t>
            </a:r>
            <a:endParaRPr/>
          </a:p>
        </p:txBody>
      </p:sp>
      <p:sp>
        <p:nvSpPr>
          <p:cNvPr id="432" name="Google Shape;432;p36"/>
          <p:cNvSpPr/>
          <p:nvPr/>
        </p:nvSpPr>
        <p:spPr>
          <a:xfrm>
            <a:off x="1325880" y="5349240"/>
            <a:ext cx="10378440" cy="731520"/>
          </a:xfrm>
          <a:prstGeom prst="roundRect">
            <a:avLst>
              <a:gd fmla="val 20000" name="adj"/>
            </a:avLst>
          </a:prstGeom>
          <a:solidFill>
            <a:srgbClr val="F4F3FA"/>
          </a:solidFill>
          <a:ln>
            <a:noFill/>
          </a:ln>
        </p:spPr>
        <p:txBody>
          <a:bodyPr anchorCtr="0" anchor="ctr" bIns="73150" lIns="109725" spcFirstLastPara="1" rIns="109725" wrap="square" tIns="73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3" name="Google Shape;433;p36"/>
          <p:cNvSpPr txBox="1"/>
          <p:nvPr/>
        </p:nvSpPr>
        <p:spPr>
          <a:xfrm>
            <a:off x="1371600" y="5349240"/>
            <a:ext cx="37490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23213A"/>
                </a:solidFill>
                <a:latin typeface="Arial"/>
                <a:ea typeface="Arial"/>
                <a:cs typeface="Arial"/>
                <a:sym typeface="Arial"/>
              </a:rPr>
              <a:t>same as data dim</a:t>
            </a:r>
            <a:endParaRPr/>
          </a:p>
        </p:txBody>
      </p:sp>
      <p:sp>
        <p:nvSpPr>
          <p:cNvPr id="434" name="Google Shape;434;p36"/>
          <p:cNvSpPr txBox="1"/>
          <p:nvPr/>
        </p:nvSpPr>
        <p:spPr>
          <a:xfrm>
            <a:off x="7086600" y="5349240"/>
            <a:ext cx="37490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23213A"/>
                </a:solidFill>
                <a:latin typeface="Arial"/>
                <a:ea typeface="Arial"/>
                <a:cs typeface="Arial"/>
                <a:sym typeface="Arial"/>
              </a:rPr>
              <a:t>differs from data dim</a:t>
            </a:r>
            <a:endParaRPr/>
          </a:p>
        </p:txBody>
      </p:sp>
      <p:sp>
        <p:nvSpPr>
          <p:cNvPr id="435" name="Google Shape;435;p36"/>
          <p:cNvSpPr txBox="1"/>
          <p:nvPr/>
        </p:nvSpPr>
        <p:spPr>
          <a:xfrm>
            <a:off x="5181448" y="5349240"/>
            <a:ext cx="18288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6B6F8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LATENT DIM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37"/>
          <p:cNvSpPr txBox="1"/>
          <p:nvPr/>
        </p:nvSpPr>
        <p:spPr>
          <a:xfrm>
            <a:off x="1097280" y="1600200"/>
            <a:ext cx="5486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6FD3E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03</a:t>
            </a:r>
            <a:endParaRPr/>
          </a:p>
        </p:txBody>
      </p:sp>
      <p:sp>
        <p:nvSpPr>
          <p:cNvPr id="441" name="Google Shape;441;p37"/>
          <p:cNvSpPr txBox="1"/>
          <p:nvPr/>
        </p:nvSpPr>
        <p:spPr>
          <a:xfrm>
            <a:off x="1097280" y="2148840"/>
            <a:ext cx="5669280" cy="173736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Training</a:t>
            </a:r>
            <a:endParaRPr/>
          </a:p>
        </p:txBody>
      </p:sp>
      <p:sp>
        <p:nvSpPr>
          <p:cNvPr id="442" name="Google Shape;442;p37"/>
          <p:cNvSpPr txBox="1"/>
          <p:nvPr/>
        </p:nvSpPr>
        <p:spPr>
          <a:xfrm>
            <a:off x="1097280" y="4114800"/>
            <a:ext cx="54864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CFC8F2"/>
                </a:solidFill>
                <a:latin typeface="Arial"/>
                <a:ea typeface="Arial"/>
                <a:cs typeface="Arial"/>
                <a:sym typeface="Arial"/>
              </a:rPr>
              <a:t>From the ELBO to the simplified noise-prediction loss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38"/>
          <p:cNvSpPr txBox="1"/>
          <p:nvPr/>
        </p:nvSpPr>
        <p:spPr>
          <a:xfrm>
            <a:off x="566928" y="310896"/>
            <a:ext cx="8686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159AA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03 · TRAINING</a:t>
            </a:r>
            <a:endParaRPr/>
          </a:p>
        </p:txBody>
      </p:sp>
      <p:sp>
        <p:nvSpPr>
          <p:cNvPr id="448" name="Google Shape;448;p38"/>
          <p:cNvSpPr txBox="1"/>
          <p:nvPr/>
        </p:nvSpPr>
        <p:spPr>
          <a:xfrm>
            <a:off x="548640" y="566928"/>
            <a:ext cx="96926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20124D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Training objective</a:t>
            </a:r>
            <a:endParaRPr/>
          </a:p>
        </p:txBody>
      </p:sp>
      <p:sp>
        <p:nvSpPr>
          <p:cNvPr id="449" name="Google Shape;449;p38"/>
          <p:cNvSpPr/>
          <p:nvPr/>
        </p:nvSpPr>
        <p:spPr>
          <a:xfrm>
            <a:off x="1097280" y="1234440"/>
            <a:ext cx="10652760" cy="1097280"/>
          </a:xfrm>
          <a:prstGeom prst="roundRect">
            <a:avLst>
              <a:gd fmla="val 13333" name="adj"/>
            </a:avLst>
          </a:prstGeom>
          <a:solidFill>
            <a:srgbClr val="F4F3FA"/>
          </a:solidFill>
          <a:ln>
            <a:noFill/>
          </a:ln>
        </p:spPr>
        <p:txBody>
          <a:bodyPr anchorCtr="0" anchor="ctr" bIns="73150" lIns="109725" spcFirstLastPara="1" rIns="109725" wrap="square" tIns="73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0" name="Google Shape;450;p38"/>
          <p:cNvSpPr/>
          <p:nvPr/>
        </p:nvSpPr>
        <p:spPr>
          <a:xfrm>
            <a:off x="1280160" y="1097280"/>
            <a:ext cx="1188720" cy="274320"/>
          </a:xfrm>
          <a:prstGeom prst="roundRect">
            <a:avLst>
              <a:gd fmla="val 50000" name="adj"/>
            </a:avLst>
          </a:prstGeom>
          <a:solidFill>
            <a:srgbClr val="159AAE"/>
          </a:solidFill>
          <a:ln>
            <a:noFill/>
          </a:ln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ELBO loss</a:t>
            </a:r>
            <a:endParaRPr/>
          </a:p>
        </p:txBody>
      </p:sp>
      <p:pic>
        <p:nvPicPr>
          <p:cNvPr id="451" name="Google Shape;451;p38" title="{&quot;red&quot;:7,&quot;green&quot;:55,&quot;blue&quot;:99,&quot;origURL&quot;:&quot;https://www.codecogs.com/eqnedit.php?latex=L%20%3D%20%5Cmathbb%7BE%7D_q%20%5Cbigg%5B%20%5Cunderbrace%7BD_%7B%5Ctext%7BKL%7D%7D(q(%5Cmathbf%7Bx%7D_T%7C%5Cmathbf%7Bx%7D_0)%20%5Cparallel%20p(%5Cmathbf%7Bx%7D_T))%7D_%7BL_T%7D%20%2B%20%5Csum_%7Bt%3E1%7D%20%5Cunderbrace%7BD_%7B%5Ctext%7BKL%7D%7D(q(%5Cmathbf%7Bx%7D_%7Bt-1%7D%7C%5Cmathbf%7Bx%7D_t%2C%20%5Cmathbf%7Bx%7D_0)%20%5Cparallel%20p_%5Ctheta(%5Cmathbf%7Bx%7D_%7Bt-1%7D%7C%5Cmathbf%7Bx%7D_t))%7D_%7BL_%7Bt-1%7D%7D%20%5Cunderbrace%7B-%5Clog%20p_%5Ctheta(%5Cmathbf%7Bx%7D_0%7C%5Cmathbf%7Bx%7D_1)%7D_%7BL_0%7D%20%5Cbigg%5D#0&quot;,&quot;size&quot;:14,&quot;width&quot;:236.2204724409449,&quot;height&quot;:246.16535433070865}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04392" y="1381317"/>
            <a:ext cx="10241280" cy="849247"/>
          </a:xfrm>
          <a:prstGeom prst="rect">
            <a:avLst/>
          </a:prstGeom>
          <a:noFill/>
          <a:ln>
            <a:noFill/>
          </a:ln>
        </p:spPr>
      </p:pic>
      <p:sp>
        <p:nvSpPr>
          <p:cNvPr id="452" name="Google Shape;452;p38"/>
          <p:cNvSpPr txBox="1"/>
          <p:nvPr/>
        </p:nvSpPr>
        <p:spPr>
          <a:xfrm>
            <a:off x="1325880" y="2514600"/>
            <a:ext cx="7315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159AA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FORWARD POSTERIOR — TRACTABLE</a:t>
            </a:r>
            <a:endParaRPr/>
          </a:p>
        </p:txBody>
      </p:sp>
      <p:pic>
        <p:nvPicPr>
          <p:cNvPr id="453" name="Google Shape;453;p38" title="{&quot;red&quot;:7,&quot;green&quot;:55,&quot;blue&quot;:99,&quot;origURL&quot;:&quot;https://saxarona.github.io/mathjax-viewer/?input=q(x_%7Bt-1%7D%20%5Cmid%20x_t%2C%20x_0)%20%3D%20%5Cmathcal%7BN%7D%5Cbigl(%5Ctilde%7B%5Cmu%7D_t(x_t%2C%20x_0)%2C%5C%3B%20%5Ctilde%7B%5Cbeta%7D_t%20I%5Cbigr)#0&quot;,&quot;size&quot;:14,&quot;width&quot;:236.2204724409449,&quot;height&quot;:70.53543307086615,&quot;slideId&quot;:&quot;g3f0e196629b_0_184&quot;,&quot;pageElementId&quot;:&quot;g3fa744eecfa_4_2&quot;,&quot;spaceCount&quot;:62,&quot;spaceStart&quot;:0}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25880" y="2816352"/>
            <a:ext cx="5475054" cy="50538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p39"/>
          <p:cNvSpPr txBox="1"/>
          <p:nvPr/>
        </p:nvSpPr>
        <p:spPr>
          <a:xfrm>
            <a:off x="566928" y="310896"/>
            <a:ext cx="8686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159AA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03 · TRAINING</a:t>
            </a:r>
            <a:endParaRPr/>
          </a:p>
        </p:txBody>
      </p:sp>
      <p:sp>
        <p:nvSpPr>
          <p:cNvPr id="459" name="Google Shape;459;p39"/>
          <p:cNvSpPr txBox="1"/>
          <p:nvPr/>
        </p:nvSpPr>
        <p:spPr>
          <a:xfrm>
            <a:off x="548640" y="566928"/>
            <a:ext cx="96926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20124D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Training objective</a:t>
            </a:r>
            <a:endParaRPr/>
          </a:p>
        </p:txBody>
      </p:sp>
      <p:sp>
        <p:nvSpPr>
          <p:cNvPr id="460" name="Google Shape;460;p39"/>
          <p:cNvSpPr/>
          <p:nvPr/>
        </p:nvSpPr>
        <p:spPr>
          <a:xfrm>
            <a:off x="1097280" y="1234440"/>
            <a:ext cx="10652760" cy="1097280"/>
          </a:xfrm>
          <a:prstGeom prst="roundRect">
            <a:avLst>
              <a:gd fmla="val 13333" name="adj"/>
            </a:avLst>
          </a:prstGeom>
          <a:solidFill>
            <a:srgbClr val="F4F3FA"/>
          </a:solidFill>
          <a:ln>
            <a:noFill/>
          </a:ln>
        </p:spPr>
        <p:txBody>
          <a:bodyPr anchorCtr="0" anchor="ctr" bIns="73150" lIns="109725" spcFirstLastPara="1" rIns="109725" wrap="square" tIns="73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1" name="Google Shape;461;p39"/>
          <p:cNvSpPr/>
          <p:nvPr/>
        </p:nvSpPr>
        <p:spPr>
          <a:xfrm>
            <a:off x="1280160" y="1097280"/>
            <a:ext cx="1188720" cy="274320"/>
          </a:xfrm>
          <a:prstGeom prst="roundRect">
            <a:avLst>
              <a:gd fmla="val 50000" name="adj"/>
            </a:avLst>
          </a:prstGeom>
          <a:solidFill>
            <a:srgbClr val="159AAE"/>
          </a:solidFill>
          <a:ln>
            <a:noFill/>
          </a:ln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ELBO loss</a:t>
            </a:r>
            <a:endParaRPr/>
          </a:p>
        </p:txBody>
      </p:sp>
      <p:pic>
        <p:nvPicPr>
          <p:cNvPr id="462" name="Google Shape;462;p39" title="{&quot;red&quot;:7,&quot;green&quot;:55,&quot;blue&quot;:99,&quot;origURL&quot;:&quot;https://www.codecogs.com/eqnedit.php?latex=L%20%3D%20%5Cmathbb%7BE%7D_q%20%5Cbigg%5B%20%5Cunderbrace%7BD_%7B%5Ctext%7BKL%7D%7D(q(%5Cmathbf%7Bx%7D_T%7C%5Cmathbf%7Bx%7D_0)%20%5Cparallel%20p(%5Cmathbf%7Bx%7D_T))%7D_%7BL_T%7D%20%2B%20%5Csum_%7Bt%3E1%7D%20%5Cunderbrace%7BD_%7B%5Ctext%7BKL%7D%7D(q(%5Cmathbf%7Bx%7D_%7Bt-1%7D%7C%5Cmathbf%7Bx%7D_t%2C%20%5Cmathbf%7Bx%7D_0)%20%5Cparallel%20p_%5Ctheta(%5Cmathbf%7Bx%7D_%7Bt-1%7D%7C%5Cmathbf%7Bx%7D_t))%7D_%7BL_%7Bt-1%7D%7D%20%5Cunderbrace%7B-%5Clog%20p_%5Ctheta(%5Cmathbf%7Bx%7D_0%7C%5Cmathbf%7Bx%7D_1)%7D_%7BL_0%7D%20%5Cbigg%5D#0&quot;,&quot;size&quot;:14,&quot;width&quot;:236.2204724409449,&quot;height&quot;:246.16535433070865}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04392" y="1381317"/>
            <a:ext cx="10241280" cy="849247"/>
          </a:xfrm>
          <a:prstGeom prst="rect">
            <a:avLst/>
          </a:prstGeom>
          <a:noFill/>
          <a:ln>
            <a:noFill/>
          </a:ln>
        </p:spPr>
      </p:pic>
      <p:sp>
        <p:nvSpPr>
          <p:cNvPr id="463" name="Google Shape;463;p39"/>
          <p:cNvSpPr txBox="1"/>
          <p:nvPr/>
        </p:nvSpPr>
        <p:spPr>
          <a:xfrm>
            <a:off x="1325880" y="2514600"/>
            <a:ext cx="7315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159AA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FORWARD POSTERIOR — TRACTABLE</a:t>
            </a:r>
            <a:endParaRPr/>
          </a:p>
        </p:txBody>
      </p:sp>
      <p:pic>
        <p:nvPicPr>
          <p:cNvPr id="464" name="Google Shape;464;p39" title="{&quot;red&quot;:7,&quot;green&quot;:55,&quot;blue&quot;:99,&quot;origURL&quot;:&quot;https://saxarona.github.io/mathjax-viewer/?input=q(x_%7Bt-1%7D%20%5Cmid%20x_t%2C%20x_0)%20%3D%20%5Cmathcal%7BN%7D%5Cbigl(%5Ctilde%7B%5Cmu%7D_t(x_t%2C%20x_0)%2C%5C%3B%20%5Ctilde%7B%5Cbeta%7D_t%20I%5Cbigr)#0&quot;,&quot;size&quot;:14,&quot;width&quot;:236.2204724409449,&quot;height&quot;:70.53543307086615,&quot;slideId&quot;:&quot;g3f0e196629b_0_184&quot;,&quot;pageElementId&quot;:&quot;g3fa744eecfa_4_2&quot;,&quot;spaceCount&quot;:62,&quot;spaceStart&quot;:0}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25880" y="2816352"/>
            <a:ext cx="5475054" cy="505385"/>
          </a:xfrm>
          <a:prstGeom prst="rect">
            <a:avLst/>
          </a:prstGeom>
          <a:noFill/>
          <a:ln>
            <a:noFill/>
          </a:ln>
        </p:spPr>
      </p:pic>
      <p:sp>
        <p:nvSpPr>
          <p:cNvPr id="465" name="Google Shape;465;p39"/>
          <p:cNvSpPr txBox="1"/>
          <p:nvPr/>
        </p:nvSpPr>
        <p:spPr>
          <a:xfrm>
            <a:off x="1325880" y="3504616"/>
            <a:ext cx="7315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5B3F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LEARNED REVERSE STEP</a:t>
            </a:r>
            <a:endParaRPr/>
          </a:p>
        </p:txBody>
      </p:sp>
      <p:sp>
        <p:nvSpPr>
          <p:cNvPr id="466" name="Google Shape;466;p39"/>
          <p:cNvSpPr/>
          <p:nvPr/>
        </p:nvSpPr>
        <p:spPr>
          <a:xfrm>
            <a:off x="1188720" y="3760648"/>
            <a:ext cx="6131700" cy="633400"/>
          </a:xfrm>
          <a:prstGeom prst="roundRect">
            <a:avLst>
              <a:gd fmla="val 23098" name="adj"/>
            </a:avLst>
          </a:prstGeom>
          <a:solidFill>
            <a:srgbClr val="F1EDFC"/>
          </a:solidFill>
          <a:ln cap="flat" cmpd="sng" w="12700">
            <a:solidFill>
              <a:srgbClr val="B9ABEC"/>
            </a:solidFill>
            <a:prstDash val="solid"/>
            <a:round/>
            <a:headEnd len="sm" w="sm" type="none"/>
            <a:tailEnd len="sm" w="sm" type="none"/>
          </a:ln>
          <a:effectLst>
            <a:outerShdw blurRad="228600" rotWithShape="0" algn="t" dir="5400000" dist="50800">
              <a:srgbClr val="20124D">
                <a:alpha val="12941"/>
              </a:srgbClr>
            </a:outerShdw>
          </a:effectLst>
        </p:spPr>
        <p:txBody>
          <a:bodyPr anchorCtr="0" anchor="ctr" bIns="73150" lIns="109725" spcFirstLastPara="1" rIns="109725" wrap="square" tIns="73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67" name="Google Shape;467;p39" title="{&quot;red&quot;:7,&quot;green&quot;:55,&quot;blue&quot;:99,&quot;origURL&quot;:&quot;https://saxarona.github.io/mathjax-viewer/?input=p_%5Ctheta(x_%7Bt-1%7D%20%5Cmid%20x_t)%20%3D%20%5Cmathcal%7BN%7D%5Cbigl(%5Cmu_%5Ctheta(x_t%2C%20t)%2C%5C%3B%20%5CSigma_%5Ctheta(x_t%2C%20t)%5Cbigr).#0&quot;,&quot;size&quot;:14,&quot;width&quot;:236.2204724409449,&quot;height&quot;:70.53543307086615,&quot;slideId&quot;:&quot;g3fa744eecfa_4_3&quot;,&quot;pageElementId&quot;:&quot;g3fa744eecfa_4_36&quot;,&quot;spaceCount&quot;:62,&quot;spaceStart&quot;:0}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325880" y="3806368"/>
            <a:ext cx="5811660" cy="50538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p40"/>
          <p:cNvSpPr txBox="1"/>
          <p:nvPr/>
        </p:nvSpPr>
        <p:spPr>
          <a:xfrm>
            <a:off x="566928" y="310896"/>
            <a:ext cx="8686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159AA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03 · TRAINING</a:t>
            </a:r>
            <a:endParaRPr/>
          </a:p>
        </p:txBody>
      </p:sp>
      <p:sp>
        <p:nvSpPr>
          <p:cNvPr id="473" name="Google Shape;473;p40"/>
          <p:cNvSpPr txBox="1"/>
          <p:nvPr/>
        </p:nvSpPr>
        <p:spPr>
          <a:xfrm>
            <a:off x="548640" y="566928"/>
            <a:ext cx="96926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20124D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Forward posterior via Bayes' rule</a:t>
            </a:r>
            <a:endParaRPr/>
          </a:p>
        </p:txBody>
      </p:sp>
      <p:sp>
        <p:nvSpPr>
          <p:cNvPr id="474" name="Google Shape;474;p40"/>
          <p:cNvSpPr txBox="1"/>
          <p:nvPr/>
        </p:nvSpPr>
        <p:spPr>
          <a:xfrm>
            <a:off x="1325880" y="1261872"/>
            <a:ext cx="103784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23213A"/>
                </a:solidFill>
                <a:latin typeface="Arial"/>
                <a:ea typeface="Arial"/>
                <a:cs typeface="Arial"/>
                <a:sym typeface="Arial"/>
              </a:rPr>
              <a:t>If x₀ is known, the reverse step is a Gaussian with a known mean and variance</a:t>
            </a:r>
            <a:endParaRPr/>
          </a:p>
        </p:txBody>
      </p:sp>
      <p:sp>
        <p:nvSpPr>
          <p:cNvPr id="475" name="Google Shape;475;p40"/>
          <p:cNvSpPr/>
          <p:nvPr/>
        </p:nvSpPr>
        <p:spPr>
          <a:xfrm>
            <a:off x="1325880" y="1783080"/>
            <a:ext cx="10378440" cy="1005840"/>
          </a:xfrm>
          <a:prstGeom prst="roundRect">
            <a:avLst>
              <a:gd fmla="val 14545" name="adj"/>
            </a:avLst>
          </a:prstGeom>
          <a:solidFill>
            <a:srgbClr val="F4F3FA"/>
          </a:solidFill>
          <a:ln>
            <a:noFill/>
          </a:ln>
        </p:spPr>
        <p:txBody>
          <a:bodyPr anchorCtr="0" anchor="ctr" bIns="73150" lIns="109725" spcFirstLastPara="1" rIns="109725" wrap="square" tIns="73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6" name="Google Shape;476;p40"/>
          <p:cNvSpPr/>
          <p:nvPr/>
        </p:nvSpPr>
        <p:spPr>
          <a:xfrm>
            <a:off x="1508760" y="1645920"/>
            <a:ext cx="1325880" cy="274320"/>
          </a:xfrm>
          <a:prstGeom prst="roundRect">
            <a:avLst>
              <a:gd fmla="val 50000" name="adj"/>
            </a:avLst>
          </a:prstGeom>
          <a:solidFill>
            <a:srgbClr val="159AAE"/>
          </a:solidFill>
          <a:ln>
            <a:noFill/>
          </a:ln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Bayes' rule</a:t>
            </a:r>
            <a:endParaRPr/>
          </a:p>
        </p:txBody>
      </p:sp>
      <p:pic>
        <p:nvPicPr>
          <p:cNvPr id="477" name="Google Shape;477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98036" y="1920240"/>
            <a:ext cx="4834128" cy="731520"/>
          </a:xfrm>
          <a:prstGeom prst="rect">
            <a:avLst/>
          </a:prstGeom>
          <a:noFill/>
          <a:ln>
            <a:noFill/>
          </a:ln>
        </p:spPr>
      </p:pic>
      <p:sp>
        <p:nvSpPr>
          <p:cNvPr id="478" name="Google Shape;478;p40"/>
          <p:cNvSpPr txBox="1"/>
          <p:nvPr/>
        </p:nvSpPr>
        <p:spPr>
          <a:xfrm>
            <a:off x="1325880" y="2926080"/>
            <a:ext cx="10378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159AA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ALL THREE TERMS ON THE RIGHT ARE KNOWN GAUSSIANS</a:t>
            </a:r>
            <a:endParaRPr/>
          </a:p>
        </p:txBody>
      </p:sp>
      <p:sp>
        <p:nvSpPr>
          <p:cNvPr id="479" name="Google Shape;479;p40"/>
          <p:cNvSpPr/>
          <p:nvPr/>
        </p:nvSpPr>
        <p:spPr>
          <a:xfrm>
            <a:off x="1325880" y="3246120"/>
            <a:ext cx="3015305" cy="914400"/>
          </a:xfrm>
          <a:prstGeom prst="roundRect">
            <a:avLst>
              <a:gd fmla="val 16000" name="adj"/>
            </a:avLst>
          </a:prstGeom>
          <a:solidFill>
            <a:srgbClr val="FFFFFF"/>
          </a:solidFill>
          <a:ln cap="flat" cmpd="sng" w="12700">
            <a:solidFill>
              <a:srgbClr val="E1DE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3150" lIns="109725" spcFirstLastPara="1" rIns="109725" wrap="square" tIns="73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0" name="Google Shape;480;p40"/>
          <p:cNvSpPr txBox="1"/>
          <p:nvPr/>
        </p:nvSpPr>
        <p:spPr>
          <a:xfrm>
            <a:off x="1463040" y="3291840"/>
            <a:ext cx="2740985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6B6F85"/>
                </a:solidFill>
                <a:latin typeface="Arial"/>
                <a:ea typeface="Arial"/>
                <a:cs typeface="Arial"/>
                <a:sym typeface="Arial"/>
              </a:rPr>
              <a:t>forward step</a:t>
            </a:r>
            <a:endParaRPr/>
          </a:p>
        </p:txBody>
      </p:sp>
      <p:pic>
        <p:nvPicPr>
          <p:cNvPr id="481" name="Google Shape;481;p4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463040" y="3680134"/>
            <a:ext cx="2740985" cy="274971"/>
          </a:xfrm>
          <a:prstGeom prst="rect">
            <a:avLst/>
          </a:prstGeom>
          <a:noFill/>
          <a:ln>
            <a:noFill/>
          </a:ln>
        </p:spPr>
      </p:pic>
      <p:sp>
        <p:nvSpPr>
          <p:cNvPr id="482" name="Google Shape;482;p40"/>
          <p:cNvSpPr/>
          <p:nvPr/>
        </p:nvSpPr>
        <p:spPr>
          <a:xfrm>
            <a:off x="4524065" y="3246120"/>
            <a:ext cx="3840219" cy="914400"/>
          </a:xfrm>
          <a:prstGeom prst="roundRect">
            <a:avLst>
              <a:gd fmla="val 16000" name="adj"/>
            </a:avLst>
          </a:prstGeom>
          <a:solidFill>
            <a:srgbClr val="FFFFFF"/>
          </a:solidFill>
          <a:ln cap="flat" cmpd="sng" w="12700">
            <a:solidFill>
              <a:srgbClr val="E1DE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3150" lIns="109725" spcFirstLastPara="1" rIns="109725" wrap="square" tIns="73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3" name="Google Shape;483;p40"/>
          <p:cNvSpPr txBox="1"/>
          <p:nvPr/>
        </p:nvSpPr>
        <p:spPr>
          <a:xfrm>
            <a:off x="4661225" y="3291840"/>
            <a:ext cx="3565899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6B6F85"/>
                </a:solidFill>
                <a:latin typeface="Arial"/>
                <a:ea typeface="Arial"/>
                <a:cs typeface="Arial"/>
                <a:sym typeface="Arial"/>
              </a:rPr>
              <a:t>marginal at t − 1</a:t>
            </a:r>
            <a:endParaRPr/>
          </a:p>
        </p:txBody>
      </p:sp>
      <p:pic>
        <p:nvPicPr>
          <p:cNvPr id="484" name="Google Shape;484;p4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661225" y="3663767"/>
            <a:ext cx="3565899" cy="307706"/>
          </a:xfrm>
          <a:prstGeom prst="rect">
            <a:avLst/>
          </a:prstGeom>
          <a:noFill/>
          <a:ln>
            <a:noFill/>
          </a:ln>
        </p:spPr>
      </p:pic>
      <p:sp>
        <p:nvSpPr>
          <p:cNvPr id="485" name="Google Shape;485;p40"/>
          <p:cNvSpPr/>
          <p:nvPr/>
        </p:nvSpPr>
        <p:spPr>
          <a:xfrm>
            <a:off x="8547165" y="3246120"/>
            <a:ext cx="3157155" cy="914400"/>
          </a:xfrm>
          <a:prstGeom prst="roundRect">
            <a:avLst>
              <a:gd fmla="val 16000" name="adj"/>
            </a:avLst>
          </a:prstGeom>
          <a:solidFill>
            <a:srgbClr val="FFFFFF"/>
          </a:solidFill>
          <a:ln cap="flat" cmpd="sng" w="12700">
            <a:solidFill>
              <a:srgbClr val="E1DE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3150" lIns="109725" spcFirstLastPara="1" rIns="109725" wrap="square" tIns="73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6" name="Google Shape;486;p40"/>
          <p:cNvSpPr txBox="1"/>
          <p:nvPr/>
        </p:nvSpPr>
        <p:spPr>
          <a:xfrm>
            <a:off x="8684325" y="3291840"/>
            <a:ext cx="2882835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6B6F85"/>
                </a:solidFill>
                <a:latin typeface="Arial"/>
                <a:ea typeface="Arial"/>
                <a:cs typeface="Arial"/>
                <a:sym typeface="Arial"/>
              </a:rPr>
              <a:t>marginal at t</a:t>
            </a:r>
            <a:endParaRPr/>
          </a:p>
        </p:txBody>
      </p:sp>
      <p:pic>
        <p:nvPicPr>
          <p:cNvPr id="487" name="Google Shape;487;p4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684325" y="3663767"/>
            <a:ext cx="2882835" cy="307706"/>
          </a:xfrm>
          <a:prstGeom prst="rect">
            <a:avLst/>
          </a:prstGeom>
          <a:noFill/>
          <a:ln>
            <a:noFill/>
          </a:ln>
        </p:spPr>
      </p:pic>
      <p:sp>
        <p:nvSpPr>
          <p:cNvPr id="488" name="Google Shape;488;p40"/>
          <p:cNvSpPr/>
          <p:nvPr/>
        </p:nvSpPr>
        <p:spPr>
          <a:xfrm>
            <a:off x="1325880" y="4343400"/>
            <a:ext cx="10378440" cy="1965960"/>
          </a:xfrm>
          <a:prstGeom prst="roundRect">
            <a:avLst>
              <a:gd fmla="val 7442" name="adj"/>
            </a:avLst>
          </a:prstGeom>
          <a:solidFill>
            <a:srgbClr val="EFEBFB"/>
          </a:solidFill>
          <a:ln cap="flat" cmpd="sng" w="12700">
            <a:solidFill>
              <a:srgbClr val="B9ABEC"/>
            </a:solidFill>
            <a:prstDash val="solid"/>
            <a:round/>
            <a:headEnd len="sm" w="sm" type="none"/>
            <a:tailEnd len="sm" w="sm" type="none"/>
          </a:ln>
          <a:effectLst>
            <a:outerShdw blurRad="228600" rotWithShape="0" algn="t" dir="5400000" dist="50800">
              <a:srgbClr val="20124D">
                <a:alpha val="12941"/>
              </a:srgbClr>
            </a:outerShdw>
          </a:effectLst>
        </p:spPr>
        <p:txBody>
          <a:bodyPr anchorCtr="0" anchor="ctr" bIns="73150" lIns="109725" spcFirstLastPara="1" rIns="109725" wrap="square" tIns="73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9" name="Google Shape;489;p40"/>
          <p:cNvSpPr txBox="1"/>
          <p:nvPr/>
        </p:nvSpPr>
        <p:spPr>
          <a:xfrm>
            <a:off x="1600200" y="4526280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5B3F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RESULT</a:t>
            </a:r>
            <a:endParaRPr/>
          </a:p>
        </p:txBody>
      </p:sp>
      <p:sp>
        <p:nvSpPr>
          <p:cNvPr id="490" name="Google Shape;490;p40"/>
          <p:cNvSpPr txBox="1"/>
          <p:nvPr/>
        </p:nvSpPr>
        <p:spPr>
          <a:xfrm>
            <a:off x="1600200" y="4892040"/>
            <a:ext cx="274320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23213A"/>
                </a:solidFill>
                <a:latin typeface="Arial"/>
                <a:ea typeface="Arial"/>
                <a:cs typeface="Arial"/>
                <a:sym typeface="Arial"/>
              </a:rPr>
              <a:t>Product of Gaussians is Gaussian: mean and variance in closed form</a:t>
            </a:r>
            <a:endParaRPr/>
          </a:p>
        </p:txBody>
      </p:sp>
      <p:pic>
        <p:nvPicPr>
          <p:cNvPr id="491" name="Google Shape;491;p4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572000" y="4453128"/>
            <a:ext cx="4236720" cy="420624"/>
          </a:xfrm>
          <a:prstGeom prst="rect">
            <a:avLst/>
          </a:prstGeom>
          <a:noFill/>
          <a:ln>
            <a:noFill/>
          </a:ln>
        </p:spPr>
      </p:pic>
      <p:pic>
        <p:nvPicPr>
          <p:cNvPr id="492" name="Google Shape;492;p4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572000" y="4910328"/>
            <a:ext cx="5522674" cy="731520"/>
          </a:xfrm>
          <a:prstGeom prst="rect">
            <a:avLst/>
          </a:prstGeom>
          <a:noFill/>
          <a:ln>
            <a:noFill/>
          </a:ln>
        </p:spPr>
      </p:pic>
      <p:pic>
        <p:nvPicPr>
          <p:cNvPr id="493" name="Google Shape;493;p40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572000" y="5650992"/>
            <a:ext cx="1936101" cy="62179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7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p41"/>
          <p:cNvSpPr txBox="1"/>
          <p:nvPr/>
        </p:nvSpPr>
        <p:spPr>
          <a:xfrm>
            <a:off x="566928" y="310896"/>
            <a:ext cx="8686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159AA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03 · TRAINING</a:t>
            </a:r>
            <a:endParaRPr/>
          </a:p>
        </p:txBody>
      </p:sp>
      <p:sp>
        <p:nvSpPr>
          <p:cNvPr id="499" name="Google Shape;499;p41"/>
          <p:cNvSpPr txBox="1"/>
          <p:nvPr/>
        </p:nvSpPr>
        <p:spPr>
          <a:xfrm>
            <a:off x="548640" y="566928"/>
            <a:ext cx="96926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20124D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Forward posterior via Bayes' rule</a:t>
            </a:r>
            <a:endParaRPr/>
          </a:p>
        </p:txBody>
      </p:sp>
      <p:sp>
        <p:nvSpPr>
          <p:cNvPr id="500" name="Google Shape;500;p41"/>
          <p:cNvSpPr txBox="1"/>
          <p:nvPr/>
        </p:nvSpPr>
        <p:spPr>
          <a:xfrm>
            <a:off x="1325880" y="1261872"/>
            <a:ext cx="103784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23213A"/>
                </a:solidFill>
                <a:latin typeface="Arial"/>
                <a:ea typeface="Arial"/>
                <a:cs typeface="Arial"/>
                <a:sym typeface="Arial"/>
              </a:rPr>
              <a:t>If x₀ is known, the reverse step is a Gaussian with a known mean and variance</a:t>
            </a:r>
            <a:endParaRPr/>
          </a:p>
        </p:txBody>
      </p:sp>
      <p:sp>
        <p:nvSpPr>
          <p:cNvPr id="501" name="Google Shape;501;p41"/>
          <p:cNvSpPr/>
          <p:nvPr/>
        </p:nvSpPr>
        <p:spPr>
          <a:xfrm>
            <a:off x="1325880" y="1783080"/>
            <a:ext cx="10378440" cy="1005840"/>
          </a:xfrm>
          <a:prstGeom prst="roundRect">
            <a:avLst>
              <a:gd fmla="val 14545" name="adj"/>
            </a:avLst>
          </a:prstGeom>
          <a:solidFill>
            <a:srgbClr val="F4F3FA"/>
          </a:solidFill>
          <a:ln>
            <a:noFill/>
          </a:ln>
        </p:spPr>
        <p:txBody>
          <a:bodyPr anchorCtr="0" anchor="ctr" bIns="73150" lIns="109725" spcFirstLastPara="1" rIns="109725" wrap="square" tIns="73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2" name="Google Shape;502;p41"/>
          <p:cNvSpPr/>
          <p:nvPr/>
        </p:nvSpPr>
        <p:spPr>
          <a:xfrm>
            <a:off x="1508760" y="1645920"/>
            <a:ext cx="1325880" cy="274320"/>
          </a:xfrm>
          <a:prstGeom prst="roundRect">
            <a:avLst>
              <a:gd fmla="val 50000" name="adj"/>
            </a:avLst>
          </a:prstGeom>
          <a:solidFill>
            <a:srgbClr val="159AAE"/>
          </a:solidFill>
          <a:ln>
            <a:noFill/>
          </a:ln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Bayes' rule</a:t>
            </a:r>
            <a:endParaRPr/>
          </a:p>
        </p:txBody>
      </p:sp>
      <p:pic>
        <p:nvPicPr>
          <p:cNvPr id="503" name="Google Shape;503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98036" y="1920240"/>
            <a:ext cx="4834128" cy="731520"/>
          </a:xfrm>
          <a:prstGeom prst="rect">
            <a:avLst/>
          </a:prstGeom>
          <a:noFill/>
          <a:ln>
            <a:noFill/>
          </a:ln>
        </p:spPr>
      </p:pic>
      <p:sp>
        <p:nvSpPr>
          <p:cNvPr id="504" name="Google Shape;504;p41"/>
          <p:cNvSpPr txBox="1"/>
          <p:nvPr/>
        </p:nvSpPr>
        <p:spPr>
          <a:xfrm>
            <a:off x="1325880" y="2926080"/>
            <a:ext cx="10378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159AA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ALL THREE TERMS ON THE RIGHT ARE KNOWN GAUSSIANS</a:t>
            </a:r>
            <a:endParaRPr/>
          </a:p>
        </p:txBody>
      </p:sp>
      <p:sp>
        <p:nvSpPr>
          <p:cNvPr id="505" name="Google Shape;505;p41"/>
          <p:cNvSpPr/>
          <p:nvPr/>
        </p:nvSpPr>
        <p:spPr>
          <a:xfrm>
            <a:off x="1325880" y="3246120"/>
            <a:ext cx="3015305" cy="914400"/>
          </a:xfrm>
          <a:prstGeom prst="roundRect">
            <a:avLst>
              <a:gd fmla="val 16000" name="adj"/>
            </a:avLst>
          </a:prstGeom>
          <a:solidFill>
            <a:srgbClr val="FFFFFF"/>
          </a:solidFill>
          <a:ln cap="flat" cmpd="sng" w="12700">
            <a:solidFill>
              <a:srgbClr val="E1DE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3150" lIns="109725" spcFirstLastPara="1" rIns="109725" wrap="square" tIns="73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6" name="Google Shape;506;p41"/>
          <p:cNvSpPr txBox="1"/>
          <p:nvPr/>
        </p:nvSpPr>
        <p:spPr>
          <a:xfrm>
            <a:off x="1463040" y="3291840"/>
            <a:ext cx="2740985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6B6F85"/>
                </a:solidFill>
                <a:latin typeface="Arial"/>
                <a:ea typeface="Arial"/>
                <a:cs typeface="Arial"/>
                <a:sym typeface="Arial"/>
              </a:rPr>
              <a:t>forward step</a:t>
            </a:r>
            <a:endParaRPr/>
          </a:p>
        </p:txBody>
      </p:sp>
      <p:pic>
        <p:nvPicPr>
          <p:cNvPr id="507" name="Google Shape;507;p4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463040" y="3680134"/>
            <a:ext cx="2740985" cy="274971"/>
          </a:xfrm>
          <a:prstGeom prst="rect">
            <a:avLst/>
          </a:prstGeom>
          <a:noFill/>
          <a:ln>
            <a:noFill/>
          </a:ln>
        </p:spPr>
      </p:pic>
      <p:sp>
        <p:nvSpPr>
          <p:cNvPr id="508" name="Google Shape;508;p41"/>
          <p:cNvSpPr/>
          <p:nvPr/>
        </p:nvSpPr>
        <p:spPr>
          <a:xfrm>
            <a:off x="4524065" y="3246120"/>
            <a:ext cx="3840219" cy="914400"/>
          </a:xfrm>
          <a:prstGeom prst="roundRect">
            <a:avLst>
              <a:gd fmla="val 16000" name="adj"/>
            </a:avLst>
          </a:prstGeom>
          <a:solidFill>
            <a:srgbClr val="FFFFFF"/>
          </a:solidFill>
          <a:ln cap="flat" cmpd="sng" w="12700">
            <a:solidFill>
              <a:srgbClr val="E1DE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3150" lIns="109725" spcFirstLastPara="1" rIns="109725" wrap="square" tIns="73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9" name="Google Shape;509;p41"/>
          <p:cNvSpPr txBox="1"/>
          <p:nvPr/>
        </p:nvSpPr>
        <p:spPr>
          <a:xfrm>
            <a:off x="4661225" y="3291840"/>
            <a:ext cx="3565899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6B6F85"/>
                </a:solidFill>
                <a:latin typeface="Arial"/>
                <a:ea typeface="Arial"/>
                <a:cs typeface="Arial"/>
                <a:sym typeface="Arial"/>
              </a:rPr>
              <a:t>marginal at t − 1</a:t>
            </a:r>
            <a:endParaRPr/>
          </a:p>
        </p:txBody>
      </p:sp>
      <p:pic>
        <p:nvPicPr>
          <p:cNvPr id="510" name="Google Shape;510;p4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661225" y="3663767"/>
            <a:ext cx="3565899" cy="307706"/>
          </a:xfrm>
          <a:prstGeom prst="rect">
            <a:avLst/>
          </a:prstGeom>
          <a:noFill/>
          <a:ln>
            <a:noFill/>
          </a:ln>
        </p:spPr>
      </p:pic>
      <p:sp>
        <p:nvSpPr>
          <p:cNvPr id="511" name="Google Shape;511;p41"/>
          <p:cNvSpPr/>
          <p:nvPr/>
        </p:nvSpPr>
        <p:spPr>
          <a:xfrm>
            <a:off x="8547165" y="3246120"/>
            <a:ext cx="3157155" cy="914400"/>
          </a:xfrm>
          <a:prstGeom prst="roundRect">
            <a:avLst>
              <a:gd fmla="val 16000" name="adj"/>
            </a:avLst>
          </a:prstGeom>
          <a:solidFill>
            <a:srgbClr val="FFFFFF"/>
          </a:solidFill>
          <a:ln cap="flat" cmpd="sng" w="12700">
            <a:solidFill>
              <a:srgbClr val="E1DE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3150" lIns="109725" spcFirstLastPara="1" rIns="109725" wrap="square" tIns="73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2" name="Google Shape;512;p41"/>
          <p:cNvSpPr txBox="1"/>
          <p:nvPr/>
        </p:nvSpPr>
        <p:spPr>
          <a:xfrm>
            <a:off x="8684325" y="3291840"/>
            <a:ext cx="2882835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6B6F85"/>
                </a:solidFill>
                <a:latin typeface="Arial"/>
                <a:ea typeface="Arial"/>
                <a:cs typeface="Arial"/>
                <a:sym typeface="Arial"/>
              </a:rPr>
              <a:t>marginal at t</a:t>
            </a:r>
            <a:endParaRPr/>
          </a:p>
        </p:txBody>
      </p:sp>
      <p:pic>
        <p:nvPicPr>
          <p:cNvPr id="513" name="Google Shape;513;p4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684325" y="3663767"/>
            <a:ext cx="2882835" cy="307706"/>
          </a:xfrm>
          <a:prstGeom prst="rect">
            <a:avLst/>
          </a:prstGeom>
          <a:noFill/>
          <a:ln>
            <a:noFill/>
          </a:ln>
        </p:spPr>
      </p:pic>
      <p:sp>
        <p:nvSpPr>
          <p:cNvPr id="514" name="Google Shape;514;p41"/>
          <p:cNvSpPr/>
          <p:nvPr/>
        </p:nvSpPr>
        <p:spPr>
          <a:xfrm>
            <a:off x="1325880" y="4343400"/>
            <a:ext cx="10378440" cy="1965960"/>
          </a:xfrm>
          <a:prstGeom prst="roundRect">
            <a:avLst>
              <a:gd fmla="val 7442" name="adj"/>
            </a:avLst>
          </a:prstGeom>
          <a:solidFill>
            <a:srgbClr val="EFEBFB"/>
          </a:solidFill>
          <a:ln cap="flat" cmpd="sng" w="12700">
            <a:solidFill>
              <a:srgbClr val="B9ABEC"/>
            </a:solidFill>
            <a:prstDash val="solid"/>
            <a:round/>
            <a:headEnd len="sm" w="sm" type="none"/>
            <a:tailEnd len="sm" w="sm" type="none"/>
          </a:ln>
          <a:effectLst>
            <a:outerShdw blurRad="228600" rotWithShape="0" algn="t" dir="5400000" dist="50800">
              <a:srgbClr val="20124D">
                <a:alpha val="12941"/>
              </a:srgbClr>
            </a:outerShdw>
          </a:effectLst>
        </p:spPr>
        <p:txBody>
          <a:bodyPr anchorCtr="0" anchor="ctr" bIns="73150" lIns="109725" spcFirstLastPara="1" rIns="109725" wrap="square" tIns="73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5" name="Google Shape;515;p41"/>
          <p:cNvSpPr txBox="1"/>
          <p:nvPr/>
        </p:nvSpPr>
        <p:spPr>
          <a:xfrm>
            <a:off x="1600200" y="4526280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5B3F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RESULT</a:t>
            </a:r>
            <a:endParaRPr/>
          </a:p>
        </p:txBody>
      </p:sp>
      <p:sp>
        <p:nvSpPr>
          <p:cNvPr id="516" name="Google Shape;516;p41"/>
          <p:cNvSpPr txBox="1"/>
          <p:nvPr/>
        </p:nvSpPr>
        <p:spPr>
          <a:xfrm>
            <a:off x="1600200" y="4892040"/>
            <a:ext cx="274320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23213A"/>
                </a:solidFill>
                <a:latin typeface="Arial"/>
                <a:ea typeface="Arial"/>
                <a:cs typeface="Arial"/>
                <a:sym typeface="Arial"/>
              </a:rPr>
              <a:t>Product of Gaussians is Gaussian: mean and variance in closed form</a:t>
            </a:r>
            <a:endParaRPr/>
          </a:p>
        </p:txBody>
      </p:sp>
      <p:pic>
        <p:nvPicPr>
          <p:cNvPr id="517" name="Google Shape;517;p4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572000" y="4453128"/>
            <a:ext cx="4236720" cy="420624"/>
          </a:xfrm>
          <a:prstGeom prst="rect">
            <a:avLst/>
          </a:prstGeom>
          <a:noFill/>
          <a:ln>
            <a:noFill/>
          </a:ln>
        </p:spPr>
      </p:pic>
      <p:pic>
        <p:nvPicPr>
          <p:cNvPr id="518" name="Google Shape;518;p4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572000" y="4910328"/>
            <a:ext cx="5522674" cy="731520"/>
          </a:xfrm>
          <a:prstGeom prst="rect">
            <a:avLst/>
          </a:prstGeom>
          <a:noFill/>
          <a:ln>
            <a:noFill/>
          </a:ln>
        </p:spPr>
      </p:pic>
      <p:pic>
        <p:nvPicPr>
          <p:cNvPr id="519" name="Google Shape;519;p41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572000" y="5650992"/>
            <a:ext cx="1936101" cy="62179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3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p42"/>
          <p:cNvSpPr txBox="1"/>
          <p:nvPr/>
        </p:nvSpPr>
        <p:spPr>
          <a:xfrm>
            <a:off x="566928" y="310896"/>
            <a:ext cx="8686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159AA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03 · TRAINING</a:t>
            </a:r>
            <a:endParaRPr/>
          </a:p>
        </p:txBody>
      </p:sp>
      <p:sp>
        <p:nvSpPr>
          <p:cNvPr id="525" name="Google Shape;525;p42"/>
          <p:cNvSpPr txBox="1"/>
          <p:nvPr/>
        </p:nvSpPr>
        <p:spPr>
          <a:xfrm>
            <a:off x="548640" y="566928"/>
            <a:ext cx="96926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20124D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Training objective</a:t>
            </a:r>
            <a:endParaRPr/>
          </a:p>
        </p:txBody>
      </p:sp>
      <p:sp>
        <p:nvSpPr>
          <p:cNvPr id="526" name="Google Shape;526;p42"/>
          <p:cNvSpPr/>
          <p:nvPr/>
        </p:nvSpPr>
        <p:spPr>
          <a:xfrm>
            <a:off x="1097280" y="1234440"/>
            <a:ext cx="10652760" cy="1097280"/>
          </a:xfrm>
          <a:prstGeom prst="roundRect">
            <a:avLst>
              <a:gd fmla="val 13333" name="adj"/>
            </a:avLst>
          </a:prstGeom>
          <a:solidFill>
            <a:srgbClr val="F4F3FA"/>
          </a:solidFill>
          <a:ln>
            <a:noFill/>
          </a:ln>
        </p:spPr>
        <p:txBody>
          <a:bodyPr anchorCtr="0" anchor="ctr" bIns="73150" lIns="109725" spcFirstLastPara="1" rIns="109725" wrap="square" tIns="73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7" name="Google Shape;527;p42"/>
          <p:cNvSpPr/>
          <p:nvPr/>
        </p:nvSpPr>
        <p:spPr>
          <a:xfrm>
            <a:off x="1280160" y="1097280"/>
            <a:ext cx="1188720" cy="274320"/>
          </a:xfrm>
          <a:prstGeom prst="roundRect">
            <a:avLst>
              <a:gd fmla="val 50000" name="adj"/>
            </a:avLst>
          </a:prstGeom>
          <a:solidFill>
            <a:srgbClr val="159AAE"/>
          </a:solidFill>
          <a:ln>
            <a:noFill/>
          </a:ln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ELBO loss</a:t>
            </a:r>
            <a:endParaRPr/>
          </a:p>
        </p:txBody>
      </p:sp>
      <p:pic>
        <p:nvPicPr>
          <p:cNvPr id="528" name="Google Shape;528;p42" title="{&quot;red&quot;:7,&quot;green&quot;:55,&quot;blue&quot;:99,&quot;origURL&quot;:&quot;https://www.codecogs.com/eqnedit.php?latex=L%20%3D%20%5Cmathbb%7BE%7D_q%20%5Cbigg%5B%20%5Cunderbrace%7BD_%7B%5Ctext%7BKL%7D%7D(q(%5Cmathbf%7Bx%7D_T%7C%5Cmathbf%7Bx%7D_0)%20%5Cparallel%20p(%5Cmathbf%7Bx%7D_T))%7D_%7BL_T%7D%20%2B%20%5Csum_%7Bt%3E1%7D%20%5Cunderbrace%7BD_%7B%5Ctext%7BKL%7D%7D(q(%5Cmathbf%7Bx%7D_%7Bt-1%7D%7C%5Cmathbf%7Bx%7D_t%2C%20%5Cmathbf%7Bx%7D_0)%20%5Cparallel%20p_%5Ctheta(%5Cmathbf%7Bx%7D_%7Bt-1%7D%7C%5Cmathbf%7Bx%7D_t))%7D_%7BL_%7Bt-1%7D%7D%20%5Cunderbrace%7B-%5Clog%20p_%5Ctheta(%5Cmathbf%7Bx%7D_0%7C%5Cmathbf%7Bx%7D_1)%7D_%7BL_0%7D%20%5Cbigg%5D#0&quot;,&quot;size&quot;:14,&quot;width&quot;:236.2204724409449,&quot;height&quot;:246.16535433070865}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04392" y="1381317"/>
            <a:ext cx="10241280" cy="849247"/>
          </a:xfrm>
          <a:prstGeom prst="rect">
            <a:avLst/>
          </a:prstGeom>
          <a:noFill/>
          <a:ln>
            <a:noFill/>
          </a:ln>
        </p:spPr>
      </p:pic>
      <p:sp>
        <p:nvSpPr>
          <p:cNvPr id="529" name="Google Shape;529;p42"/>
          <p:cNvSpPr txBox="1"/>
          <p:nvPr/>
        </p:nvSpPr>
        <p:spPr>
          <a:xfrm>
            <a:off x="1325880" y="2514600"/>
            <a:ext cx="7315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159AA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FORWARD POSTERIOR — TRACTABLE</a:t>
            </a:r>
            <a:endParaRPr/>
          </a:p>
        </p:txBody>
      </p:sp>
      <p:pic>
        <p:nvPicPr>
          <p:cNvPr id="530" name="Google Shape;530;p42" title="{&quot;red&quot;:7,&quot;green&quot;:55,&quot;blue&quot;:99,&quot;origURL&quot;:&quot;https://saxarona.github.io/mathjax-viewer/?input=q(x_%7Bt-1%7D%20%5Cmid%20x_t%2C%20x_0)%20%3D%20%5Cmathcal%7BN%7D%5Cbigl(%5Ctilde%7B%5Cmu%7D_t(x_t%2C%20x_0)%2C%5C%3B%20%5Ctilde%7B%5Cbeta%7D_t%20I%5Cbigr)#0&quot;,&quot;size&quot;:14,&quot;width&quot;:236.2204724409449,&quot;height&quot;:70.53543307086615,&quot;slideId&quot;:&quot;g3f0e196629b_0_184&quot;,&quot;pageElementId&quot;:&quot;g3fa744eecfa_4_2&quot;,&quot;spaceCount&quot;:62,&quot;spaceStart&quot;:0}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25880" y="2816352"/>
            <a:ext cx="5475054" cy="505385"/>
          </a:xfrm>
          <a:prstGeom prst="rect">
            <a:avLst/>
          </a:prstGeom>
          <a:noFill/>
          <a:ln>
            <a:noFill/>
          </a:ln>
        </p:spPr>
      </p:pic>
      <p:sp>
        <p:nvSpPr>
          <p:cNvPr id="531" name="Google Shape;531;p42"/>
          <p:cNvSpPr txBox="1"/>
          <p:nvPr/>
        </p:nvSpPr>
        <p:spPr>
          <a:xfrm>
            <a:off x="1325880" y="3504616"/>
            <a:ext cx="7315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159AA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LEARNED REVERSE STEP</a:t>
            </a:r>
            <a:endParaRPr/>
          </a:p>
        </p:txBody>
      </p:sp>
      <p:pic>
        <p:nvPicPr>
          <p:cNvPr id="532" name="Google Shape;532;p42" title="{&quot;red&quot;:7,&quot;green&quot;:55,&quot;blue&quot;:99,&quot;origURL&quot;:&quot;https://saxarona.github.io/mathjax-viewer/?input=p_%5Ctheta(x_%7Bt-1%7D%20%5Cmid%20x_t)%20%3D%20%5Cmathcal%7BN%7D%5Cbigl(%5Cmu_%5Ctheta(x_t%2C%20t)%2C%5C%3B%20%5CSigma_%5Ctheta(x_t%2C%20t)%5Cbigr).#0&quot;,&quot;size&quot;:14,&quot;width&quot;:236.2204724409449,&quot;height&quot;:70.53543307086615,&quot;slideId&quot;:&quot;g3fa744eecfa_4_3&quot;,&quot;pageElementId&quot;:&quot;g3fa744eecfa_4_36&quot;,&quot;spaceCount&quot;:62,&quot;spaceStart&quot;:0}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325880" y="3806368"/>
            <a:ext cx="5811660" cy="50538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6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p43"/>
          <p:cNvSpPr txBox="1"/>
          <p:nvPr/>
        </p:nvSpPr>
        <p:spPr>
          <a:xfrm>
            <a:off x="566928" y="310896"/>
            <a:ext cx="8686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159AA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03 · TRAINING</a:t>
            </a:r>
            <a:endParaRPr/>
          </a:p>
        </p:txBody>
      </p:sp>
      <p:sp>
        <p:nvSpPr>
          <p:cNvPr id="538" name="Google Shape;538;p43"/>
          <p:cNvSpPr txBox="1"/>
          <p:nvPr/>
        </p:nvSpPr>
        <p:spPr>
          <a:xfrm>
            <a:off x="548640" y="566928"/>
            <a:ext cx="96926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20124D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Training objective</a:t>
            </a:r>
            <a:endParaRPr/>
          </a:p>
        </p:txBody>
      </p:sp>
      <p:sp>
        <p:nvSpPr>
          <p:cNvPr id="539" name="Google Shape;539;p43"/>
          <p:cNvSpPr/>
          <p:nvPr/>
        </p:nvSpPr>
        <p:spPr>
          <a:xfrm>
            <a:off x="1097280" y="1234440"/>
            <a:ext cx="10652760" cy="1097280"/>
          </a:xfrm>
          <a:prstGeom prst="roundRect">
            <a:avLst>
              <a:gd fmla="val 13333" name="adj"/>
            </a:avLst>
          </a:prstGeom>
          <a:solidFill>
            <a:srgbClr val="F4F3FA"/>
          </a:solidFill>
          <a:ln>
            <a:noFill/>
          </a:ln>
        </p:spPr>
        <p:txBody>
          <a:bodyPr anchorCtr="0" anchor="ctr" bIns="73150" lIns="109725" spcFirstLastPara="1" rIns="109725" wrap="square" tIns="73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0" name="Google Shape;540;p43"/>
          <p:cNvSpPr/>
          <p:nvPr/>
        </p:nvSpPr>
        <p:spPr>
          <a:xfrm>
            <a:off x="1280160" y="1097280"/>
            <a:ext cx="1188720" cy="274320"/>
          </a:xfrm>
          <a:prstGeom prst="roundRect">
            <a:avLst>
              <a:gd fmla="val 50000" name="adj"/>
            </a:avLst>
          </a:prstGeom>
          <a:solidFill>
            <a:srgbClr val="159AAE"/>
          </a:solidFill>
          <a:ln>
            <a:noFill/>
          </a:ln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ELBO loss</a:t>
            </a:r>
            <a:endParaRPr/>
          </a:p>
        </p:txBody>
      </p:sp>
      <p:pic>
        <p:nvPicPr>
          <p:cNvPr id="541" name="Google Shape;541;p43" title="{&quot;red&quot;:7,&quot;green&quot;:55,&quot;blue&quot;:99,&quot;origURL&quot;:&quot;https://www.codecogs.com/eqnedit.php?latex=L%20%3D%20%5Cmathbb%7BE%7D_q%20%5Cbigg%5B%20%5Cunderbrace%7BD_%7B%5Ctext%7BKL%7D%7D(q(%5Cmathbf%7Bx%7D_T%7C%5Cmathbf%7Bx%7D_0)%20%5Cparallel%20p(%5Cmathbf%7Bx%7D_T))%7D_%7BL_T%7D%20%2B%20%5Csum_%7Bt%3E1%7D%20%5Cunderbrace%7BD_%7B%5Ctext%7BKL%7D%7D(q(%5Cmathbf%7Bx%7D_%7Bt-1%7D%7C%5Cmathbf%7Bx%7D_t%2C%20%5Cmathbf%7Bx%7D_0)%20%5Cparallel%20p_%5Ctheta(%5Cmathbf%7Bx%7D_%7Bt-1%7D%7C%5Cmathbf%7Bx%7D_t))%7D_%7BL_%7Bt-1%7D%7D%20%5Cunderbrace%7B-%5Clog%20p_%5Ctheta(%5Cmathbf%7Bx%7D_0%7C%5Cmathbf%7Bx%7D_1)%7D_%7BL_0%7D%20%5Cbigg%5D#0&quot;,&quot;size&quot;:14,&quot;width&quot;:236.2204724409449,&quot;height&quot;:246.16535433070865}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04392" y="1381317"/>
            <a:ext cx="10241280" cy="849247"/>
          </a:xfrm>
          <a:prstGeom prst="rect">
            <a:avLst/>
          </a:prstGeom>
          <a:noFill/>
          <a:ln>
            <a:noFill/>
          </a:ln>
        </p:spPr>
      </p:pic>
      <p:sp>
        <p:nvSpPr>
          <p:cNvPr id="542" name="Google Shape;542;p43"/>
          <p:cNvSpPr txBox="1"/>
          <p:nvPr/>
        </p:nvSpPr>
        <p:spPr>
          <a:xfrm>
            <a:off x="1325880" y="2514600"/>
            <a:ext cx="7315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159AA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FORWARD POSTERIOR — TRACTABLE</a:t>
            </a:r>
            <a:endParaRPr/>
          </a:p>
        </p:txBody>
      </p:sp>
      <p:pic>
        <p:nvPicPr>
          <p:cNvPr id="543" name="Google Shape;543;p43" title="{&quot;red&quot;:7,&quot;green&quot;:55,&quot;blue&quot;:99,&quot;origURL&quot;:&quot;https://saxarona.github.io/mathjax-viewer/?input=q(x_%7Bt-1%7D%20%5Cmid%20x_t%2C%20x_0)%20%3D%20%5Cmathcal%7BN%7D%5Cbigl(%5Ctilde%7B%5Cmu%7D_t(x_t%2C%20x_0)%2C%5C%3B%20%5Ctilde%7B%5Cbeta%7D_t%20I%5Cbigr)#0&quot;,&quot;size&quot;:14,&quot;width&quot;:236.2204724409449,&quot;height&quot;:70.53543307086615,&quot;slideId&quot;:&quot;g3f0e196629b_0_184&quot;,&quot;pageElementId&quot;:&quot;g3fa744eecfa_4_2&quot;,&quot;spaceCount&quot;:62,&quot;spaceStart&quot;:0}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25880" y="2816352"/>
            <a:ext cx="5475054" cy="505385"/>
          </a:xfrm>
          <a:prstGeom prst="rect">
            <a:avLst/>
          </a:prstGeom>
          <a:noFill/>
          <a:ln>
            <a:noFill/>
          </a:ln>
        </p:spPr>
      </p:pic>
      <p:sp>
        <p:nvSpPr>
          <p:cNvPr id="544" name="Google Shape;544;p43"/>
          <p:cNvSpPr txBox="1"/>
          <p:nvPr/>
        </p:nvSpPr>
        <p:spPr>
          <a:xfrm>
            <a:off x="1325880" y="3504616"/>
            <a:ext cx="7315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159AA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LEARNED REVERSE STEP</a:t>
            </a:r>
            <a:endParaRPr/>
          </a:p>
        </p:txBody>
      </p:sp>
      <p:pic>
        <p:nvPicPr>
          <p:cNvPr id="545" name="Google Shape;545;p43" title="{&quot;red&quot;:7,&quot;green&quot;:55,&quot;blue&quot;:99,&quot;origURL&quot;:&quot;https://saxarona.github.io/mathjax-viewer/?input=p_%5Ctheta(x_%7Bt-1%7D%20%5Cmid%20x_t)%20%3D%20%5Cmathcal%7BN%7D%5Cbigl(%5Cmu_%5Ctheta(x_t%2C%20t)%2C%5C%3B%20%5CSigma_%5Ctheta(x_t%2C%20t)%5Cbigr).#0&quot;,&quot;size&quot;:14,&quot;width&quot;:236.2204724409449,&quot;height&quot;:70.53543307086615,&quot;slideId&quot;:&quot;g3fa744eecfa_4_3&quot;,&quot;pageElementId&quot;:&quot;g3fa744eecfa_4_36&quot;,&quot;spaceCount&quot;:62,&quot;spaceStart&quot;:0}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325880" y="3806368"/>
            <a:ext cx="5811660" cy="505385"/>
          </a:xfrm>
          <a:prstGeom prst="rect">
            <a:avLst/>
          </a:prstGeom>
          <a:noFill/>
          <a:ln>
            <a:noFill/>
          </a:ln>
        </p:spPr>
      </p:pic>
      <p:sp>
        <p:nvSpPr>
          <p:cNvPr id="546" name="Google Shape;546;p43"/>
          <p:cNvSpPr txBox="1"/>
          <p:nvPr/>
        </p:nvSpPr>
        <p:spPr>
          <a:xfrm>
            <a:off x="1325880" y="4494633"/>
            <a:ext cx="7315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159AA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KL BETWEEN TWO GAUSSIANS</a:t>
            </a:r>
            <a:endParaRPr/>
          </a:p>
        </p:txBody>
      </p:sp>
      <p:pic>
        <p:nvPicPr>
          <p:cNvPr id="547" name="Google Shape;547;p43" title="{&quot;red&quot;:7,&quot;green&quot;:55,&quot;blue&quot;:99,&quot;origURL&quot;:&quot;https://www.codecogs.com/eqnedit.php?latex=L_t%20%3D%20%5Cmathbb%7BE%7D_%7Bx_0%2C%20%5Cepsilon%7D%20%5Cleft%5B%20%5Cfrac%7B1%7D%7B2%20%5C%7C%5CSigma_%5Ctheta(x_t%2C%20t)%5C%7C_2%5E2%7D%20%5C%7C%20%5Ctilde%7B%5Cmu%7D_t(x_t%2C%20x_0)%20-%20%5Cmu_%5Ctheta(x_t%2C%20t)%20%5C%7C%5E2%20%5Cright%5D%20#0&quot;,&quot;size&quot;:14,&quot;width&quot;:477.4488188976378,&quot;height&quot;:48.47244094488189}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325880" y="4796385"/>
            <a:ext cx="6733430" cy="7838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p44"/>
          <p:cNvSpPr txBox="1"/>
          <p:nvPr/>
        </p:nvSpPr>
        <p:spPr>
          <a:xfrm>
            <a:off x="566928" y="310896"/>
            <a:ext cx="8686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159AA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03 · TRAINING</a:t>
            </a:r>
            <a:endParaRPr/>
          </a:p>
        </p:txBody>
      </p:sp>
      <p:sp>
        <p:nvSpPr>
          <p:cNvPr id="553" name="Google Shape;553;p44"/>
          <p:cNvSpPr txBox="1"/>
          <p:nvPr/>
        </p:nvSpPr>
        <p:spPr>
          <a:xfrm>
            <a:off x="548640" y="566928"/>
            <a:ext cx="96926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20124D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Training objective</a:t>
            </a:r>
            <a:endParaRPr/>
          </a:p>
        </p:txBody>
      </p:sp>
      <p:sp>
        <p:nvSpPr>
          <p:cNvPr id="554" name="Google Shape;554;p44"/>
          <p:cNvSpPr/>
          <p:nvPr/>
        </p:nvSpPr>
        <p:spPr>
          <a:xfrm>
            <a:off x="1097280" y="1234440"/>
            <a:ext cx="10652760" cy="1097280"/>
          </a:xfrm>
          <a:prstGeom prst="roundRect">
            <a:avLst>
              <a:gd fmla="val 13333" name="adj"/>
            </a:avLst>
          </a:prstGeom>
          <a:solidFill>
            <a:srgbClr val="F4F3FA"/>
          </a:solidFill>
          <a:ln>
            <a:noFill/>
          </a:ln>
        </p:spPr>
        <p:txBody>
          <a:bodyPr anchorCtr="0" anchor="ctr" bIns="73150" lIns="109725" spcFirstLastPara="1" rIns="109725" wrap="square" tIns="73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5" name="Google Shape;555;p44"/>
          <p:cNvSpPr/>
          <p:nvPr/>
        </p:nvSpPr>
        <p:spPr>
          <a:xfrm>
            <a:off x="1280160" y="1097280"/>
            <a:ext cx="1188720" cy="274320"/>
          </a:xfrm>
          <a:prstGeom prst="roundRect">
            <a:avLst>
              <a:gd fmla="val 50000" name="adj"/>
            </a:avLst>
          </a:prstGeom>
          <a:solidFill>
            <a:srgbClr val="159AAE"/>
          </a:solidFill>
          <a:ln>
            <a:noFill/>
          </a:ln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ELBO loss</a:t>
            </a:r>
            <a:endParaRPr/>
          </a:p>
        </p:txBody>
      </p:sp>
      <p:pic>
        <p:nvPicPr>
          <p:cNvPr id="556" name="Google Shape;556;p44" title="{&quot;red&quot;:7,&quot;green&quot;:55,&quot;blue&quot;:99,&quot;origURL&quot;:&quot;https://www.codecogs.com/eqnedit.php?latex=L%20%3D%20%5Cmathbb%7BE%7D_q%20%5Cbigg%5B%20%5Cunderbrace%7BD_%7B%5Ctext%7BKL%7D%7D(q(%5Cmathbf%7Bx%7D_T%7C%5Cmathbf%7Bx%7D_0)%20%5Cparallel%20p(%5Cmathbf%7Bx%7D_T))%7D_%7BL_T%7D%20%2B%20%5Csum_%7Bt%3E1%7D%20%5Cunderbrace%7BD_%7B%5Ctext%7BKL%7D%7D(q(%5Cmathbf%7Bx%7D_%7Bt-1%7D%7C%5Cmathbf%7Bx%7D_t%2C%20%5Cmathbf%7Bx%7D_0)%20%5Cparallel%20p_%5Ctheta(%5Cmathbf%7Bx%7D_%7Bt-1%7D%7C%5Cmathbf%7Bx%7D_t))%7D_%7BL_%7Bt-1%7D%7D%20%5Cunderbrace%7B-%5Clog%20p_%5Ctheta(%5Cmathbf%7Bx%7D_0%7C%5Cmathbf%7Bx%7D_1)%7D_%7BL_0%7D%20%5Cbigg%5D#0&quot;,&quot;size&quot;:14,&quot;width&quot;:236.2204724409449,&quot;height&quot;:246.16535433070865}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04392" y="1381317"/>
            <a:ext cx="10241280" cy="849247"/>
          </a:xfrm>
          <a:prstGeom prst="rect">
            <a:avLst/>
          </a:prstGeom>
          <a:noFill/>
          <a:ln>
            <a:noFill/>
          </a:ln>
        </p:spPr>
      </p:pic>
      <p:sp>
        <p:nvSpPr>
          <p:cNvPr id="557" name="Google Shape;557;p44"/>
          <p:cNvSpPr txBox="1"/>
          <p:nvPr/>
        </p:nvSpPr>
        <p:spPr>
          <a:xfrm>
            <a:off x="1325880" y="2514600"/>
            <a:ext cx="7315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159AA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FORWARD POSTERIOR — TRACTABLE</a:t>
            </a:r>
            <a:endParaRPr/>
          </a:p>
        </p:txBody>
      </p:sp>
      <p:pic>
        <p:nvPicPr>
          <p:cNvPr id="558" name="Google Shape;558;p44" title="{&quot;red&quot;:7,&quot;green&quot;:55,&quot;blue&quot;:99,&quot;origURL&quot;:&quot;https://saxarona.github.io/mathjax-viewer/?input=q(x_%7Bt-1%7D%20%5Cmid%20x_t%2C%20x_0)%20%3D%20%5Cmathcal%7BN%7D%5Cbigl(%5Ctilde%7B%5Cmu%7D_t(x_t%2C%20x_0)%2C%5C%3B%20%5Ctilde%7B%5Cbeta%7D_t%20I%5Cbigr)#0&quot;,&quot;size&quot;:14,&quot;width&quot;:236.2204724409449,&quot;height&quot;:70.53543307086615,&quot;slideId&quot;:&quot;g3f0e196629b_0_184&quot;,&quot;pageElementId&quot;:&quot;g3fa744eecfa_4_2&quot;,&quot;spaceCount&quot;:62,&quot;spaceStart&quot;:0}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25880" y="2816352"/>
            <a:ext cx="5475054" cy="505385"/>
          </a:xfrm>
          <a:prstGeom prst="rect">
            <a:avLst/>
          </a:prstGeom>
          <a:noFill/>
          <a:ln>
            <a:noFill/>
          </a:ln>
        </p:spPr>
      </p:pic>
      <p:sp>
        <p:nvSpPr>
          <p:cNvPr id="559" name="Google Shape;559;p44"/>
          <p:cNvSpPr txBox="1"/>
          <p:nvPr/>
        </p:nvSpPr>
        <p:spPr>
          <a:xfrm>
            <a:off x="1325880" y="3504616"/>
            <a:ext cx="7315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159AA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LEARNED REVERSE STEP</a:t>
            </a:r>
            <a:endParaRPr/>
          </a:p>
        </p:txBody>
      </p:sp>
      <p:pic>
        <p:nvPicPr>
          <p:cNvPr id="560" name="Google Shape;560;p44" title="{&quot;red&quot;:7,&quot;green&quot;:55,&quot;blue&quot;:99,&quot;origURL&quot;:&quot;https://saxarona.github.io/mathjax-viewer/?input=p_%5Ctheta(x_%7Bt-1%7D%20%5Cmid%20x_t)%20%3D%20%5Cmathcal%7BN%7D%5Cbigl(%5Cmu_%5Ctheta(x_t%2C%20t)%2C%5C%3B%20%5CSigma_%5Ctheta(x_t%2C%20t)%5Cbigr).#0&quot;,&quot;size&quot;:14,&quot;width&quot;:236.2204724409449,&quot;height&quot;:70.53543307086615,&quot;slideId&quot;:&quot;g3fa744eecfa_4_3&quot;,&quot;pageElementId&quot;:&quot;g3fa744eecfa_4_36&quot;,&quot;spaceCount&quot;:62,&quot;spaceStart&quot;:0}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325880" y="3806368"/>
            <a:ext cx="5811660" cy="505385"/>
          </a:xfrm>
          <a:prstGeom prst="rect">
            <a:avLst/>
          </a:prstGeom>
          <a:noFill/>
          <a:ln>
            <a:noFill/>
          </a:ln>
        </p:spPr>
      </p:pic>
      <p:sp>
        <p:nvSpPr>
          <p:cNvPr id="561" name="Google Shape;561;p44"/>
          <p:cNvSpPr txBox="1"/>
          <p:nvPr/>
        </p:nvSpPr>
        <p:spPr>
          <a:xfrm>
            <a:off x="1325880" y="4494633"/>
            <a:ext cx="7315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159AA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FIX THE VARIANCE: ONLY THE MEAN IS LEARNED</a:t>
            </a:r>
            <a:endParaRPr/>
          </a:p>
        </p:txBody>
      </p:sp>
      <p:pic>
        <p:nvPicPr>
          <p:cNvPr id="562" name="Google Shape;562;p44" title="{&quot;red&quot;:7,&quot;green&quot;:55,&quot;blue&quot;:99,&quot;origURL&quot;:&quot;https://www.codecogs.com/eqnedit.php?latex=p_%5Ctheta(%5Cmathbf%7Bx%7D_%7Bt-1%7D%7C%5Cmathbf%7Bx%7D_t)%20%3D%20%5Cmathcal%7BN%7D(%5Cmathbf%7Bx%7D_%7Bt-1%7D%3B%20%5Cunderbrace%7B%5Cmu_%5Ctheta(%5Cmathbf%7Bx%7D_t%2C%20t)%7D_%7B%5Ctext%7BTrainable%20network%7D%7D%2C%20%5Csigma_t%5E2%5Cmathbf%7BI%7D)#0&quot;,&quot;size&quot;:14,&quot;width&quot;:236.2204724409449,&quot;height&quot;:129.0708661417323}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325880" y="4796385"/>
            <a:ext cx="5852160" cy="796572"/>
          </a:xfrm>
          <a:prstGeom prst="rect">
            <a:avLst/>
          </a:prstGeom>
          <a:noFill/>
          <a:ln>
            <a:noFill/>
          </a:ln>
        </p:spPr>
      </p:pic>
      <p:sp>
        <p:nvSpPr>
          <p:cNvPr id="563" name="Google Shape;563;p44"/>
          <p:cNvSpPr/>
          <p:nvPr/>
        </p:nvSpPr>
        <p:spPr>
          <a:xfrm>
            <a:off x="7635240" y="2606040"/>
            <a:ext cx="4069080" cy="3291840"/>
          </a:xfrm>
          <a:prstGeom prst="roundRect">
            <a:avLst>
              <a:gd fmla="val 4444" name="adj"/>
            </a:avLst>
          </a:prstGeom>
          <a:solidFill>
            <a:srgbClr val="FFFFFF"/>
          </a:solidFill>
          <a:ln cap="flat" cmpd="sng" w="12700">
            <a:solidFill>
              <a:srgbClr val="E1DEEE"/>
            </a:solidFill>
            <a:prstDash val="solid"/>
            <a:round/>
            <a:headEnd len="sm" w="sm" type="none"/>
            <a:tailEnd len="sm" w="sm" type="none"/>
          </a:ln>
          <a:effectLst>
            <a:outerShdw blurRad="228600" rotWithShape="0" algn="t" dir="5400000" dist="50800">
              <a:srgbClr val="20124D">
                <a:alpha val="12941"/>
              </a:srgbClr>
            </a:outerShdw>
          </a:effectLst>
        </p:spPr>
        <p:txBody>
          <a:bodyPr anchorCtr="0" anchor="ctr" bIns="73150" lIns="109725" spcFirstLastPara="1" rIns="109725" wrap="square" tIns="73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64" name="Google Shape;564;p44" title="{&quot;red&quot;:7,&quot;green&quot;:55,&quot;blue&quot;:99,&quot;origURL&quot;:&quot;https://saxarona.github.io/mathjax-viewer/?input=%5CSigma_%5Ctheta(x_t%2C%20t)%20%3D%20%5Csigma_t%5E2%20I#0&quot;,&quot;size&quot;:14,&quot;width&quot;:236.2204724409449,&quot;height&quot;:51.023622047244096,&quot;slideId&quot;:&quot;g3fa744eecfa_4_40&quot;,&quot;pageElementId&quot;:&quot;g3fa744eecfa_4_61&quot;,&quot;spaceCount&quot;:26,&quot;spaceStart&quot;:0}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287799" y="2834640"/>
            <a:ext cx="2763962" cy="495430"/>
          </a:xfrm>
          <a:prstGeom prst="rect">
            <a:avLst/>
          </a:prstGeom>
          <a:noFill/>
          <a:ln>
            <a:noFill/>
          </a:ln>
        </p:spPr>
      </p:pic>
      <p:sp>
        <p:nvSpPr>
          <p:cNvPr id="565" name="Google Shape;565;p44"/>
          <p:cNvSpPr txBox="1"/>
          <p:nvPr/>
        </p:nvSpPr>
        <p:spPr>
          <a:xfrm>
            <a:off x="7909560" y="3566160"/>
            <a:ext cx="3566160" cy="2194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9AAE"/>
              </a:buClr>
              <a:buSzPts val="1650"/>
              <a:buFont typeface="Arial"/>
              <a:buChar char="•"/>
            </a:pPr>
            <a:r>
              <a:rPr b="0" i="0" lang="en-US" sz="1500" u="none" cap="none" strike="noStrike">
                <a:solidFill>
                  <a:srgbClr val="23213A"/>
                </a:solidFill>
                <a:latin typeface="Arial"/>
                <a:ea typeface="Arial"/>
                <a:cs typeface="Arial"/>
                <a:sym typeface="Arial"/>
              </a:rPr>
              <a:t>the variance depends only on the timestep, not on the image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159AAE"/>
              </a:buClr>
              <a:buSzPts val="1650"/>
              <a:buFont typeface="Arial"/>
              <a:buChar char="•"/>
            </a:pPr>
            <a:r>
              <a:rPr b="0" i="0" lang="en-US" sz="1500" u="none" cap="none" strike="noStrike">
                <a:solidFill>
                  <a:srgbClr val="23213A"/>
                </a:solidFill>
                <a:latin typeface="Arial"/>
                <a:ea typeface="Arial"/>
                <a:cs typeface="Arial"/>
                <a:sym typeface="Arial"/>
              </a:rPr>
              <a:t>it is the same for all coordinates</a:t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9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Google Shape;570;p45"/>
          <p:cNvSpPr txBox="1"/>
          <p:nvPr/>
        </p:nvSpPr>
        <p:spPr>
          <a:xfrm>
            <a:off x="566928" y="310896"/>
            <a:ext cx="8686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159AA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03 · TRAINING</a:t>
            </a:r>
            <a:endParaRPr/>
          </a:p>
        </p:txBody>
      </p:sp>
      <p:sp>
        <p:nvSpPr>
          <p:cNvPr id="571" name="Google Shape;571;p45"/>
          <p:cNvSpPr txBox="1"/>
          <p:nvPr/>
        </p:nvSpPr>
        <p:spPr>
          <a:xfrm>
            <a:off x="548640" y="566928"/>
            <a:ext cx="96926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20124D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Training objective</a:t>
            </a:r>
            <a:endParaRPr/>
          </a:p>
        </p:txBody>
      </p:sp>
      <p:sp>
        <p:nvSpPr>
          <p:cNvPr id="572" name="Google Shape;572;p45"/>
          <p:cNvSpPr/>
          <p:nvPr/>
        </p:nvSpPr>
        <p:spPr>
          <a:xfrm>
            <a:off x="1097280" y="1234440"/>
            <a:ext cx="10652760" cy="1097280"/>
          </a:xfrm>
          <a:prstGeom prst="roundRect">
            <a:avLst>
              <a:gd fmla="val 13333" name="adj"/>
            </a:avLst>
          </a:prstGeom>
          <a:solidFill>
            <a:srgbClr val="F4F3FA"/>
          </a:solidFill>
          <a:ln>
            <a:noFill/>
          </a:ln>
        </p:spPr>
        <p:txBody>
          <a:bodyPr anchorCtr="0" anchor="ctr" bIns="73150" lIns="109725" spcFirstLastPara="1" rIns="109725" wrap="square" tIns="73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3" name="Google Shape;573;p45"/>
          <p:cNvSpPr/>
          <p:nvPr/>
        </p:nvSpPr>
        <p:spPr>
          <a:xfrm>
            <a:off x="1280160" y="1097280"/>
            <a:ext cx="1188720" cy="274320"/>
          </a:xfrm>
          <a:prstGeom prst="roundRect">
            <a:avLst>
              <a:gd fmla="val 50000" name="adj"/>
            </a:avLst>
          </a:prstGeom>
          <a:solidFill>
            <a:srgbClr val="159AAE"/>
          </a:solidFill>
          <a:ln>
            <a:noFill/>
          </a:ln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ELBO loss</a:t>
            </a:r>
            <a:endParaRPr/>
          </a:p>
        </p:txBody>
      </p:sp>
      <p:pic>
        <p:nvPicPr>
          <p:cNvPr id="574" name="Google Shape;574;p45" title="{&quot;red&quot;:7,&quot;green&quot;:55,&quot;blue&quot;:99,&quot;origURL&quot;:&quot;https://www.codecogs.com/eqnedit.php?latex=L%20%3D%20%5Cmathbb%7BE%7D_q%20%5Cbigg%5B%20%5Cunderbrace%7BD_%7B%5Ctext%7BKL%7D%7D(q(%5Cmathbf%7Bx%7D_T%7C%5Cmathbf%7Bx%7D_0)%20%5Cparallel%20p(%5Cmathbf%7Bx%7D_T))%7D_%7BL_T%7D%20%2B%20%5Csum_%7Bt%3E1%7D%20%5Cunderbrace%7BD_%7B%5Ctext%7BKL%7D%7D(q(%5Cmathbf%7Bx%7D_%7Bt-1%7D%7C%5Cmathbf%7Bx%7D_t%2C%20%5Cmathbf%7Bx%7D_0)%20%5Cparallel%20p_%5Ctheta(%5Cmathbf%7Bx%7D_%7Bt-1%7D%7C%5Cmathbf%7Bx%7D_t))%7D_%7BL_%7Bt-1%7D%7D%20%5Cunderbrace%7B-%5Clog%20p_%5Ctheta(%5Cmathbf%7Bx%7D_0%7C%5Cmathbf%7Bx%7D_1)%7D_%7BL_0%7D%20%5Cbigg%5D#0&quot;,&quot;size&quot;:14,&quot;width&quot;:236.2204724409449,&quot;height&quot;:246.16535433070865}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04392" y="1381317"/>
            <a:ext cx="10241280" cy="849247"/>
          </a:xfrm>
          <a:prstGeom prst="rect">
            <a:avLst/>
          </a:prstGeom>
          <a:noFill/>
          <a:ln>
            <a:noFill/>
          </a:ln>
        </p:spPr>
      </p:pic>
      <p:sp>
        <p:nvSpPr>
          <p:cNvPr id="575" name="Google Shape;575;p45"/>
          <p:cNvSpPr txBox="1"/>
          <p:nvPr/>
        </p:nvSpPr>
        <p:spPr>
          <a:xfrm>
            <a:off x="1325880" y="2514600"/>
            <a:ext cx="7315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159AA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FORWARD POSTERIOR — TRACTABLE</a:t>
            </a:r>
            <a:endParaRPr/>
          </a:p>
        </p:txBody>
      </p:sp>
      <p:pic>
        <p:nvPicPr>
          <p:cNvPr id="576" name="Google Shape;576;p45" title="{&quot;red&quot;:7,&quot;green&quot;:55,&quot;blue&quot;:99,&quot;origURL&quot;:&quot;https://saxarona.github.io/mathjax-viewer/?input=q(x_%7Bt-1%7D%20%5Cmid%20x_t%2C%20x_0)%20%3D%20%5Cmathcal%7BN%7D%5Cbigl(%5Ctilde%7B%5Cmu%7D_t(x_t%2C%20x_0)%2C%5C%3B%20%5Ctilde%7B%5Cbeta%7D_t%20I%5Cbigr)#0&quot;,&quot;size&quot;:14,&quot;width&quot;:236.2204724409449,&quot;height&quot;:70.53543307086615,&quot;slideId&quot;:&quot;g3f0e196629b_0_184&quot;,&quot;pageElementId&quot;:&quot;g3fa744eecfa_4_2&quot;,&quot;spaceCount&quot;:62,&quot;spaceStart&quot;:0}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25880" y="2816352"/>
            <a:ext cx="5475054" cy="505385"/>
          </a:xfrm>
          <a:prstGeom prst="rect">
            <a:avLst/>
          </a:prstGeom>
          <a:noFill/>
          <a:ln>
            <a:noFill/>
          </a:ln>
        </p:spPr>
      </p:pic>
      <p:sp>
        <p:nvSpPr>
          <p:cNvPr id="577" name="Google Shape;577;p45"/>
          <p:cNvSpPr txBox="1"/>
          <p:nvPr/>
        </p:nvSpPr>
        <p:spPr>
          <a:xfrm>
            <a:off x="1325880" y="3504616"/>
            <a:ext cx="7315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159AA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FIX THE VARIANCE: ONLY THE MEAN IS LEARNED</a:t>
            </a:r>
            <a:endParaRPr/>
          </a:p>
        </p:txBody>
      </p:sp>
      <p:pic>
        <p:nvPicPr>
          <p:cNvPr id="578" name="Google Shape;578;p45" title="{&quot;red&quot;:7,&quot;green&quot;:55,&quot;blue&quot;:99,&quot;origURL&quot;:&quot;https://www.codecogs.com/eqnedit.php?latex=p_%5Ctheta(%5Cmathbf%7Bx%7D_%7Bt-1%7D%7C%5Cmathbf%7Bx%7D_t)%20%3D%20%5Cmathcal%7BN%7D(%5Cmathbf%7Bx%7D_%7Bt-1%7D%3B%20%5Cunderbrace%7B%5Cmu_%5Ctheta(%5Cmathbf%7Bx%7D_t%2C%20t)%7D_%7B%5Ctext%7BTrainable%20network%7D%7D%2C%20%5Csigma_t%5E2%5Cmathbf%7BI%7D)#0&quot;,&quot;size&quot;:14,&quot;width&quot;:236.2204724409449,&quot;height&quot;:129.0708661417323}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325880" y="3806368"/>
            <a:ext cx="5868465" cy="798792"/>
          </a:xfrm>
          <a:prstGeom prst="rect">
            <a:avLst/>
          </a:prstGeom>
          <a:noFill/>
          <a:ln>
            <a:noFill/>
          </a:ln>
        </p:spPr>
      </p:pic>
      <p:sp>
        <p:nvSpPr>
          <p:cNvPr id="579" name="Google Shape;579;p45"/>
          <p:cNvSpPr txBox="1"/>
          <p:nvPr/>
        </p:nvSpPr>
        <p:spPr>
          <a:xfrm>
            <a:off x="1325880" y="4788040"/>
            <a:ext cx="7315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159AA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LOSS WITH FIXED VARIANCE</a:t>
            </a:r>
            <a:endParaRPr/>
          </a:p>
        </p:txBody>
      </p:sp>
      <p:pic>
        <p:nvPicPr>
          <p:cNvPr id="580" name="Google Shape;580;p45" title="{&quot;red&quot;:7,&quot;green&quot;:55,&quot;blue&quot;:99,&quot;origURL&quot;:&quot;https://saxarona.github.io/mathjax-viewer/?input=L_t%3D%5Cmathbb%7BE%7D_%7Bx_0%2C%5Cepsilon%7D%5CBiggl%5B%5Cfrac%7B1%7D%7B2%5Csigma_t%5E2%7D%5Cbigl%5C%7C%5Ctilde%5Cmu_t(x_t%2Cx_0)-%5Cmu_%5Ctheta(x_t%2Ct)%5Cbigr%5C%7C%5E2%5CBiggr%5D#0&quot;,&quot;size&quot;:14,&quot;width&quot;:236.2204724409449,&quot;height&quot;:90.04724409448819,&quot;slideId&quot;:&quot;g3fa744eecfa_4_21&quot;,&quot;pageElementId&quot;:&quot;g3fa744eecfa_4_78&quot;,&quot;spaceCount&quot;:62,&quot;spaceStart&quot;:0}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325880" y="5089792"/>
            <a:ext cx="5515704" cy="9161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4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Google Shape;585;p46"/>
          <p:cNvSpPr txBox="1"/>
          <p:nvPr/>
        </p:nvSpPr>
        <p:spPr>
          <a:xfrm>
            <a:off x="566928" y="310896"/>
            <a:ext cx="8686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159AA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03 · TRAINING</a:t>
            </a:r>
            <a:endParaRPr/>
          </a:p>
        </p:txBody>
      </p:sp>
      <p:sp>
        <p:nvSpPr>
          <p:cNvPr id="586" name="Google Shape;586;p46"/>
          <p:cNvSpPr txBox="1"/>
          <p:nvPr/>
        </p:nvSpPr>
        <p:spPr>
          <a:xfrm>
            <a:off x="548640" y="566928"/>
            <a:ext cx="96926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20124D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From μ to ε: reparametrizing the mean</a:t>
            </a:r>
            <a:endParaRPr/>
          </a:p>
        </p:txBody>
      </p:sp>
      <p:sp>
        <p:nvSpPr>
          <p:cNvPr id="587" name="Google Shape;587;p46"/>
          <p:cNvSpPr/>
          <p:nvPr/>
        </p:nvSpPr>
        <p:spPr>
          <a:xfrm>
            <a:off x="1325880" y="1298448"/>
            <a:ext cx="10378440" cy="822960"/>
          </a:xfrm>
          <a:prstGeom prst="roundRect">
            <a:avLst>
              <a:gd fmla="val 17778" name="adj"/>
            </a:avLst>
          </a:prstGeom>
          <a:solidFill>
            <a:srgbClr val="F4F3FA"/>
          </a:solidFill>
          <a:ln>
            <a:noFill/>
          </a:ln>
        </p:spPr>
        <p:txBody>
          <a:bodyPr anchorCtr="0" anchor="ctr" bIns="73150" lIns="109725" spcFirstLastPara="1" rIns="109725" wrap="square" tIns="73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8" name="Google Shape;588;p46"/>
          <p:cNvSpPr/>
          <p:nvPr/>
        </p:nvSpPr>
        <p:spPr>
          <a:xfrm>
            <a:off x="1508760" y="1499616"/>
            <a:ext cx="420624" cy="420624"/>
          </a:xfrm>
          <a:prstGeom prst="ellipse">
            <a:avLst/>
          </a:prstGeom>
          <a:solidFill>
            <a:srgbClr val="159AAE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</a:t>
            </a:r>
            <a:endParaRPr/>
          </a:p>
        </p:txBody>
      </p:sp>
      <p:sp>
        <p:nvSpPr>
          <p:cNvPr id="589" name="Google Shape;589;p46"/>
          <p:cNvSpPr txBox="1"/>
          <p:nvPr/>
        </p:nvSpPr>
        <p:spPr>
          <a:xfrm>
            <a:off x="2103120" y="1389888"/>
            <a:ext cx="27889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20124D"/>
                </a:solidFill>
                <a:latin typeface="Arial"/>
                <a:ea typeface="Arial"/>
                <a:cs typeface="Arial"/>
                <a:sym typeface="Arial"/>
              </a:rPr>
              <a:t>Forward process in closed form</a:t>
            </a:r>
            <a:endParaRPr/>
          </a:p>
        </p:txBody>
      </p:sp>
      <p:sp>
        <p:nvSpPr>
          <p:cNvPr id="590" name="Google Shape;590;p46"/>
          <p:cNvSpPr txBox="1"/>
          <p:nvPr/>
        </p:nvSpPr>
        <p:spPr>
          <a:xfrm>
            <a:off x="2103120" y="1755648"/>
            <a:ext cx="2788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6B6F85"/>
                </a:solidFill>
                <a:latin typeface="Arial"/>
                <a:ea typeface="Arial"/>
                <a:cs typeface="Arial"/>
                <a:sym typeface="Arial"/>
              </a:rPr>
              <a:t>express x₀ through xₜ and the noise ε</a:t>
            </a:r>
            <a:endParaRPr/>
          </a:p>
        </p:txBody>
      </p:sp>
      <p:pic>
        <p:nvPicPr>
          <p:cNvPr id="591" name="Google Shape;591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29200" y="1433496"/>
            <a:ext cx="6537960" cy="552863"/>
          </a:xfrm>
          <a:prstGeom prst="rect">
            <a:avLst/>
          </a:prstGeom>
          <a:noFill/>
          <a:ln>
            <a:noFill/>
          </a:ln>
        </p:spPr>
      </p:pic>
      <p:sp>
        <p:nvSpPr>
          <p:cNvPr id="592" name="Google Shape;592;p46"/>
          <p:cNvSpPr/>
          <p:nvPr/>
        </p:nvSpPr>
        <p:spPr>
          <a:xfrm>
            <a:off x="1325880" y="2240280"/>
            <a:ext cx="10378440" cy="822960"/>
          </a:xfrm>
          <a:prstGeom prst="roundRect">
            <a:avLst>
              <a:gd fmla="val 17778" name="adj"/>
            </a:avLst>
          </a:prstGeom>
          <a:solidFill>
            <a:srgbClr val="FFFFFF"/>
          </a:solidFill>
          <a:ln cap="flat" cmpd="sng" w="12700">
            <a:solidFill>
              <a:srgbClr val="E1DE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3150" lIns="109725" spcFirstLastPara="1" rIns="109725" wrap="square" tIns="73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3" name="Google Shape;593;p46"/>
          <p:cNvSpPr/>
          <p:nvPr/>
        </p:nvSpPr>
        <p:spPr>
          <a:xfrm>
            <a:off x="1508760" y="2441448"/>
            <a:ext cx="420624" cy="420624"/>
          </a:xfrm>
          <a:prstGeom prst="ellipse">
            <a:avLst/>
          </a:prstGeom>
          <a:solidFill>
            <a:srgbClr val="159AAE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2</a:t>
            </a:r>
            <a:endParaRPr/>
          </a:p>
        </p:txBody>
      </p:sp>
      <p:sp>
        <p:nvSpPr>
          <p:cNvPr id="594" name="Google Shape;594;p46"/>
          <p:cNvSpPr txBox="1"/>
          <p:nvPr/>
        </p:nvSpPr>
        <p:spPr>
          <a:xfrm>
            <a:off x="2103120" y="2331720"/>
            <a:ext cx="27889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20124D"/>
                </a:solidFill>
                <a:latin typeface="Arial"/>
                <a:ea typeface="Arial"/>
                <a:cs typeface="Arial"/>
                <a:sym typeface="Arial"/>
              </a:rPr>
              <a:t>Posterior mean of q(xₜ₋₁ | xₜ, x₀)</a:t>
            </a:r>
            <a:endParaRPr/>
          </a:p>
        </p:txBody>
      </p:sp>
      <p:sp>
        <p:nvSpPr>
          <p:cNvPr id="595" name="Google Shape;595;p46"/>
          <p:cNvSpPr txBox="1"/>
          <p:nvPr/>
        </p:nvSpPr>
        <p:spPr>
          <a:xfrm>
            <a:off x="2103120" y="2697480"/>
            <a:ext cx="2788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6B6F85"/>
                </a:solidFill>
                <a:latin typeface="Arial"/>
                <a:ea typeface="Arial"/>
                <a:cs typeface="Arial"/>
                <a:sym typeface="Arial"/>
              </a:rPr>
              <a:t>tractable, depends on x₀ and xₜ</a:t>
            </a:r>
            <a:endParaRPr/>
          </a:p>
        </p:txBody>
      </p:sp>
      <p:pic>
        <p:nvPicPr>
          <p:cNvPr id="596" name="Google Shape;596;p4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29200" y="2366772"/>
            <a:ext cx="4648200" cy="569976"/>
          </a:xfrm>
          <a:prstGeom prst="rect">
            <a:avLst/>
          </a:prstGeom>
          <a:noFill/>
          <a:ln>
            <a:noFill/>
          </a:ln>
        </p:spPr>
      </p:pic>
      <p:sp>
        <p:nvSpPr>
          <p:cNvPr id="597" name="Google Shape;597;p46"/>
          <p:cNvSpPr/>
          <p:nvPr/>
        </p:nvSpPr>
        <p:spPr>
          <a:xfrm>
            <a:off x="1325880" y="3182112"/>
            <a:ext cx="10378440" cy="822960"/>
          </a:xfrm>
          <a:prstGeom prst="roundRect">
            <a:avLst>
              <a:gd fmla="val 17778" name="adj"/>
            </a:avLst>
          </a:prstGeom>
          <a:solidFill>
            <a:srgbClr val="F4F3FA"/>
          </a:solidFill>
          <a:ln>
            <a:noFill/>
          </a:ln>
        </p:spPr>
        <p:txBody>
          <a:bodyPr anchorCtr="0" anchor="ctr" bIns="73150" lIns="109725" spcFirstLastPara="1" rIns="109725" wrap="square" tIns="73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8" name="Google Shape;598;p46"/>
          <p:cNvSpPr/>
          <p:nvPr/>
        </p:nvSpPr>
        <p:spPr>
          <a:xfrm>
            <a:off x="1508760" y="3383280"/>
            <a:ext cx="420624" cy="420624"/>
          </a:xfrm>
          <a:prstGeom prst="ellipse">
            <a:avLst/>
          </a:prstGeom>
          <a:solidFill>
            <a:srgbClr val="159AAE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3</a:t>
            </a:r>
            <a:endParaRPr/>
          </a:p>
        </p:txBody>
      </p:sp>
      <p:sp>
        <p:nvSpPr>
          <p:cNvPr id="599" name="Google Shape;599;p46"/>
          <p:cNvSpPr txBox="1"/>
          <p:nvPr/>
        </p:nvSpPr>
        <p:spPr>
          <a:xfrm>
            <a:off x="2103120" y="3273552"/>
            <a:ext cx="27889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20124D"/>
                </a:solidFill>
                <a:latin typeface="Arial"/>
                <a:ea typeface="Arial"/>
                <a:cs typeface="Arial"/>
                <a:sym typeface="Arial"/>
              </a:rPr>
              <a:t>Substitute x₀</a:t>
            </a:r>
            <a:endParaRPr/>
          </a:p>
        </p:txBody>
      </p:sp>
      <p:sp>
        <p:nvSpPr>
          <p:cNvPr id="600" name="Google Shape;600;p46"/>
          <p:cNvSpPr txBox="1"/>
          <p:nvPr/>
        </p:nvSpPr>
        <p:spPr>
          <a:xfrm>
            <a:off x="2103120" y="3639312"/>
            <a:ext cx="2788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6B6F85"/>
                </a:solidFill>
                <a:latin typeface="Arial"/>
                <a:ea typeface="Arial"/>
                <a:cs typeface="Arial"/>
                <a:sym typeface="Arial"/>
              </a:rPr>
              <a:t>the mean is xₜ minus scaled noise</a:t>
            </a:r>
            <a:endParaRPr/>
          </a:p>
        </p:txBody>
      </p:sp>
      <p:pic>
        <p:nvPicPr>
          <p:cNvPr id="601" name="Google Shape;601;p4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029200" y="3291840"/>
            <a:ext cx="2874264" cy="603504"/>
          </a:xfrm>
          <a:prstGeom prst="rect">
            <a:avLst/>
          </a:prstGeom>
          <a:noFill/>
          <a:ln>
            <a:noFill/>
          </a:ln>
        </p:spPr>
      </p:pic>
      <p:sp>
        <p:nvSpPr>
          <p:cNvPr id="602" name="Google Shape;602;p46"/>
          <p:cNvSpPr/>
          <p:nvPr/>
        </p:nvSpPr>
        <p:spPr>
          <a:xfrm>
            <a:off x="1325880" y="4123944"/>
            <a:ext cx="10378440" cy="822960"/>
          </a:xfrm>
          <a:prstGeom prst="roundRect">
            <a:avLst>
              <a:gd fmla="val 17778" name="adj"/>
            </a:avLst>
          </a:prstGeom>
          <a:solidFill>
            <a:srgbClr val="FFFFFF"/>
          </a:solidFill>
          <a:ln cap="flat" cmpd="sng" w="12700">
            <a:solidFill>
              <a:srgbClr val="E1DE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3150" lIns="109725" spcFirstLastPara="1" rIns="109725" wrap="square" tIns="73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3" name="Google Shape;603;p46"/>
          <p:cNvSpPr/>
          <p:nvPr/>
        </p:nvSpPr>
        <p:spPr>
          <a:xfrm>
            <a:off x="1508760" y="4325112"/>
            <a:ext cx="420624" cy="420624"/>
          </a:xfrm>
          <a:prstGeom prst="ellipse">
            <a:avLst/>
          </a:prstGeom>
          <a:solidFill>
            <a:srgbClr val="5B3FC4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4</a:t>
            </a:r>
            <a:endParaRPr/>
          </a:p>
        </p:txBody>
      </p:sp>
      <p:sp>
        <p:nvSpPr>
          <p:cNvPr id="604" name="Google Shape;604;p46"/>
          <p:cNvSpPr txBox="1"/>
          <p:nvPr/>
        </p:nvSpPr>
        <p:spPr>
          <a:xfrm>
            <a:off x="2103120" y="4215384"/>
            <a:ext cx="27889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20124D"/>
                </a:solidFill>
                <a:latin typeface="Arial"/>
                <a:ea typeface="Arial"/>
                <a:cs typeface="Arial"/>
                <a:sym typeface="Arial"/>
              </a:rPr>
              <a:t>Same form for the model</a:t>
            </a:r>
            <a:endParaRPr/>
          </a:p>
        </p:txBody>
      </p:sp>
      <p:sp>
        <p:nvSpPr>
          <p:cNvPr id="605" name="Google Shape;605;p46"/>
          <p:cNvSpPr txBox="1"/>
          <p:nvPr/>
        </p:nvSpPr>
        <p:spPr>
          <a:xfrm>
            <a:off x="2103120" y="4581144"/>
            <a:ext cx="2788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6B6F85"/>
                </a:solidFill>
                <a:latin typeface="Arial"/>
                <a:ea typeface="Arial"/>
                <a:cs typeface="Arial"/>
                <a:sym typeface="Arial"/>
              </a:rPr>
              <a:t>the network predicts ε instead of μ</a:t>
            </a:r>
            <a:endParaRPr/>
          </a:p>
        </p:txBody>
      </p:sp>
      <p:pic>
        <p:nvPicPr>
          <p:cNvPr id="606" name="Google Shape;606;p4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029200" y="4233672"/>
            <a:ext cx="4376928" cy="603504"/>
          </a:xfrm>
          <a:prstGeom prst="rect">
            <a:avLst/>
          </a:prstGeom>
          <a:noFill/>
          <a:ln>
            <a:noFill/>
          </a:ln>
        </p:spPr>
      </p:pic>
      <p:sp>
        <p:nvSpPr>
          <p:cNvPr id="607" name="Google Shape;607;p46"/>
          <p:cNvSpPr/>
          <p:nvPr/>
        </p:nvSpPr>
        <p:spPr>
          <a:xfrm>
            <a:off x="1325880" y="5166360"/>
            <a:ext cx="10378440" cy="1143000"/>
          </a:xfrm>
          <a:prstGeom prst="roundRect">
            <a:avLst>
              <a:gd fmla="val 12800" name="adj"/>
            </a:avLst>
          </a:prstGeom>
          <a:solidFill>
            <a:srgbClr val="EFEBFB"/>
          </a:solidFill>
          <a:ln cap="flat" cmpd="sng" w="12700">
            <a:solidFill>
              <a:srgbClr val="B9ABEC"/>
            </a:solidFill>
            <a:prstDash val="solid"/>
            <a:round/>
            <a:headEnd len="sm" w="sm" type="none"/>
            <a:tailEnd len="sm" w="sm" type="none"/>
          </a:ln>
          <a:effectLst>
            <a:outerShdw blurRad="228600" rotWithShape="0" algn="t" dir="5400000" dist="50800">
              <a:srgbClr val="20124D">
                <a:alpha val="12941"/>
              </a:srgbClr>
            </a:outerShdw>
          </a:effectLst>
        </p:spPr>
        <p:txBody>
          <a:bodyPr anchorCtr="0" anchor="ctr" bIns="73150" lIns="109725" spcFirstLastPara="1" rIns="109725" wrap="square" tIns="73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8" name="Google Shape;608;p46"/>
          <p:cNvSpPr txBox="1"/>
          <p:nvPr/>
        </p:nvSpPr>
        <p:spPr>
          <a:xfrm>
            <a:off x="1600200" y="5276088"/>
            <a:ext cx="31089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5B3F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RESULT</a:t>
            </a:r>
            <a:endParaRPr/>
          </a:p>
        </p:txBody>
      </p:sp>
      <p:sp>
        <p:nvSpPr>
          <p:cNvPr id="609" name="Google Shape;609;p46"/>
          <p:cNvSpPr txBox="1"/>
          <p:nvPr/>
        </p:nvSpPr>
        <p:spPr>
          <a:xfrm>
            <a:off x="1600200" y="5669280"/>
            <a:ext cx="3200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23213A"/>
                </a:solidFill>
                <a:latin typeface="Arial"/>
                <a:ea typeface="Arial"/>
                <a:cs typeface="Arial"/>
                <a:sym typeface="Arial"/>
              </a:rPr>
              <a:t>μ-matching becomes ε-matching (next slide)</a:t>
            </a:r>
            <a:endParaRPr/>
          </a:p>
        </p:txBody>
      </p:sp>
      <p:pic>
        <p:nvPicPr>
          <p:cNvPr id="610" name="Google Shape;610;p4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029200" y="5445252"/>
            <a:ext cx="6245352" cy="5852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4" name="Shape 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" name="Google Shape;615;p47"/>
          <p:cNvSpPr txBox="1"/>
          <p:nvPr/>
        </p:nvSpPr>
        <p:spPr>
          <a:xfrm>
            <a:off x="566928" y="310896"/>
            <a:ext cx="8686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159AA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03 · TRAINING</a:t>
            </a:r>
            <a:endParaRPr/>
          </a:p>
        </p:txBody>
      </p:sp>
      <p:sp>
        <p:nvSpPr>
          <p:cNvPr id="616" name="Google Shape;616;p47"/>
          <p:cNvSpPr txBox="1"/>
          <p:nvPr/>
        </p:nvSpPr>
        <p:spPr>
          <a:xfrm>
            <a:off x="548640" y="566928"/>
            <a:ext cx="96926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20124D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Training objective</a:t>
            </a:r>
            <a:endParaRPr/>
          </a:p>
        </p:txBody>
      </p:sp>
      <p:sp>
        <p:nvSpPr>
          <p:cNvPr id="617" name="Google Shape;617;p47"/>
          <p:cNvSpPr/>
          <p:nvPr/>
        </p:nvSpPr>
        <p:spPr>
          <a:xfrm>
            <a:off x="1097280" y="1234440"/>
            <a:ext cx="10652760" cy="1097280"/>
          </a:xfrm>
          <a:prstGeom prst="roundRect">
            <a:avLst>
              <a:gd fmla="val 13333" name="adj"/>
            </a:avLst>
          </a:prstGeom>
          <a:solidFill>
            <a:srgbClr val="F4F3FA"/>
          </a:solidFill>
          <a:ln>
            <a:noFill/>
          </a:ln>
        </p:spPr>
        <p:txBody>
          <a:bodyPr anchorCtr="0" anchor="ctr" bIns="73150" lIns="109725" spcFirstLastPara="1" rIns="109725" wrap="square" tIns="73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8" name="Google Shape;618;p47"/>
          <p:cNvSpPr/>
          <p:nvPr/>
        </p:nvSpPr>
        <p:spPr>
          <a:xfrm>
            <a:off x="1280160" y="1097280"/>
            <a:ext cx="1188720" cy="274320"/>
          </a:xfrm>
          <a:prstGeom prst="roundRect">
            <a:avLst>
              <a:gd fmla="val 50000" name="adj"/>
            </a:avLst>
          </a:prstGeom>
          <a:solidFill>
            <a:srgbClr val="159AAE"/>
          </a:solidFill>
          <a:ln>
            <a:noFill/>
          </a:ln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ELBO loss</a:t>
            </a:r>
            <a:endParaRPr/>
          </a:p>
        </p:txBody>
      </p:sp>
      <p:pic>
        <p:nvPicPr>
          <p:cNvPr id="619" name="Google Shape;619;p47" title="{&quot;red&quot;:7,&quot;green&quot;:55,&quot;blue&quot;:99,&quot;origURL&quot;:&quot;https://www.codecogs.com/eqnedit.php?latex=L%20%3D%20%5Cmathbb%7BE%7D_q%20%5Cbigg%5B%20%5Cunderbrace%7BD_%7B%5Ctext%7BKL%7D%7D(q(%5Cmathbf%7Bx%7D_T%7C%5Cmathbf%7Bx%7D_0)%20%5Cparallel%20p(%5Cmathbf%7Bx%7D_T))%7D_%7BL_T%7D%20%2B%20%5Csum_%7Bt%3E1%7D%20%5Cunderbrace%7BD_%7B%5Ctext%7BKL%7D%7D(q(%5Cmathbf%7Bx%7D_%7Bt-1%7D%7C%5Cmathbf%7Bx%7D_t%2C%20%5Cmathbf%7Bx%7D_0)%20%5Cparallel%20p_%5Ctheta(%5Cmathbf%7Bx%7D_%7Bt-1%7D%7C%5Cmathbf%7Bx%7D_t))%7D_%7BL_%7Bt-1%7D%7D%20%5Cunderbrace%7B-%5Clog%20p_%5Ctheta(%5Cmathbf%7Bx%7D_0%7C%5Cmathbf%7Bx%7D_1)%7D_%7BL_0%7D%20%5Cbigg%5D#0&quot;,&quot;size&quot;:14,&quot;width&quot;:236.2204724409449,&quot;height&quot;:246.16535433070865}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04392" y="1381317"/>
            <a:ext cx="10241280" cy="849247"/>
          </a:xfrm>
          <a:prstGeom prst="rect">
            <a:avLst/>
          </a:prstGeom>
          <a:noFill/>
          <a:ln>
            <a:noFill/>
          </a:ln>
        </p:spPr>
      </p:pic>
      <p:sp>
        <p:nvSpPr>
          <p:cNvPr id="620" name="Google Shape;620;p47"/>
          <p:cNvSpPr txBox="1"/>
          <p:nvPr/>
        </p:nvSpPr>
        <p:spPr>
          <a:xfrm>
            <a:off x="1325880" y="2514600"/>
            <a:ext cx="7315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159AA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LOSS WITH FIXED VARIANCE</a:t>
            </a:r>
            <a:endParaRPr/>
          </a:p>
        </p:txBody>
      </p:sp>
      <p:pic>
        <p:nvPicPr>
          <p:cNvPr id="621" name="Google Shape;621;p47" title="{&quot;red&quot;:7,&quot;green&quot;:55,&quot;blue&quot;:99,&quot;origURL&quot;:&quot;https://saxarona.github.io/mathjax-viewer/?input=L_t%3D%5Cmathbb%7BE%7D_%7Bx_0%2C%5Cepsilon%7D%5CBiggl%5B%5Cfrac%7B1%7D%7B2%5Csigma_t%5E2%7D%5Cbigl%5C%7C%5Ctilde%5Cmu_t(x_t%2Cx_0)-%5Cmu_%5Ctheta(x_t%2Ct)%5Cbigr%5C%7C%5E2%5CBiggr%5D#0&quot;,&quot;size&quot;:14,&quot;width&quot;:236.2204724409449,&quot;height&quot;:90.04724409448819,&quot;slideId&quot;:&quot;g3fa744eecfa_4_21&quot;,&quot;pageElementId&quot;:&quot;g3fa744eecfa_4_78&quot;,&quot;spaceCount&quot;:62,&quot;spaceStart&quot;:0}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25880" y="2816352"/>
            <a:ext cx="5515704" cy="916164"/>
          </a:xfrm>
          <a:prstGeom prst="rect">
            <a:avLst/>
          </a:prstGeom>
          <a:noFill/>
          <a:ln>
            <a:noFill/>
          </a:ln>
        </p:spPr>
      </p:pic>
      <p:sp>
        <p:nvSpPr>
          <p:cNvPr id="622" name="Google Shape;622;p47"/>
          <p:cNvSpPr txBox="1"/>
          <p:nvPr/>
        </p:nvSpPr>
        <p:spPr>
          <a:xfrm>
            <a:off x="1325880" y="3915396"/>
            <a:ext cx="7315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159AA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PREDICT THE NOISE Ε INSTEAD OF THE MEAN</a:t>
            </a:r>
            <a:endParaRPr/>
          </a:p>
        </p:txBody>
      </p:sp>
      <p:pic>
        <p:nvPicPr>
          <p:cNvPr id="623" name="Google Shape;623;p47" title="{&quot;red&quot;:7,&quot;green&quot;:55,&quot;blue&quot;:99,&quot;origURL&quot;:&quot;https://saxarona.github.io/mathjax-viewer/?input=L_t%3D%5Cmathbb%7BE%7D_%7Bx_0%2C%5Cepsilon%7D%5CBiggl%5B%5Cfrac%7B(1-%5Calpha_t)%5E2%7D%7B2%5Calpha_t(1-%5Cbar%5Calpha_t)%5Csigma_t%5E2%7D%5Cbigl%5C%7C%5Cepsilon_t-%5Cepsilon_%5Ctheta(x_t%2Ct)%5Cbigr%5C%7C%5E2%5CBiggr%5D#0&quot;,&quot;size&quot;:14,&quot;width&quot;:236.2204724409449,&quot;height&quot;:109.55905511811024,&quot;slideId&quot;:&quot;g3fa744eecfa_4_21&quot;,&quot;pageElementId&quot;:&quot;g3fa744eecfa_4_76&quot;,&quot;spaceCount&quot;:62,&quot;spaceStart&quot;:0}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325880" y="4217148"/>
            <a:ext cx="5093084" cy="805022"/>
          </a:xfrm>
          <a:prstGeom prst="rect">
            <a:avLst/>
          </a:prstGeom>
          <a:noFill/>
          <a:ln>
            <a:noFill/>
          </a:ln>
        </p:spPr>
      </p:pic>
      <p:sp>
        <p:nvSpPr>
          <p:cNvPr id="624" name="Google Shape;624;p47"/>
          <p:cNvSpPr txBox="1"/>
          <p:nvPr/>
        </p:nvSpPr>
        <p:spPr>
          <a:xfrm>
            <a:off x="3416671" y="5205050"/>
            <a:ext cx="5358353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2E8A5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SIMPLIFIED OBJECTIVE</a:t>
            </a:r>
            <a:endParaRPr/>
          </a:p>
        </p:txBody>
      </p:sp>
      <p:sp>
        <p:nvSpPr>
          <p:cNvPr id="625" name="Google Shape;625;p47"/>
          <p:cNvSpPr/>
          <p:nvPr/>
        </p:nvSpPr>
        <p:spPr>
          <a:xfrm>
            <a:off x="3188071" y="5479370"/>
            <a:ext cx="5815553" cy="740375"/>
          </a:xfrm>
          <a:prstGeom prst="roundRect">
            <a:avLst>
              <a:gd fmla="val 19761" name="adj"/>
            </a:avLst>
          </a:prstGeom>
          <a:solidFill>
            <a:srgbClr val="E8F5EC"/>
          </a:solidFill>
          <a:ln cap="flat" cmpd="sng" w="12700">
            <a:solidFill>
              <a:srgbClr val="9FD3B2"/>
            </a:solidFill>
            <a:prstDash val="solid"/>
            <a:round/>
            <a:headEnd len="sm" w="sm" type="none"/>
            <a:tailEnd len="sm" w="sm" type="none"/>
          </a:ln>
          <a:effectLst>
            <a:outerShdw blurRad="228600" rotWithShape="0" algn="t" dir="5400000" dist="50800">
              <a:srgbClr val="20124D">
                <a:alpha val="12941"/>
              </a:srgbClr>
            </a:outerShdw>
          </a:effectLst>
        </p:spPr>
        <p:txBody>
          <a:bodyPr anchorCtr="0" anchor="ctr" bIns="73150" lIns="109725" spcFirstLastPara="1" rIns="109725" wrap="square" tIns="73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26" name="Google Shape;626;p47" title="{&quot;red&quot;:7,&quot;green&quot;:55,&quot;blue&quot;:99,&quot;origURL&quot;:&quot;https://www.codecogs.com/eqnedit.php?latex=L_%7Bsimple%2C%20t%7D%20%3D%20%5Cmathbb%7BE%7D_%7Bx_0%2C%20%5Cepsilon%7D%20%5Cleft%5B%20%5C%7C%20%5Cepsilon_t%20-%20%5Cepsilon_%5Ctheta(x_t%2C%20t)%20%5C%7C%5E2%20%5Cright%5D#0&quot;,&quot;size&quot;:11,&quot;width&quot;:355.06299212598424,&quot;height&quot;:87.25984251968504}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416671" y="5616530"/>
            <a:ext cx="5358353" cy="466055"/>
          </a:xfrm>
          <a:prstGeom prst="rect">
            <a:avLst/>
          </a:prstGeom>
          <a:noFill/>
          <a:ln>
            <a:noFill/>
          </a:ln>
        </p:spPr>
      </p:pic>
      <p:sp>
        <p:nvSpPr>
          <p:cNvPr id="627" name="Google Shape;627;p47"/>
          <p:cNvSpPr txBox="1"/>
          <p:nvPr/>
        </p:nvSpPr>
        <p:spPr>
          <a:xfrm>
            <a:off x="9966960" y="6327648"/>
            <a:ext cx="17830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7"/>
              </a:rPr>
              <a:t>Source</a:t>
            </a:r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1" name="Shape 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2" name="Google Shape;632;p48"/>
          <p:cNvSpPr txBox="1"/>
          <p:nvPr/>
        </p:nvSpPr>
        <p:spPr>
          <a:xfrm>
            <a:off x="566928" y="310896"/>
            <a:ext cx="8686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159AA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03 · TRAINING</a:t>
            </a:r>
            <a:endParaRPr/>
          </a:p>
        </p:txBody>
      </p:sp>
      <p:sp>
        <p:nvSpPr>
          <p:cNvPr id="633" name="Google Shape;633;p48"/>
          <p:cNvSpPr txBox="1"/>
          <p:nvPr/>
        </p:nvSpPr>
        <p:spPr>
          <a:xfrm>
            <a:off x="548640" y="566928"/>
            <a:ext cx="96926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20124D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Summary: training &amp; sampling</a:t>
            </a:r>
            <a:endParaRPr/>
          </a:p>
        </p:txBody>
      </p:sp>
      <p:sp>
        <p:nvSpPr>
          <p:cNvPr id="634" name="Google Shape;634;p48"/>
          <p:cNvSpPr/>
          <p:nvPr/>
        </p:nvSpPr>
        <p:spPr>
          <a:xfrm>
            <a:off x="1097280" y="1929735"/>
            <a:ext cx="10424160" cy="3089970"/>
          </a:xfrm>
          <a:prstGeom prst="roundRect">
            <a:avLst>
              <a:gd fmla="val 4735" name="adj"/>
            </a:avLst>
          </a:prstGeom>
          <a:solidFill>
            <a:srgbClr val="FFFFFF"/>
          </a:solidFill>
          <a:ln cap="flat" cmpd="sng" w="12700">
            <a:solidFill>
              <a:srgbClr val="E1DEEE"/>
            </a:solidFill>
            <a:prstDash val="solid"/>
            <a:round/>
            <a:headEnd len="sm" w="sm" type="none"/>
            <a:tailEnd len="sm" w="sm" type="none"/>
          </a:ln>
          <a:effectLst>
            <a:outerShdw blurRad="228600" rotWithShape="0" algn="t" dir="5400000" dist="50800">
              <a:srgbClr val="20124D">
                <a:alpha val="12941"/>
              </a:srgbClr>
            </a:outerShdw>
          </a:effectLst>
        </p:spPr>
        <p:txBody>
          <a:bodyPr anchorCtr="0" anchor="ctr" bIns="73150" lIns="109725" spcFirstLastPara="1" rIns="109725" wrap="square" tIns="73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35" name="Google Shape;635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25880" y="2158335"/>
            <a:ext cx="9966960" cy="2632770"/>
          </a:xfrm>
          <a:prstGeom prst="rect">
            <a:avLst/>
          </a:prstGeom>
          <a:noFill/>
          <a:ln>
            <a:noFill/>
          </a:ln>
        </p:spPr>
      </p:pic>
      <p:sp>
        <p:nvSpPr>
          <p:cNvPr id="636" name="Google Shape;636;p48"/>
          <p:cNvSpPr txBox="1"/>
          <p:nvPr/>
        </p:nvSpPr>
        <p:spPr>
          <a:xfrm>
            <a:off x="9966960" y="6327648"/>
            <a:ext cx="17830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4"/>
              </a:rPr>
              <a:t>Source</a:t>
            </a:r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0" name="Shape 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1" name="Google Shape;641;p49"/>
          <p:cNvSpPr txBox="1"/>
          <p:nvPr/>
        </p:nvSpPr>
        <p:spPr>
          <a:xfrm>
            <a:off x="566928" y="310896"/>
            <a:ext cx="8686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159AA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03 · TRAINING</a:t>
            </a:r>
            <a:endParaRPr/>
          </a:p>
        </p:txBody>
      </p:sp>
      <p:sp>
        <p:nvSpPr>
          <p:cNvPr id="642" name="Google Shape;642;p49"/>
          <p:cNvSpPr txBox="1"/>
          <p:nvPr/>
        </p:nvSpPr>
        <p:spPr>
          <a:xfrm>
            <a:off x="548640" y="566928"/>
            <a:ext cx="96926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20124D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Summary</a:t>
            </a:r>
            <a:endParaRPr/>
          </a:p>
        </p:txBody>
      </p:sp>
      <p:sp>
        <p:nvSpPr>
          <p:cNvPr id="643" name="Google Shape;643;p49"/>
          <p:cNvSpPr/>
          <p:nvPr/>
        </p:nvSpPr>
        <p:spPr>
          <a:xfrm>
            <a:off x="1325880" y="1325880"/>
            <a:ext cx="4572000" cy="2240280"/>
          </a:xfrm>
          <a:prstGeom prst="roundRect">
            <a:avLst>
              <a:gd fmla="val 6531" name="adj"/>
            </a:avLst>
          </a:prstGeom>
          <a:solidFill>
            <a:srgbClr val="E8F5EC"/>
          </a:solidFill>
          <a:ln>
            <a:noFill/>
          </a:ln>
        </p:spPr>
        <p:txBody>
          <a:bodyPr anchorCtr="0" anchor="ctr" bIns="73150" lIns="109725" spcFirstLastPara="1" rIns="109725" wrap="square" tIns="73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4" name="Google Shape;644;p49"/>
          <p:cNvSpPr/>
          <p:nvPr/>
        </p:nvSpPr>
        <p:spPr>
          <a:xfrm>
            <a:off x="1600200" y="1554480"/>
            <a:ext cx="411480" cy="411480"/>
          </a:xfrm>
          <a:prstGeom prst="ellipse">
            <a:avLst/>
          </a:prstGeom>
          <a:solidFill>
            <a:srgbClr val="2E8A55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+</a:t>
            </a:r>
            <a:endParaRPr/>
          </a:p>
        </p:txBody>
      </p:sp>
      <p:sp>
        <p:nvSpPr>
          <p:cNvPr id="645" name="Google Shape;645;p49"/>
          <p:cNvSpPr txBox="1"/>
          <p:nvPr/>
        </p:nvSpPr>
        <p:spPr>
          <a:xfrm>
            <a:off x="2148840" y="1554480"/>
            <a:ext cx="27432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2E8A55"/>
                </a:solidFill>
                <a:latin typeface="Arial"/>
                <a:ea typeface="Arial"/>
                <a:cs typeface="Arial"/>
                <a:sym typeface="Arial"/>
              </a:rPr>
              <a:t>Pros</a:t>
            </a:r>
            <a:endParaRPr/>
          </a:p>
        </p:txBody>
      </p:sp>
      <p:sp>
        <p:nvSpPr>
          <p:cNvPr id="646" name="Google Shape;646;p49"/>
          <p:cNvSpPr txBox="1"/>
          <p:nvPr/>
        </p:nvSpPr>
        <p:spPr>
          <a:xfrm>
            <a:off x="1691640" y="2148840"/>
            <a:ext cx="402336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8A55"/>
              </a:buClr>
              <a:buSzPts val="2420"/>
              <a:buFont typeface="Arial"/>
              <a:buChar char="•"/>
            </a:pPr>
            <a:r>
              <a:rPr b="1" i="0" lang="en-US" sz="2200" u="none" cap="none" strike="noStrike">
                <a:solidFill>
                  <a:srgbClr val="23213A"/>
                </a:solidFill>
                <a:latin typeface="Arial"/>
                <a:ea typeface="Arial"/>
                <a:cs typeface="Arial"/>
                <a:sym typeface="Arial"/>
              </a:rPr>
              <a:t>Good quality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2E8A55"/>
              </a:buClr>
              <a:buSzPts val="2420"/>
              <a:buFont typeface="Arial"/>
              <a:buChar char="•"/>
            </a:pPr>
            <a:r>
              <a:rPr b="1" i="0" lang="en-US" sz="2200" u="none" cap="none" strike="noStrike">
                <a:solidFill>
                  <a:srgbClr val="23213A"/>
                </a:solidFill>
                <a:latin typeface="Arial"/>
                <a:ea typeface="Arial"/>
                <a:cs typeface="Arial"/>
                <a:sym typeface="Arial"/>
              </a:rPr>
              <a:t>Diverse generation</a:t>
            </a:r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0" name="Shape 6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1" name="Google Shape;651;p50"/>
          <p:cNvSpPr txBox="1"/>
          <p:nvPr/>
        </p:nvSpPr>
        <p:spPr>
          <a:xfrm>
            <a:off x="566928" y="310896"/>
            <a:ext cx="8686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159AA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03 · TRAINING</a:t>
            </a:r>
            <a:endParaRPr/>
          </a:p>
        </p:txBody>
      </p:sp>
      <p:sp>
        <p:nvSpPr>
          <p:cNvPr id="652" name="Google Shape;652;p50"/>
          <p:cNvSpPr txBox="1"/>
          <p:nvPr/>
        </p:nvSpPr>
        <p:spPr>
          <a:xfrm>
            <a:off x="548640" y="566928"/>
            <a:ext cx="96926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20124D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Summary</a:t>
            </a:r>
            <a:endParaRPr/>
          </a:p>
        </p:txBody>
      </p:sp>
      <p:sp>
        <p:nvSpPr>
          <p:cNvPr id="653" name="Google Shape;653;p50"/>
          <p:cNvSpPr/>
          <p:nvPr/>
        </p:nvSpPr>
        <p:spPr>
          <a:xfrm>
            <a:off x="1325880" y="1325880"/>
            <a:ext cx="4572000" cy="2240280"/>
          </a:xfrm>
          <a:prstGeom prst="roundRect">
            <a:avLst>
              <a:gd fmla="val 6531" name="adj"/>
            </a:avLst>
          </a:prstGeom>
          <a:solidFill>
            <a:srgbClr val="E8F5EC"/>
          </a:solidFill>
          <a:ln>
            <a:noFill/>
          </a:ln>
        </p:spPr>
        <p:txBody>
          <a:bodyPr anchorCtr="0" anchor="ctr" bIns="73150" lIns="109725" spcFirstLastPara="1" rIns="109725" wrap="square" tIns="73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4" name="Google Shape;654;p50"/>
          <p:cNvSpPr/>
          <p:nvPr/>
        </p:nvSpPr>
        <p:spPr>
          <a:xfrm>
            <a:off x="1600200" y="1554480"/>
            <a:ext cx="411480" cy="411480"/>
          </a:xfrm>
          <a:prstGeom prst="ellipse">
            <a:avLst/>
          </a:prstGeom>
          <a:solidFill>
            <a:srgbClr val="2E8A55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+</a:t>
            </a:r>
            <a:endParaRPr/>
          </a:p>
        </p:txBody>
      </p:sp>
      <p:sp>
        <p:nvSpPr>
          <p:cNvPr id="655" name="Google Shape;655;p50"/>
          <p:cNvSpPr txBox="1"/>
          <p:nvPr/>
        </p:nvSpPr>
        <p:spPr>
          <a:xfrm>
            <a:off x="2148840" y="1554480"/>
            <a:ext cx="27432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2E8A55"/>
                </a:solidFill>
                <a:latin typeface="Arial"/>
                <a:ea typeface="Arial"/>
                <a:cs typeface="Arial"/>
                <a:sym typeface="Arial"/>
              </a:rPr>
              <a:t>Pros</a:t>
            </a:r>
            <a:endParaRPr/>
          </a:p>
        </p:txBody>
      </p:sp>
      <p:sp>
        <p:nvSpPr>
          <p:cNvPr id="656" name="Google Shape;656;p50"/>
          <p:cNvSpPr txBox="1"/>
          <p:nvPr/>
        </p:nvSpPr>
        <p:spPr>
          <a:xfrm>
            <a:off x="1691640" y="2148840"/>
            <a:ext cx="402336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8A55"/>
              </a:buClr>
              <a:buSzPts val="2420"/>
              <a:buFont typeface="Arial"/>
              <a:buChar char="•"/>
            </a:pPr>
            <a:r>
              <a:rPr b="1" i="0" lang="en-US" sz="2200" u="none" cap="none" strike="noStrike">
                <a:solidFill>
                  <a:srgbClr val="23213A"/>
                </a:solidFill>
                <a:latin typeface="Arial"/>
                <a:ea typeface="Arial"/>
                <a:cs typeface="Arial"/>
                <a:sym typeface="Arial"/>
              </a:rPr>
              <a:t>Good quality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2E8A55"/>
              </a:buClr>
              <a:buSzPts val="2420"/>
              <a:buFont typeface="Arial"/>
              <a:buChar char="•"/>
            </a:pPr>
            <a:r>
              <a:rPr b="1" i="0" lang="en-US" sz="2200" u="none" cap="none" strike="noStrike">
                <a:solidFill>
                  <a:srgbClr val="23213A"/>
                </a:solidFill>
                <a:latin typeface="Arial"/>
                <a:ea typeface="Arial"/>
                <a:cs typeface="Arial"/>
                <a:sym typeface="Arial"/>
              </a:rPr>
              <a:t>Diverse generation</a:t>
            </a:r>
            <a:endParaRPr/>
          </a:p>
        </p:txBody>
      </p:sp>
      <p:sp>
        <p:nvSpPr>
          <p:cNvPr id="657" name="Google Shape;657;p50"/>
          <p:cNvSpPr/>
          <p:nvPr/>
        </p:nvSpPr>
        <p:spPr>
          <a:xfrm>
            <a:off x="1325880" y="3794760"/>
            <a:ext cx="4572000" cy="1508760"/>
          </a:xfrm>
          <a:prstGeom prst="roundRect">
            <a:avLst>
              <a:gd fmla="val 9697" name="adj"/>
            </a:avLst>
          </a:prstGeom>
          <a:solidFill>
            <a:srgbClr val="FBEAE8"/>
          </a:solidFill>
          <a:ln>
            <a:noFill/>
          </a:ln>
        </p:spPr>
        <p:txBody>
          <a:bodyPr anchorCtr="0" anchor="ctr" bIns="73150" lIns="109725" spcFirstLastPara="1" rIns="109725" wrap="square" tIns="73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8" name="Google Shape;658;p50"/>
          <p:cNvSpPr/>
          <p:nvPr/>
        </p:nvSpPr>
        <p:spPr>
          <a:xfrm>
            <a:off x="1600200" y="4023360"/>
            <a:ext cx="411480" cy="411480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−</a:t>
            </a:r>
            <a:endParaRPr/>
          </a:p>
        </p:txBody>
      </p:sp>
      <p:sp>
        <p:nvSpPr>
          <p:cNvPr id="659" name="Google Shape;659;p50"/>
          <p:cNvSpPr txBox="1"/>
          <p:nvPr/>
        </p:nvSpPr>
        <p:spPr>
          <a:xfrm>
            <a:off x="2148840" y="4023360"/>
            <a:ext cx="27432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C0392B"/>
                </a:solidFill>
                <a:latin typeface="Arial"/>
                <a:ea typeface="Arial"/>
                <a:cs typeface="Arial"/>
                <a:sym typeface="Arial"/>
              </a:rPr>
              <a:t>Cons</a:t>
            </a:r>
            <a:endParaRPr/>
          </a:p>
        </p:txBody>
      </p:sp>
      <p:sp>
        <p:nvSpPr>
          <p:cNvPr id="660" name="Google Shape;660;p50"/>
          <p:cNvSpPr txBox="1"/>
          <p:nvPr/>
        </p:nvSpPr>
        <p:spPr>
          <a:xfrm>
            <a:off x="1691640" y="4617720"/>
            <a:ext cx="40233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2420"/>
              <a:buFont typeface="Arial"/>
              <a:buChar char="•"/>
            </a:pPr>
            <a:r>
              <a:rPr b="1" i="0" lang="en-US" sz="2200" u="none" cap="none" strike="noStrike">
                <a:solidFill>
                  <a:srgbClr val="23213A"/>
                </a:solidFill>
                <a:latin typeface="Arial"/>
                <a:ea typeface="Arial"/>
                <a:cs typeface="Arial"/>
                <a:sym typeface="Arial"/>
              </a:rPr>
              <a:t>Low speed</a:t>
            </a:r>
            <a:r>
              <a:rPr b="0" i="0" lang="en-US" sz="1500" u="none" cap="none" strike="noStrike">
                <a:solidFill>
                  <a:srgbClr val="6B6F85"/>
                </a:solidFill>
                <a:latin typeface="Arial"/>
                <a:ea typeface="Arial"/>
                <a:cs typeface="Arial"/>
                <a:sym typeface="Arial"/>
              </a:rPr>
              <a:t>  — many denoising steps</a:t>
            </a:r>
            <a:endParaRPr/>
          </a:p>
        </p:txBody>
      </p:sp>
      <p:sp>
        <p:nvSpPr>
          <p:cNvPr id="661" name="Google Shape;661;p50"/>
          <p:cNvSpPr/>
          <p:nvPr/>
        </p:nvSpPr>
        <p:spPr>
          <a:xfrm>
            <a:off x="6309360" y="1414360"/>
            <a:ext cx="5394960" cy="3663520"/>
          </a:xfrm>
          <a:prstGeom prst="roundRect">
            <a:avLst>
              <a:gd fmla="val 3994" name="adj"/>
            </a:avLst>
          </a:prstGeom>
          <a:solidFill>
            <a:srgbClr val="FFFFFF"/>
          </a:solidFill>
          <a:ln cap="flat" cmpd="sng" w="12700">
            <a:solidFill>
              <a:srgbClr val="E1DEEE"/>
            </a:solidFill>
            <a:prstDash val="solid"/>
            <a:round/>
            <a:headEnd len="sm" w="sm" type="none"/>
            <a:tailEnd len="sm" w="sm" type="none"/>
          </a:ln>
          <a:effectLst>
            <a:outerShdw blurRad="228600" rotWithShape="0" algn="t" dir="5400000" dist="50800">
              <a:srgbClr val="20124D">
                <a:alpha val="12941"/>
              </a:srgbClr>
            </a:outerShdw>
          </a:effectLst>
        </p:spPr>
        <p:txBody>
          <a:bodyPr anchorCtr="0" anchor="ctr" bIns="73150" lIns="109725" spcFirstLastPara="1" rIns="109725" wrap="square" tIns="73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62" name="Google Shape;662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19088" y="1524088"/>
            <a:ext cx="5175504" cy="34440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6" name="Shape 6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7" name="Google Shape;667;p51"/>
          <p:cNvSpPr txBox="1"/>
          <p:nvPr/>
        </p:nvSpPr>
        <p:spPr>
          <a:xfrm>
            <a:off x="566928" y="310896"/>
            <a:ext cx="8686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159AA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03 · TRAINING</a:t>
            </a:r>
            <a:endParaRPr/>
          </a:p>
        </p:txBody>
      </p:sp>
      <p:sp>
        <p:nvSpPr>
          <p:cNvPr id="668" name="Google Shape;668;p51"/>
          <p:cNvSpPr txBox="1"/>
          <p:nvPr/>
        </p:nvSpPr>
        <p:spPr>
          <a:xfrm>
            <a:off x="548640" y="566928"/>
            <a:ext cx="96926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20124D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Summary: the generative trilemma</a:t>
            </a:r>
            <a:endParaRPr/>
          </a:p>
        </p:txBody>
      </p:sp>
      <p:sp>
        <p:nvSpPr>
          <p:cNvPr id="669" name="Google Shape;669;p51"/>
          <p:cNvSpPr/>
          <p:nvPr/>
        </p:nvSpPr>
        <p:spPr>
          <a:xfrm>
            <a:off x="1325880" y="1325880"/>
            <a:ext cx="4572000" cy="2240280"/>
          </a:xfrm>
          <a:prstGeom prst="roundRect">
            <a:avLst>
              <a:gd fmla="val 6531" name="adj"/>
            </a:avLst>
          </a:prstGeom>
          <a:solidFill>
            <a:srgbClr val="E8F5EC"/>
          </a:solidFill>
          <a:ln>
            <a:noFill/>
          </a:ln>
        </p:spPr>
        <p:txBody>
          <a:bodyPr anchorCtr="0" anchor="ctr" bIns="73150" lIns="109725" spcFirstLastPara="1" rIns="109725" wrap="square" tIns="73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0" name="Google Shape;670;p51"/>
          <p:cNvSpPr/>
          <p:nvPr/>
        </p:nvSpPr>
        <p:spPr>
          <a:xfrm>
            <a:off x="1600200" y="1554480"/>
            <a:ext cx="411480" cy="411480"/>
          </a:xfrm>
          <a:prstGeom prst="ellipse">
            <a:avLst/>
          </a:prstGeom>
          <a:solidFill>
            <a:srgbClr val="2E8A55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+</a:t>
            </a:r>
            <a:endParaRPr/>
          </a:p>
        </p:txBody>
      </p:sp>
      <p:sp>
        <p:nvSpPr>
          <p:cNvPr id="671" name="Google Shape;671;p51"/>
          <p:cNvSpPr txBox="1"/>
          <p:nvPr/>
        </p:nvSpPr>
        <p:spPr>
          <a:xfrm>
            <a:off x="2148840" y="1554480"/>
            <a:ext cx="27432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2E8A55"/>
                </a:solidFill>
                <a:latin typeface="Arial"/>
                <a:ea typeface="Arial"/>
                <a:cs typeface="Arial"/>
                <a:sym typeface="Arial"/>
              </a:rPr>
              <a:t>Pros</a:t>
            </a:r>
            <a:endParaRPr/>
          </a:p>
        </p:txBody>
      </p:sp>
      <p:sp>
        <p:nvSpPr>
          <p:cNvPr id="672" name="Google Shape;672;p51"/>
          <p:cNvSpPr txBox="1"/>
          <p:nvPr/>
        </p:nvSpPr>
        <p:spPr>
          <a:xfrm>
            <a:off x="1691640" y="2148840"/>
            <a:ext cx="402336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8A55"/>
              </a:buClr>
              <a:buSzPts val="2420"/>
              <a:buFont typeface="Arial"/>
              <a:buChar char="•"/>
            </a:pPr>
            <a:r>
              <a:rPr b="1" i="0" lang="en-US" sz="2200" u="none" cap="none" strike="noStrike">
                <a:solidFill>
                  <a:srgbClr val="23213A"/>
                </a:solidFill>
                <a:latin typeface="Arial"/>
                <a:ea typeface="Arial"/>
                <a:cs typeface="Arial"/>
                <a:sym typeface="Arial"/>
              </a:rPr>
              <a:t>Good quality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2E8A55"/>
              </a:buClr>
              <a:buSzPts val="2420"/>
              <a:buFont typeface="Arial"/>
              <a:buChar char="•"/>
            </a:pPr>
            <a:r>
              <a:rPr b="1" i="0" lang="en-US" sz="2200" u="none" cap="none" strike="noStrike">
                <a:solidFill>
                  <a:srgbClr val="23213A"/>
                </a:solidFill>
                <a:latin typeface="Arial"/>
                <a:ea typeface="Arial"/>
                <a:cs typeface="Arial"/>
                <a:sym typeface="Arial"/>
              </a:rPr>
              <a:t>Diverse generation</a:t>
            </a:r>
            <a:endParaRPr/>
          </a:p>
        </p:txBody>
      </p:sp>
      <p:sp>
        <p:nvSpPr>
          <p:cNvPr id="673" name="Google Shape;673;p51"/>
          <p:cNvSpPr/>
          <p:nvPr/>
        </p:nvSpPr>
        <p:spPr>
          <a:xfrm>
            <a:off x="1325880" y="3794760"/>
            <a:ext cx="4572000" cy="1508760"/>
          </a:xfrm>
          <a:prstGeom prst="roundRect">
            <a:avLst>
              <a:gd fmla="val 9697" name="adj"/>
            </a:avLst>
          </a:prstGeom>
          <a:solidFill>
            <a:srgbClr val="FBEAE8"/>
          </a:solidFill>
          <a:ln>
            <a:noFill/>
          </a:ln>
        </p:spPr>
        <p:txBody>
          <a:bodyPr anchorCtr="0" anchor="ctr" bIns="73150" lIns="109725" spcFirstLastPara="1" rIns="109725" wrap="square" tIns="73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4" name="Google Shape;674;p51"/>
          <p:cNvSpPr/>
          <p:nvPr/>
        </p:nvSpPr>
        <p:spPr>
          <a:xfrm>
            <a:off x="1600200" y="4023360"/>
            <a:ext cx="411480" cy="411480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−</a:t>
            </a:r>
            <a:endParaRPr/>
          </a:p>
        </p:txBody>
      </p:sp>
      <p:sp>
        <p:nvSpPr>
          <p:cNvPr id="675" name="Google Shape;675;p51"/>
          <p:cNvSpPr txBox="1"/>
          <p:nvPr/>
        </p:nvSpPr>
        <p:spPr>
          <a:xfrm>
            <a:off x="2148840" y="4023360"/>
            <a:ext cx="27432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C0392B"/>
                </a:solidFill>
                <a:latin typeface="Arial"/>
                <a:ea typeface="Arial"/>
                <a:cs typeface="Arial"/>
                <a:sym typeface="Arial"/>
              </a:rPr>
              <a:t>Cons</a:t>
            </a:r>
            <a:endParaRPr/>
          </a:p>
        </p:txBody>
      </p:sp>
      <p:sp>
        <p:nvSpPr>
          <p:cNvPr id="676" name="Google Shape;676;p51"/>
          <p:cNvSpPr txBox="1"/>
          <p:nvPr/>
        </p:nvSpPr>
        <p:spPr>
          <a:xfrm>
            <a:off x="1691640" y="4617720"/>
            <a:ext cx="40233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2420"/>
              <a:buFont typeface="Arial"/>
              <a:buChar char="•"/>
            </a:pPr>
            <a:r>
              <a:rPr b="1" i="0" lang="en-US" sz="2200" u="none" cap="none" strike="noStrike">
                <a:solidFill>
                  <a:srgbClr val="23213A"/>
                </a:solidFill>
                <a:latin typeface="Arial"/>
                <a:ea typeface="Arial"/>
                <a:cs typeface="Arial"/>
                <a:sym typeface="Arial"/>
              </a:rPr>
              <a:t>Low speed</a:t>
            </a:r>
            <a:r>
              <a:rPr b="0" i="0" lang="en-US" sz="1500" u="none" cap="none" strike="noStrike">
                <a:solidFill>
                  <a:srgbClr val="6B6F85"/>
                </a:solidFill>
                <a:latin typeface="Arial"/>
                <a:ea typeface="Arial"/>
                <a:cs typeface="Arial"/>
                <a:sym typeface="Arial"/>
              </a:rPr>
              <a:t>  — many denoising steps</a:t>
            </a:r>
            <a:endParaRPr/>
          </a:p>
        </p:txBody>
      </p:sp>
      <p:sp>
        <p:nvSpPr>
          <p:cNvPr id="677" name="Google Shape;677;p51"/>
          <p:cNvSpPr/>
          <p:nvPr/>
        </p:nvSpPr>
        <p:spPr>
          <a:xfrm>
            <a:off x="6309360" y="1346304"/>
            <a:ext cx="5394960" cy="4805472"/>
          </a:xfrm>
          <a:prstGeom prst="roundRect">
            <a:avLst>
              <a:gd fmla="val 3045" name="adj"/>
            </a:avLst>
          </a:prstGeom>
          <a:solidFill>
            <a:srgbClr val="FFFFFF"/>
          </a:solidFill>
          <a:ln cap="flat" cmpd="sng" w="12700">
            <a:solidFill>
              <a:srgbClr val="E1DEEE"/>
            </a:solidFill>
            <a:prstDash val="solid"/>
            <a:round/>
            <a:headEnd len="sm" w="sm" type="none"/>
            <a:tailEnd len="sm" w="sm" type="none"/>
          </a:ln>
          <a:effectLst>
            <a:outerShdw blurRad="228600" rotWithShape="0" algn="t" dir="5400000" dist="50800">
              <a:srgbClr val="20124D">
                <a:alpha val="12941"/>
              </a:srgbClr>
            </a:outerShdw>
          </a:effectLst>
        </p:spPr>
        <p:txBody>
          <a:bodyPr anchorCtr="0" anchor="ctr" bIns="73150" lIns="109725" spcFirstLastPara="1" rIns="109725" wrap="square" tIns="73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78" name="Google Shape;678;p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47726" y="1596474"/>
            <a:ext cx="4571999" cy="430511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2" name="Shape 6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3" name="Google Shape;683;p52"/>
          <p:cNvSpPr txBox="1"/>
          <p:nvPr/>
        </p:nvSpPr>
        <p:spPr>
          <a:xfrm>
            <a:off x="1097280" y="1600200"/>
            <a:ext cx="5486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6FD3E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04</a:t>
            </a:r>
            <a:endParaRPr/>
          </a:p>
        </p:txBody>
      </p:sp>
      <p:sp>
        <p:nvSpPr>
          <p:cNvPr id="684" name="Google Shape;684;p52"/>
          <p:cNvSpPr txBox="1"/>
          <p:nvPr/>
        </p:nvSpPr>
        <p:spPr>
          <a:xfrm>
            <a:off x="1097280" y="2148840"/>
            <a:ext cx="5669280" cy="173736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DDPM &amp; guidance</a:t>
            </a:r>
            <a:endParaRPr/>
          </a:p>
        </p:txBody>
      </p:sp>
      <p:sp>
        <p:nvSpPr>
          <p:cNvPr id="685" name="Google Shape;685;p52"/>
          <p:cNvSpPr txBox="1"/>
          <p:nvPr/>
        </p:nvSpPr>
        <p:spPr>
          <a:xfrm>
            <a:off x="1097280" y="4114800"/>
            <a:ext cx="54864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CFC8F2"/>
                </a:solidFill>
                <a:latin typeface="Arial"/>
                <a:ea typeface="Arial"/>
                <a:cs typeface="Arial"/>
                <a:sym typeface="Arial"/>
              </a:rPr>
              <a:t>Pixel-space samples · classifier and classifier-free guidance</a:t>
            </a:r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9" name="Shape 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0" name="Google Shape;690;p53"/>
          <p:cNvSpPr txBox="1"/>
          <p:nvPr/>
        </p:nvSpPr>
        <p:spPr>
          <a:xfrm>
            <a:off x="566928" y="310896"/>
            <a:ext cx="8686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159AA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04 · DDPM &amp; GUIDANCE</a:t>
            </a:r>
            <a:endParaRPr/>
          </a:p>
        </p:txBody>
      </p:sp>
      <p:sp>
        <p:nvSpPr>
          <p:cNvPr id="691" name="Google Shape;691;p53"/>
          <p:cNvSpPr txBox="1"/>
          <p:nvPr/>
        </p:nvSpPr>
        <p:spPr>
          <a:xfrm>
            <a:off x="548640" y="566928"/>
            <a:ext cx="96926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20124D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DDPM: diffusion in pixel space</a:t>
            </a:r>
            <a:endParaRPr/>
          </a:p>
        </p:txBody>
      </p:sp>
      <p:sp>
        <p:nvSpPr>
          <p:cNvPr id="692" name="Google Shape;692;p53"/>
          <p:cNvSpPr/>
          <p:nvPr/>
        </p:nvSpPr>
        <p:spPr>
          <a:xfrm>
            <a:off x="1188720" y="1626745"/>
            <a:ext cx="10515600" cy="4153150"/>
          </a:xfrm>
          <a:prstGeom prst="roundRect">
            <a:avLst>
              <a:gd fmla="val 3523" name="adj"/>
            </a:avLst>
          </a:prstGeom>
          <a:solidFill>
            <a:srgbClr val="FFFFFF"/>
          </a:solidFill>
          <a:ln cap="flat" cmpd="sng" w="12700">
            <a:solidFill>
              <a:srgbClr val="E1DEEE"/>
            </a:solidFill>
            <a:prstDash val="solid"/>
            <a:round/>
            <a:headEnd len="sm" w="sm" type="none"/>
            <a:tailEnd len="sm" w="sm" type="none"/>
          </a:ln>
          <a:effectLst>
            <a:outerShdw blurRad="228600" rotWithShape="0" algn="t" dir="5400000" dist="50800">
              <a:srgbClr val="20124D">
                <a:alpha val="12941"/>
              </a:srgbClr>
            </a:outerShdw>
          </a:effectLst>
        </p:spPr>
        <p:txBody>
          <a:bodyPr anchorCtr="0" anchor="ctr" bIns="73150" lIns="109725" spcFirstLastPara="1" rIns="109725" wrap="square" tIns="73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93" name="Google Shape;693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25880" y="1763905"/>
            <a:ext cx="10241280" cy="3878830"/>
          </a:xfrm>
          <a:prstGeom prst="rect">
            <a:avLst/>
          </a:prstGeom>
          <a:noFill/>
          <a:ln>
            <a:noFill/>
          </a:ln>
        </p:spPr>
      </p:pic>
      <p:sp>
        <p:nvSpPr>
          <p:cNvPr id="694" name="Google Shape;694;p53"/>
          <p:cNvSpPr txBox="1"/>
          <p:nvPr/>
        </p:nvSpPr>
        <p:spPr>
          <a:xfrm>
            <a:off x="9966960" y="6327648"/>
            <a:ext cx="17830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4"/>
              </a:rPr>
              <a:t>Source</a:t>
            </a:r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8" name="Shape 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9" name="Google Shape;699;p54"/>
          <p:cNvSpPr txBox="1"/>
          <p:nvPr/>
        </p:nvSpPr>
        <p:spPr>
          <a:xfrm>
            <a:off x="566928" y="310896"/>
            <a:ext cx="8686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159AA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04 · DDPM &amp; GUIDANCE</a:t>
            </a:r>
            <a:endParaRPr/>
          </a:p>
        </p:txBody>
      </p:sp>
      <p:sp>
        <p:nvSpPr>
          <p:cNvPr id="700" name="Google Shape;700;p54"/>
          <p:cNvSpPr txBox="1"/>
          <p:nvPr/>
        </p:nvSpPr>
        <p:spPr>
          <a:xfrm>
            <a:off x="548640" y="566928"/>
            <a:ext cx="96926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20124D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DDPM: diffusion in pixel space</a:t>
            </a:r>
            <a:endParaRPr/>
          </a:p>
        </p:txBody>
      </p:sp>
      <p:sp>
        <p:nvSpPr>
          <p:cNvPr id="701" name="Google Shape;701;p54"/>
          <p:cNvSpPr/>
          <p:nvPr/>
        </p:nvSpPr>
        <p:spPr>
          <a:xfrm>
            <a:off x="2329425" y="1188720"/>
            <a:ext cx="7502670" cy="5074920"/>
          </a:xfrm>
          <a:prstGeom prst="roundRect">
            <a:avLst>
              <a:gd fmla="val 2883" name="adj"/>
            </a:avLst>
          </a:prstGeom>
          <a:solidFill>
            <a:srgbClr val="FFFFFF"/>
          </a:solidFill>
          <a:ln cap="flat" cmpd="sng" w="12700">
            <a:solidFill>
              <a:srgbClr val="E1DEEE"/>
            </a:solidFill>
            <a:prstDash val="solid"/>
            <a:round/>
            <a:headEnd len="sm" w="sm" type="none"/>
            <a:tailEnd len="sm" w="sm" type="none"/>
          </a:ln>
          <a:effectLst>
            <a:outerShdw blurRad="228600" rotWithShape="0" algn="t" dir="5400000" dist="50800">
              <a:srgbClr val="20124D">
                <a:alpha val="12941"/>
              </a:srgbClr>
            </a:outerShdw>
          </a:effectLst>
        </p:spPr>
        <p:txBody>
          <a:bodyPr anchorCtr="0" anchor="ctr" bIns="73150" lIns="109725" spcFirstLastPara="1" rIns="109725" wrap="square" tIns="73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02" name="Google Shape;702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39153" y="1298448"/>
            <a:ext cx="7283214" cy="4855464"/>
          </a:xfrm>
          <a:prstGeom prst="rect">
            <a:avLst/>
          </a:prstGeom>
          <a:noFill/>
          <a:ln>
            <a:noFill/>
          </a:ln>
        </p:spPr>
      </p:pic>
      <p:sp>
        <p:nvSpPr>
          <p:cNvPr id="703" name="Google Shape;703;p54"/>
          <p:cNvSpPr txBox="1"/>
          <p:nvPr/>
        </p:nvSpPr>
        <p:spPr>
          <a:xfrm>
            <a:off x="9966960" y="6327648"/>
            <a:ext cx="17830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4"/>
              </a:rPr>
              <a:t>Source</a:t>
            </a:r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7" name="Shape 7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8" name="Google Shape;708;p55"/>
          <p:cNvSpPr txBox="1"/>
          <p:nvPr/>
        </p:nvSpPr>
        <p:spPr>
          <a:xfrm>
            <a:off x="566928" y="310896"/>
            <a:ext cx="8686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159AA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04 · DDPM &amp; GUIDANCE</a:t>
            </a:r>
            <a:endParaRPr/>
          </a:p>
        </p:txBody>
      </p:sp>
      <p:sp>
        <p:nvSpPr>
          <p:cNvPr id="709" name="Google Shape;709;p55"/>
          <p:cNvSpPr txBox="1"/>
          <p:nvPr/>
        </p:nvSpPr>
        <p:spPr>
          <a:xfrm>
            <a:off x="548640" y="566928"/>
            <a:ext cx="96926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20124D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DDPM: diffusion in pixel space</a:t>
            </a:r>
            <a:endParaRPr/>
          </a:p>
        </p:txBody>
      </p:sp>
      <p:sp>
        <p:nvSpPr>
          <p:cNvPr id="710" name="Google Shape;710;p55"/>
          <p:cNvSpPr/>
          <p:nvPr/>
        </p:nvSpPr>
        <p:spPr>
          <a:xfrm>
            <a:off x="1325880" y="1281684"/>
            <a:ext cx="7223760" cy="4888991"/>
          </a:xfrm>
          <a:prstGeom prst="roundRect">
            <a:avLst>
              <a:gd fmla="val 2993" name="adj"/>
            </a:avLst>
          </a:prstGeom>
          <a:solidFill>
            <a:srgbClr val="FFFFFF"/>
          </a:solidFill>
          <a:ln cap="flat" cmpd="sng" w="12700">
            <a:solidFill>
              <a:srgbClr val="E1DEEE"/>
            </a:solidFill>
            <a:prstDash val="solid"/>
            <a:round/>
            <a:headEnd len="sm" w="sm" type="none"/>
            <a:tailEnd len="sm" w="sm" type="none"/>
          </a:ln>
          <a:effectLst>
            <a:outerShdw blurRad="228600" rotWithShape="0" algn="t" dir="5400000" dist="50800">
              <a:srgbClr val="20124D">
                <a:alpha val="12941"/>
              </a:srgbClr>
            </a:outerShdw>
          </a:effectLst>
        </p:spPr>
        <p:txBody>
          <a:bodyPr anchorCtr="0" anchor="ctr" bIns="73150" lIns="109725" spcFirstLastPara="1" rIns="109725" wrap="square" tIns="73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11" name="Google Shape;711;p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35608" y="1391412"/>
            <a:ext cx="7004304" cy="4669535"/>
          </a:xfrm>
          <a:prstGeom prst="rect">
            <a:avLst/>
          </a:prstGeom>
          <a:noFill/>
          <a:ln>
            <a:noFill/>
          </a:ln>
        </p:spPr>
      </p:pic>
      <p:sp>
        <p:nvSpPr>
          <p:cNvPr id="712" name="Google Shape;712;p55"/>
          <p:cNvSpPr/>
          <p:nvPr/>
        </p:nvSpPr>
        <p:spPr>
          <a:xfrm>
            <a:off x="8823960" y="2377440"/>
            <a:ext cx="2880360" cy="2377440"/>
          </a:xfrm>
          <a:prstGeom prst="roundRect">
            <a:avLst>
              <a:gd fmla="val 6154" name="adj"/>
            </a:avLst>
          </a:prstGeom>
          <a:solidFill>
            <a:srgbClr val="F4F3FA"/>
          </a:solidFill>
          <a:ln>
            <a:noFill/>
          </a:ln>
        </p:spPr>
        <p:txBody>
          <a:bodyPr anchorCtr="0" anchor="ctr" bIns="73150" lIns="109725" spcFirstLastPara="1" rIns="109725" wrap="square" tIns="73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3" name="Google Shape;713;p55"/>
          <p:cNvSpPr txBox="1"/>
          <p:nvPr/>
        </p:nvSpPr>
        <p:spPr>
          <a:xfrm>
            <a:off x="9052560" y="2514600"/>
            <a:ext cx="24688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159AA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LSUN 256×256</a:t>
            </a:r>
            <a:endParaRPr/>
          </a:p>
        </p:txBody>
      </p:sp>
      <p:sp>
        <p:nvSpPr>
          <p:cNvPr id="714" name="Google Shape;714;p55"/>
          <p:cNvSpPr txBox="1"/>
          <p:nvPr/>
        </p:nvSpPr>
        <p:spPr>
          <a:xfrm>
            <a:off x="9052560" y="2880360"/>
            <a:ext cx="246888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23213A"/>
                </a:solidFill>
                <a:latin typeface="Arial"/>
                <a:ea typeface="Arial"/>
                <a:cs typeface="Arial"/>
                <a:sym typeface="Arial"/>
              </a:rPr>
              <a:t>Church, Bedroom and Cat samples. Notice that the model occasionally generates dataset watermarks.</a:t>
            </a:r>
            <a:endParaRPr/>
          </a:p>
        </p:txBody>
      </p:sp>
      <p:sp>
        <p:nvSpPr>
          <p:cNvPr id="715" name="Google Shape;715;p55"/>
          <p:cNvSpPr txBox="1"/>
          <p:nvPr/>
        </p:nvSpPr>
        <p:spPr>
          <a:xfrm>
            <a:off x="9966960" y="6327648"/>
            <a:ext cx="17830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4"/>
              </a:rPr>
              <a:t>Source</a:t>
            </a:r>
            <a:endParaRPr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9" name="Shape 7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0" name="Google Shape;720;p56"/>
          <p:cNvSpPr txBox="1"/>
          <p:nvPr/>
        </p:nvSpPr>
        <p:spPr>
          <a:xfrm>
            <a:off x="566928" y="310896"/>
            <a:ext cx="8686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159AA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04 · DDPM &amp; GUIDANCE</a:t>
            </a:r>
            <a:endParaRPr/>
          </a:p>
        </p:txBody>
      </p:sp>
      <p:sp>
        <p:nvSpPr>
          <p:cNvPr id="721" name="Google Shape;721;p56"/>
          <p:cNvSpPr txBox="1"/>
          <p:nvPr/>
        </p:nvSpPr>
        <p:spPr>
          <a:xfrm>
            <a:off x="548640" y="566928"/>
            <a:ext cx="96926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20124D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Classifier guidance</a:t>
            </a:r>
            <a:endParaRPr/>
          </a:p>
        </p:txBody>
      </p:sp>
      <p:sp>
        <p:nvSpPr>
          <p:cNvPr id="722" name="Google Shape;722;p56"/>
          <p:cNvSpPr/>
          <p:nvPr/>
        </p:nvSpPr>
        <p:spPr>
          <a:xfrm>
            <a:off x="1523848" y="1188720"/>
            <a:ext cx="9144000" cy="2866880"/>
          </a:xfrm>
          <a:prstGeom prst="roundRect">
            <a:avLst>
              <a:gd fmla="val 5103" name="adj"/>
            </a:avLst>
          </a:prstGeom>
          <a:solidFill>
            <a:srgbClr val="FFFFFF"/>
          </a:solidFill>
          <a:ln cap="flat" cmpd="sng" w="12700">
            <a:solidFill>
              <a:srgbClr val="E1DEEE"/>
            </a:solidFill>
            <a:prstDash val="solid"/>
            <a:round/>
            <a:headEnd len="sm" w="sm" type="none"/>
            <a:tailEnd len="sm" w="sm" type="none"/>
          </a:ln>
          <a:effectLst>
            <a:outerShdw blurRad="228600" rotWithShape="0" algn="t" dir="5400000" dist="50800">
              <a:srgbClr val="20124D">
                <a:alpha val="12941"/>
              </a:srgbClr>
            </a:outerShdw>
          </a:effectLst>
        </p:spPr>
        <p:txBody>
          <a:bodyPr anchorCtr="0" anchor="ctr" bIns="73150" lIns="109725" spcFirstLastPara="1" rIns="109725" wrap="square" tIns="73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23" name="Google Shape;723;p56"/>
          <p:cNvPicPr preferRelativeResize="0"/>
          <p:nvPr/>
        </p:nvPicPr>
        <p:blipFill rotWithShape="1">
          <a:blip r:embed="rId3">
            <a:alphaModFix/>
          </a:blip>
          <a:srcRect b="50421" l="0" r="0" t="0"/>
          <a:stretch/>
        </p:blipFill>
        <p:spPr>
          <a:xfrm>
            <a:off x="1706728" y="1325880"/>
            <a:ext cx="8778240" cy="2592560"/>
          </a:xfrm>
          <a:prstGeom prst="rect">
            <a:avLst/>
          </a:prstGeom>
          <a:noFill/>
          <a:ln>
            <a:noFill/>
          </a:ln>
        </p:spPr>
      </p:pic>
      <p:sp>
        <p:nvSpPr>
          <p:cNvPr id="724" name="Google Shape;724;p56"/>
          <p:cNvSpPr/>
          <p:nvPr/>
        </p:nvSpPr>
        <p:spPr>
          <a:xfrm>
            <a:off x="4947696" y="3010805"/>
            <a:ext cx="1316035" cy="312753"/>
          </a:xfrm>
          <a:prstGeom prst="rect">
            <a:avLst/>
          </a:prstGeom>
          <a:noFill/>
          <a:ln cap="flat" cmpd="sng" w="22225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3150" lIns="109725" spcFirstLastPara="1" rIns="109725" wrap="square" tIns="73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5" name="Google Shape;725;p56"/>
          <p:cNvSpPr/>
          <p:nvPr/>
        </p:nvSpPr>
        <p:spPr>
          <a:xfrm>
            <a:off x="6853762" y="2205252"/>
            <a:ext cx="1920240" cy="310896"/>
          </a:xfrm>
          <a:prstGeom prst="roundRect">
            <a:avLst>
              <a:gd fmla="val 50000" name="adj"/>
            </a:avLst>
          </a:prstGeom>
          <a:solidFill>
            <a:srgbClr val="FBEAE8"/>
          </a:solidFill>
          <a:ln>
            <a:noFill/>
          </a:ln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C0392B"/>
                </a:solidFill>
                <a:latin typeface="Arial"/>
                <a:ea typeface="Arial"/>
                <a:cs typeface="Arial"/>
                <a:sym typeface="Arial"/>
              </a:rPr>
              <a:t>classifier gradient</a:t>
            </a:r>
            <a:endParaRPr/>
          </a:p>
        </p:txBody>
      </p:sp>
      <p:cxnSp>
        <p:nvCxnSpPr>
          <p:cNvPr id="726" name="Google Shape;726;p56"/>
          <p:cNvCxnSpPr/>
          <p:nvPr/>
        </p:nvCxnSpPr>
        <p:spPr>
          <a:xfrm flipH="1">
            <a:off x="6132127" y="2516148"/>
            <a:ext cx="904514" cy="494657"/>
          </a:xfrm>
          <a:prstGeom prst="straightConnector1">
            <a:avLst/>
          </a:prstGeom>
          <a:noFill/>
          <a:ln cap="flat" cmpd="sng" w="19050">
            <a:solidFill>
              <a:srgbClr val="C0392B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727" name="Google Shape;727;p56"/>
          <p:cNvSpPr/>
          <p:nvPr/>
        </p:nvSpPr>
        <p:spPr>
          <a:xfrm>
            <a:off x="1325880" y="4526280"/>
            <a:ext cx="3307080" cy="1691640"/>
          </a:xfrm>
          <a:prstGeom prst="roundRect">
            <a:avLst>
              <a:gd fmla="val 8649" name="adj"/>
            </a:avLst>
          </a:prstGeom>
          <a:solidFill>
            <a:srgbClr val="F4F3FA"/>
          </a:solidFill>
          <a:ln>
            <a:noFill/>
          </a:ln>
        </p:spPr>
        <p:txBody>
          <a:bodyPr anchorCtr="0" anchor="ctr" bIns="73150" lIns="109725" spcFirstLastPara="1" rIns="109725" wrap="square" tIns="73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8" name="Google Shape;728;p56"/>
          <p:cNvSpPr/>
          <p:nvPr/>
        </p:nvSpPr>
        <p:spPr>
          <a:xfrm>
            <a:off x="1554480" y="4754880"/>
            <a:ext cx="384048" cy="384048"/>
          </a:xfrm>
          <a:prstGeom prst="ellipse">
            <a:avLst/>
          </a:prstGeom>
          <a:solidFill>
            <a:srgbClr val="159AAE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</a:t>
            </a:r>
            <a:endParaRPr/>
          </a:p>
        </p:txBody>
      </p:sp>
      <p:sp>
        <p:nvSpPr>
          <p:cNvPr id="729" name="Google Shape;729;p56"/>
          <p:cNvSpPr txBox="1"/>
          <p:nvPr/>
        </p:nvSpPr>
        <p:spPr>
          <a:xfrm>
            <a:off x="2057400" y="4709160"/>
            <a:ext cx="23926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23213A"/>
                </a:solidFill>
                <a:latin typeface="Arial"/>
                <a:ea typeface="Arial"/>
                <a:cs typeface="Arial"/>
                <a:sym typeface="Arial"/>
              </a:rPr>
              <a:t>Class-conditional modeling of</a:t>
            </a:r>
            <a:endParaRPr/>
          </a:p>
        </p:txBody>
      </p:sp>
      <p:pic>
        <p:nvPicPr>
          <p:cNvPr id="730" name="Google Shape;730;p56" title="{&quot;red&quot;:7,&quot;green&quot;:55,&quot;blue&quot;:99,&quot;origURL&quot;:&quot;https://www.codecogs.com/eqnedit.php?latex=p(x_t%7Cc)#0&quot;,&quot;size&quot;:18,&quot;width&quot;:347.3622047244094,&quot;height&quot;:36.354330708661415}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354579" y="5623560"/>
            <a:ext cx="1249681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731" name="Google Shape;731;p56"/>
          <p:cNvSpPr/>
          <p:nvPr/>
        </p:nvSpPr>
        <p:spPr>
          <a:xfrm>
            <a:off x="4861560" y="4526280"/>
            <a:ext cx="3307080" cy="1691640"/>
          </a:xfrm>
          <a:prstGeom prst="roundRect">
            <a:avLst>
              <a:gd fmla="val 8649" name="adj"/>
            </a:avLst>
          </a:prstGeom>
          <a:solidFill>
            <a:srgbClr val="F4F3FA"/>
          </a:solidFill>
          <a:ln>
            <a:noFill/>
          </a:ln>
        </p:spPr>
        <p:txBody>
          <a:bodyPr anchorCtr="0" anchor="ctr" bIns="73150" lIns="109725" spcFirstLastPara="1" rIns="109725" wrap="square" tIns="73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2" name="Google Shape;732;p56"/>
          <p:cNvSpPr/>
          <p:nvPr/>
        </p:nvSpPr>
        <p:spPr>
          <a:xfrm>
            <a:off x="5090160" y="4754880"/>
            <a:ext cx="384048" cy="384048"/>
          </a:xfrm>
          <a:prstGeom prst="ellipse">
            <a:avLst/>
          </a:prstGeom>
          <a:solidFill>
            <a:srgbClr val="159AAE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2</a:t>
            </a:r>
            <a:endParaRPr/>
          </a:p>
        </p:txBody>
      </p:sp>
      <p:sp>
        <p:nvSpPr>
          <p:cNvPr id="733" name="Google Shape;733;p56"/>
          <p:cNvSpPr txBox="1"/>
          <p:nvPr/>
        </p:nvSpPr>
        <p:spPr>
          <a:xfrm>
            <a:off x="5593080" y="4709160"/>
            <a:ext cx="23926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23213A"/>
                </a:solidFill>
                <a:latin typeface="Arial"/>
                <a:ea typeface="Arial"/>
                <a:cs typeface="Arial"/>
                <a:sym typeface="Arial"/>
              </a:rPr>
              <a:t>Train an extra classifier</a:t>
            </a:r>
            <a:endParaRPr/>
          </a:p>
        </p:txBody>
      </p:sp>
      <p:pic>
        <p:nvPicPr>
          <p:cNvPr id="734" name="Google Shape;734;p56" title="{&quot;red&quot;:7,&quot;green&quot;:55,&quot;blue&quot;:99,&quot;origURL&quot;:&quot;https://www.codecogs.com/eqnedit.php?latex=p(c%7Cx_t)#0&quot;,&quot;size&quot;:18,&quot;width&quot;:331.5826771653543,&quot;height&quot;:36.354330708661415}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90259" y="5623560"/>
            <a:ext cx="1249681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735" name="Google Shape;735;p56"/>
          <p:cNvSpPr/>
          <p:nvPr/>
        </p:nvSpPr>
        <p:spPr>
          <a:xfrm>
            <a:off x="8397240" y="4526280"/>
            <a:ext cx="3307080" cy="1691640"/>
          </a:xfrm>
          <a:prstGeom prst="roundRect">
            <a:avLst>
              <a:gd fmla="val 8649" name="adj"/>
            </a:avLst>
          </a:prstGeom>
          <a:solidFill>
            <a:srgbClr val="F4F3FA"/>
          </a:solidFill>
          <a:ln>
            <a:noFill/>
          </a:ln>
        </p:spPr>
        <p:txBody>
          <a:bodyPr anchorCtr="0" anchor="ctr" bIns="73150" lIns="109725" spcFirstLastPara="1" rIns="109725" wrap="square" tIns="73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6" name="Google Shape;736;p56"/>
          <p:cNvSpPr/>
          <p:nvPr/>
        </p:nvSpPr>
        <p:spPr>
          <a:xfrm>
            <a:off x="8625840" y="4754880"/>
            <a:ext cx="384048" cy="384048"/>
          </a:xfrm>
          <a:prstGeom prst="ellipse">
            <a:avLst/>
          </a:prstGeom>
          <a:solidFill>
            <a:srgbClr val="159AAE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3</a:t>
            </a:r>
            <a:endParaRPr/>
          </a:p>
        </p:txBody>
      </p:sp>
      <p:sp>
        <p:nvSpPr>
          <p:cNvPr id="737" name="Google Shape;737;p56"/>
          <p:cNvSpPr txBox="1"/>
          <p:nvPr/>
        </p:nvSpPr>
        <p:spPr>
          <a:xfrm>
            <a:off x="9128760" y="4709160"/>
            <a:ext cx="23926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23213A"/>
                </a:solidFill>
                <a:latin typeface="Arial"/>
                <a:ea typeface="Arial"/>
                <a:cs typeface="Arial"/>
                <a:sym typeface="Arial"/>
              </a:rPr>
              <a:t>Mix its gradient with the diffusion model during sampling</a:t>
            </a:r>
            <a:endParaRPr/>
          </a:p>
        </p:txBody>
      </p:sp>
      <p:sp>
        <p:nvSpPr>
          <p:cNvPr id="738" name="Google Shape;738;p56"/>
          <p:cNvSpPr txBox="1"/>
          <p:nvPr/>
        </p:nvSpPr>
        <p:spPr>
          <a:xfrm>
            <a:off x="9966960" y="6327648"/>
            <a:ext cx="17830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6"/>
              </a:rPr>
              <a:t>Source</a:t>
            </a:r>
            <a:endParaRPr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2" name="Shape 7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3" name="Google Shape;743;p57"/>
          <p:cNvSpPr txBox="1"/>
          <p:nvPr/>
        </p:nvSpPr>
        <p:spPr>
          <a:xfrm>
            <a:off x="566928" y="310896"/>
            <a:ext cx="8686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159AA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04 · DDPM &amp; GUIDANCE</a:t>
            </a:r>
            <a:endParaRPr/>
          </a:p>
        </p:txBody>
      </p:sp>
      <p:sp>
        <p:nvSpPr>
          <p:cNvPr id="744" name="Google Shape;744;p57"/>
          <p:cNvSpPr txBox="1"/>
          <p:nvPr/>
        </p:nvSpPr>
        <p:spPr>
          <a:xfrm>
            <a:off x="548640" y="566928"/>
            <a:ext cx="96926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20124D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Classifier-free guidance: training</a:t>
            </a:r>
            <a:endParaRPr/>
          </a:p>
        </p:txBody>
      </p:sp>
      <p:sp>
        <p:nvSpPr>
          <p:cNvPr id="745" name="Google Shape;745;p57"/>
          <p:cNvSpPr/>
          <p:nvPr/>
        </p:nvSpPr>
        <p:spPr>
          <a:xfrm>
            <a:off x="1188720" y="1672965"/>
            <a:ext cx="10332720" cy="3969269"/>
          </a:xfrm>
          <a:prstGeom prst="roundRect">
            <a:avLst>
              <a:gd fmla="val 3686" name="adj"/>
            </a:avLst>
          </a:prstGeom>
          <a:solidFill>
            <a:srgbClr val="FFFFFF"/>
          </a:solidFill>
          <a:ln cap="flat" cmpd="sng" w="12700">
            <a:solidFill>
              <a:srgbClr val="E1DEEE"/>
            </a:solidFill>
            <a:prstDash val="solid"/>
            <a:round/>
            <a:headEnd len="sm" w="sm" type="none"/>
            <a:tailEnd len="sm" w="sm" type="none"/>
          </a:ln>
          <a:effectLst>
            <a:outerShdw blurRad="228600" rotWithShape="0" algn="t" dir="5400000" dist="50800">
              <a:srgbClr val="20124D">
                <a:alpha val="12941"/>
              </a:srgbClr>
            </a:outerShdw>
          </a:effectLst>
        </p:spPr>
        <p:txBody>
          <a:bodyPr anchorCtr="0" anchor="ctr" bIns="73150" lIns="109725" spcFirstLastPara="1" rIns="109725" wrap="square" tIns="73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46" name="Google Shape;746;p5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17320" y="1901565"/>
            <a:ext cx="9875520" cy="3512069"/>
          </a:xfrm>
          <a:prstGeom prst="rect">
            <a:avLst/>
          </a:prstGeom>
          <a:noFill/>
          <a:ln>
            <a:noFill/>
          </a:ln>
        </p:spPr>
      </p:pic>
      <p:sp>
        <p:nvSpPr>
          <p:cNvPr id="747" name="Google Shape;747;p57"/>
          <p:cNvSpPr txBox="1"/>
          <p:nvPr/>
        </p:nvSpPr>
        <p:spPr>
          <a:xfrm>
            <a:off x="9966960" y="6327648"/>
            <a:ext cx="17830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4"/>
              </a:rPr>
              <a:t>Source</a:t>
            </a:r>
            <a:endParaRPr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1" name="Shape 7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2" name="Google Shape;752;p58"/>
          <p:cNvSpPr txBox="1"/>
          <p:nvPr/>
        </p:nvSpPr>
        <p:spPr>
          <a:xfrm>
            <a:off x="566928" y="310896"/>
            <a:ext cx="8686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159AA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04 · DDPM &amp; GUIDANCE</a:t>
            </a:r>
            <a:endParaRPr/>
          </a:p>
        </p:txBody>
      </p:sp>
      <p:sp>
        <p:nvSpPr>
          <p:cNvPr id="753" name="Google Shape;753;p58"/>
          <p:cNvSpPr txBox="1"/>
          <p:nvPr/>
        </p:nvSpPr>
        <p:spPr>
          <a:xfrm>
            <a:off x="548640" y="566928"/>
            <a:ext cx="96926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20124D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Classifier-free guidance: sampling</a:t>
            </a:r>
            <a:endParaRPr/>
          </a:p>
        </p:txBody>
      </p:sp>
      <p:sp>
        <p:nvSpPr>
          <p:cNvPr id="754" name="Google Shape;754;p58"/>
          <p:cNvSpPr/>
          <p:nvPr/>
        </p:nvSpPr>
        <p:spPr>
          <a:xfrm>
            <a:off x="975208" y="1216152"/>
            <a:ext cx="10241280" cy="4372356"/>
          </a:xfrm>
          <a:prstGeom prst="roundRect">
            <a:avLst>
              <a:gd fmla="val 3346" name="adj"/>
            </a:avLst>
          </a:prstGeom>
          <a:solidFill>
            <a:srgbClr val="FFFFFF"/>
          </a:solidFill>
          <a:ln cap="flat" cmpd="sng" w="12700">
            <a:solidFill>
              <a:srgbClr val="E1DEEE"/>
            </a:solidFill>
            <a:prstDash val="solid"/>
            <a:round/>
            <a:headEnd len="sm" w="sm" type="none"/>
            <a:tailEnd len="sm" w="sm" type="none"/>
          </a:ln>
          <a:effectLst>
            <a:outerShdw blurRad="228600" rotWithShape="0" algn="t" dir="5400000" dist="50800">
              <a:srgbClr val="20124D">
                <a:alpha val="12941"/>
              </a:srgbClr>
            </a:outerShdw>
          </a:effectLst>
        </p:spPr>
        <p:txBody>
          <a:bodyPr anchorCtr="0" anchor="ctr" bIns="73150" lIns="109725" spcFirstLastPara="1" rIns="109725" wrap="square" tIns="73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55" name="Google Shape;755;p5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12368" y="1325880"/>
            <a:ext cx="9966960" cy="4152900"/>
          </a:xfrm>
          <a:prstGeom prst="rect">
            <a:avLst/>
          </a:prstGeom>
          <a:noFill/>
          <a:ln>
            <a:noFill/>
          </a:ln>
        </p:spPr>
      </p:pic>
      <p:sp>
        <p:nvSpPr>
          <p:cNvPr id="756" name="Google Shape;756;p58"/>
          <p:cNvSpPr/>
          <p:nvPr/>
        </p:nvSpPr>
        <p:spPr>
          <a:xfrm>
            <a:off x="2179565" y="3642812"/>
            <a:ext cx="3010231" cy="293254"/>
          </a:xfrm>
          <a:prstGeom prst="rect">
            <a:avLst/>
          </a:prstGeom>
          <a:noFill/>
          <a:ln cap="flat" cmpd="sng" w="22225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3150" lIns="109725" spcFirstLastPara="1" rIns="109725" wrap="square" tIns="73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7" name="Google Shape;757;p58"/>
          <p:cNvSpPr txBox="1"/>
          <p:nvPr/>
        </p:nvSpPr>
        <p:spPr>
          <a:xfrm>
            <a:off x="9966960" y="6327648"/>
            <a:ext cx="17830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4"/>
              </a:rPr>
              <a:t>Source</a:t>
            </a:r>
            <a:endParaRPr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1" name="Shape 7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2" name="Google Shape;762;p59"/>
          <p:cNvSpPr txBox="1"/>
          <p:nvPr/>
        </p:nvSpPr>
        <p:spPr>
          <a:xfrm>
            <a:off x="566928" y="310896"/>
            <a:ext cx="8686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159AA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04 · DDPM &amp; GUIDANCE</a:t>
            </a:r>
            <a:endParaRPr/>
          </a:p>
        </p:txBody>
      </p:sp>
      <p:sp>
        <p:nvSpPr>
          <p:cNvPr id="763" name="Google Shape;763;p59"/>
          <p:cNvSpPr txBox="1"/>
          <p:nvPr/>
        </p:nvSpPr>
        <p:spPr>
          <a:xfrm>
            <a:off x="548640" y="566928"/>
            <a:ext cx="96926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20124D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Classifier-free guidance: effect of scale w</a:t>
            </a:r>
            <a:endParaRPr/>
          </a:p>
        </p:txBody>
      </p:sp>
      <p:sp>
        <p:nvSpPr>
          <p:cNvPr id="764" name="Google Shape;764;p59"/>
          <p:cNvSpPr/>
          <p:nvPr/>
        </p:nvSpPr>
        <p:spPr>
          <a:xfrm>
            <a:off x="1661008" y="1325880"/>
            <a:ext cx="1737360" cy="384048"/>
          </a:xfrm>
          <a:prstGeom prst="roundRect">
            <a:avLst>
              <a:gd fmla="val 50000" name="adj"/>
            </a:avLst>
          </a:prstGeom>
          <a:solidFill>
            <a:srgbClr val="F4F3FA"/>
          </a:solidFill>
          <a:ln>
            <a:noFill/>
          </a:ln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20124D"/>
                </a:solidFill>
                <a:latin typeface="Arial"/>
                <a:ea typeface="Arial"/>
                <a:cs typeface="Arial"/>
                <a:sym typeface="Arial"/>
              </a:rPr>
              <a:t>no guidance</a:t>
            </a:r>
            <a:endParaRPr/>
          </a:p>
        </p:txBody>
      </p:sp>
      <p:sp>
        <p:nvSpPr>
          <p:cNvPr id="765" name="Google Shape;765;p59"/>
          <p:cNvSpPr/>
          <p:nvPr/>
        </p:nvSpPr>
        <p:spPr>
          <a:xfrm>
            <a:off x="833476" y="1874520"/>
            <a:ext cx="3392424" cy="3392424"/>
          </a:xfrm>
          <a:prstGeom prst="roundRect">
            <a:avLst>
              <a:gd fmla="val 4313" name="adj"/>
            </a:avLst>
          </a:prstGeom>
          <a:solidFill>
            <a:srgbClr val="FFFFFF"/>
          </a:solidFill>
          <a:ln cap="flat" cmpd="sng" w="12700">
            <a:solidFill>
              <a:srgbClr val="E1DEEE"/>
            </a:solidFill>
            <a:prstDash val="solid"/>
            <a:round/>
            <a:headEnd len="sm" w="sm" type="none"/>
            <a:tailEnd len="sm" w="sm" type="none"/>
          </a:ln>
          <a:effectLst>
            <a:outerShdw blurRad="228600" rotWithShape="0" algn="t" dir="5400000" dist="50800">
              <a:srgbClr val="20124D">
                <a:alpha val="12941"/>
              </a:srgbClr>
            </a:outerShdw>
          </a:effectLst>
        </p:spPr>
        <p:txBody>
          <a:bodyPr anchorCtr="0" anchor="ctr" bIns="73150" lIns="109725" spcFirstLastPara="1" rIns="109725" wrap="square" tIns="73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66" name="Google Shape;766;p5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06628" y="1947672"/>
            <a:ext cx="3246120" cy="3246120"/>
          </a:xfrm>
          <a:prstGeom prst="roundRect">
            <a:avLst>
              <a:gd fmla="val 1690" name="adj"/>
            </a:avLst>
          </a:prstGeom>
          <a:noFill/>
          <a:ln>
            <a:noFill/>
          </a:ln>
        </p:spPr>
      </p:pic>
      <p:sp>
        <p:nvSpPr>
          <p:cNvPr id="767" name="Google Shape;767;p59"/>
          <p:cNvSpPr/>
          <p:nvPr/>
        </p:nvSpPr>
        <p:spPr>
          <a:xfrm>
            <a:off x="5227168" y="1325880"/>
            <a:ext cx="1737360" cy="384048"/>
          </a:xfrm>
          <a:prstGeom prst="roundRect">
            <a:avLst>
              <a:gd fmla="val 50000" name="adj"/>
            </a:avLst>
          </a:prstGeom>
          <a:solidFill>
            <a:srgbClr val="E4E0F7"/>
          </a:solidFill>
          <a:ln>
            <a:noFill/>
          </a:ln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20124D"/>
                </a:solidFill>
                <a:latin typeface="Arial"/>
                <a:ea typeface="Arial"/>
                <a:cs typeface="Arial"/>
                <a:sym typeface="Arial"/>
              </a:rPr>
              <a:t>w = 1</a:t>
            </a:r>
            <a:endParaRPr/>
          </a:p>
        </p:txBody>
      </p:sp>
      <p:sp>
        <p:nvSpPr>
          <p:cNvPr id="768" name="Google Shape;768;p59"/>
          <p:cNvSpPr/>
          <p:nvPr/>
        </p:nvSpPr>
        <p:spPr>
          <a:xfrm>
            <a:off x="4399636" y="1874520"/>
            <a:ext cx="3392424" cy="3392424"/>
          </a:xfrm>
          <a:prstGeom prst="roundRect">
            <a:avLst>
              <a:gd fmla="val 4313" name="adj"/>
            </a:avLst>
          </a:prstGeom>
          <a:solidFill>
            <a:srgbClr val="FFFFFF"/>
          </a:solidFill>
          <a:ln cap="flat" cmpd="sng" w="12700">
            <a:solidFill>
              <a:srgbClr val="E1DEEE"/>
            </a:solidFill>
            <a:prstDash val="solid"/>
            <a:round/>
            <a:headEnd len="sm" w="sm" type="none"/>
            <a:tailEnd len="sm" w="sm" type="none"/>
          </a:ln>
          <a:effectLst>
            <a:outerShdw blurRad="228600" rotWithShape="0" algn="t" dir="5400000" dist="50800">
              <a:srgbClr val="20124D">
                <a:alpha val="12941"/>
              </a:srgbClr>
            </a:outerShdw>
          </a:effectLst>
        </p:spPr>
        <p:txBody>
          <a:bodyPr anchorCtr="0" anchor="ctr" bIns="73150" lIns="109725" spcFirstLastPara="1" rIns="109725" wrap="square" tIns="73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69" name="Google Shape;769;p5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472788" y="1947672"/>
            <a:ext cx="3246120" cy="3246120"/>
          </a:xfrm>
          <a:prstGeom prst="roundRect">
            <a:avLst>
              <a:gd fmla="val 1690" name="adj"/>
            </a:avLst>
          </a:prstGeom>
          <a:noFill/>
          <a:ln>
            <a:noFill/>
          </a:ln>
        </p:spPr>
      </p:pic>
      <p:sp>
        <p:nvSpPr>
          <p:cNvPr id="770" name="Google Shape;770;p59"/>
          <p:cNvSpPr/>
          <p:nvPr/>
        </p:nvSpPr>
        <p:spPr>
          <a:xfrm>
            <a:off x="8793328" y="1325880"/>
            <a:ext cx="1737360" cy="384048"/>
          </a:xfrm>
          <a:prstGeom prst="roundRect">
            <a:avLst>
              <a:gd fmla="val 50000" name="adj"/>
            </a:avLst>
          </a:prstGeom>
          <a:solidFill>
            <a:srgbClr val="D6CEF5"/>
          </a:solidFill>
          <a:ln>
            <a:noFill/>
          </a:ln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20124D"/>
                </a:solidFill>
                <a:latin typeface="Arial"/>
                <a:ea typeface="Arial"/>
                <a:cs typeface="Arial"/>
                <a:sym typeface="Arial"/>
              </a:rPr>
              <a:t>w = 3</a:t>
            </a:r>
            <a:endParaRPr/>
          </a:p>
        </p:txBody>
      </p:sp>
      <p:sp>
        <p:nvSpPr>
          <p:cNvPr id="771" name="Google Shape;771;p59"/>
          <p:cNvSpPr/>
          <p:nvPr/>
        </p:nvSpPr>
        <p:spPr>
          <a:xfrm>
            <a:off x="7965796" y="1874520"/>
            <a:ext cx="3392424" cy="3392424"/>
          </a:xfrm>
          <a:prstGeom prst="roundRect">
            <a:avLst>
              <a:gd fmla="val 4313" name="adj"/>
            </a:avLst>
          </a:prstGeom>
          <a:solidFill>
            <a:srgbClr val="FFFFFF"/>
          </a:solidFill>
          <a:ln cap="flat" cmpd="sng" w="12700">
            <a:solidFill>
              <a:srgbClr val="E1DEEE"/>
            </a:solidFill>
            <a:prstDash val="solid"/>
            <a:round/>
            <a:headEnd len="sm" w="sm" type="none"/>
            <a:tailEnd len="sm" w="sm" type="none"/>
          </a:ln>
          <a:effectLst>
            <a:outerShdw blurRad="228600" rotWithShape="0" algn="t" dir="5400000" dist="50800">
              <a:srgbClr val="20124D">
                <a:alpha val="12941"/>
              </a:srgbClr>
            </a:outerShdw>
          </a:effectLst>
        </p:spPr>
        <p:txBody>
          <a:bodyPr anchorCtr="0" anchor="ctr" bIns="73150" lIns="109725" spcFirstLastPara="1" rIns="109725" wrap="square" tIns="73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72" name="Google Shape;772;p5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038948" y="1947672"/>
            <a:ext cx="3246120" cy="3246120"/>
          </a:xfrm>
          <a:prstGeom prst="roundRect">
            <a:avLst>
              <a:gd fmla="val 1690" name="adj"/>
            </a:avLst>
          </a:prstGeom>
          <a:noFill/>
          <a:ln>
            <a:noFill/>
          </a:ln>
        </p:spPr>
      </p:pic>
      <p:cxnSp>
        <p:nvCxnSpPr>
          <p:cNvPr id="773" name="Google Shape;773;p59"/>
          <p:cNvCxnSpPr/>
          <p:nvPr/>
        </p:nvCxnSpPr>
        <p:spPr>
          <a:xfrm>
            <a:off x="1180948" y="5532120"/>
            <a:ext cx="9829800" cy="0"/>
          </a:xfrm>
          <a:prstGeom prst="straightConnector1">
            <a:avLst/>
          </a:prstGeom>
          <a:noFill/>
          <a:ln cap="flat" cmpd="sng" w="25400">
            <a:solidFill>
              <a:srgbClr val="5B3FC4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774" name="Google Shape;774;p59"/>
          <p:cNvSpPr txBox="1"/>
          <p:nvPr/>
        </p:nvSpPr>
        <p:spPr>
          <a:xfrm>
            <a:off x="906628" y="5623560"/>
            <a:ext cx="103784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5B3FC4"/>
                </a:solidFill>
                <a:latin typeface="Arial"/>
                <a:ea typeface="Arial"/>
                <a:cs typeface="Arial"/>
                <a:sym typeface="Arial"/>
              </a:rPr>
              <a:t>stronger guidance → higher fidelity, lower diversity</a:t>
            </a:r>
            <a:endParaRPr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8" name="Shape 7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9" name="Google Shape;779;p60"/>
          <p:cNvSpPr txBox="1"/>
          <p:nvPr/>
        </p:nvSpPr>
        <p:spPr>
          <a:xfrm>
            <a:off x="1097280" y="1600200"/>
            <a:ext cx="5486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6FD3E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05</a:t>
            </a:r>
            <a:endParaRPr/>
          </a:p>
        </p:txBody>
      </p:sp>
      <p:sp>
        <p:nvSpPr>
          <p:cNvPr id="780" name="Google Shape;780;p60"/>
          <p:cNvSpPr txBox="1"/>
          <p:nvPr/>
        </p:nvSpPr>
        <p:spPr>
          <a:xfrm>
            <a:off x="1097280" y="2148840"/>
            <a:ext cx="5669280" cy="173736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Text-to-image</a:t>
            </a:r>
            <a:endParaRPr/>
          </a:p>
        </p:txBody>
      </p:sp>
      <p:sp>
        <p:nvSpPr>
          <p:cNvPr id="781" name="Google Shape;781;p60"/>
          <p:cNvSpPr txBox="1"/>
          <p:nvPr/>
        </p:nvSpPr>
        <p:spPr>
          <a:xfrm>
            <a:off x="1097280" y="4114800"/>
            <a:ext cx="54864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CFC8F2"/>
                </a:solidFill>
                <a:latin typeface="Arial"/>
                <a:ea typeface="Arial"/>
                <a:cs typeface="Arial"/>
                <a:sym typeface="Arial"/>
              </a:rPr>
              <a:t>GLIDE</a:t>
            </a:r>
            <a:r>
              <a:rPr lang="en-US" sz="1700">
                <a:solidFill>
                  <a:srgbClr val="CFC8F2"/>
                </a:solidFill>
              </a:rPr>
              <a:t>, </a:t>
            </a:r>
            <a:r>
              <a:rPr b="0" i="0" lang="en-US" sz="1700" u="none" cap="none" strike="noStrike">
                <a:solidFill>
                  <a:srgbClr val="CFC8F2"/>
                </a:solidFill>
                <a:latin typeface="Arial"/>
                <a:ea typeface="Arial"/>
                <a:cs typeface="Arial"/>
                <a:sym typeface="Arial"/>
              </a:rPr>
              <a:t>Imagen, D</a:t>
            </a:r>
            <a:r>
              <a:rPr lang="en-US" sz="1700">
                <a:solidFill>
                  <a:srgbClr val="CFC8F2"/>
                </a:solidFill>
              </a:rPr>
              <a:t>ALLE</a:t>
            </a:r>
            <a:endParaRPr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5" name="Shape 7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6" name="Google Shape;786;p61"/>
          <p:cNvSpPr txBox="1"/>
          <p:nvPr/>
        </p:nvSpPr>
        <p:spPr>
          <a:xfrm>
            <a:off x="566928" y="310896"/>
            <a:ext cx="8686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159AA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05 · TEXT-TO-IMAGE</a:t>
            </a:r>
            <a:endParaRPr/>
          </a:p>
        </p:txBody>
      </p:sp>
      <p:sp>
        <p:nvSpPr>
          <p:cNvPr id="787" name="Google Shape;787;p61"/>
          <p:cNvSpPr txBox="1"/>
          <p:nvPr/>
        </p:nvSpPr>
        <p:spPr>
          <a:xfrm>
            <a:off x="548640" y="566928"/>
            <a:ext cx="96926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20124D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GLIDE: text-guided generation</a:t>
            </a:r>
            <a:endParaRPr/>
          </a:p>
        </p:txBody>
      </p:sp>
      <p:sp>
        <p:nvSpPr>
          <p:cNvPr id="788" name="Google Shape;788;p61"/>
          <p:cNvSpPr/>
          <p:nvPr/>
        </p:nvSpPr>
        <p:spPr>
          <a:xfrm>
            <a:off x="2209687" y="1188720"/>
            <a:ext cx="8565105" cy="5074920"/>
          </a:xfrm>
          <a:prstGeom prst="roundRect">
            <a:avLst>
              <a:gd fmla="val 2883" name="adj"/>
            </a:avLst>
          </a:prstGeom>
          <a:solidFill>
            <a:srgbClr val="FFFFFF"/>
          </a:solidFill>
          <a:ln cap="flat" cmpd="sng" w="12700">
            <a:solidFill>
              <a:srgbClr val="E1DEEE"/>
            </a:solidFill>
            <a:prstDash val="solid"/>
            <a:round/>
            <a:headEnd len="sm" w="sm" type="none"/>
            <a:tailEnd len="sm" w="sm" type="none"/>
          </a:ln>
          <a:effectLst>
            <a:outerShdw blurRad="228600" rotWithShape="0" algn="t" dir="5400000" dist="50800">
              <a:srgbClr val="20124D">
                <a:alpha val="12941"/>
              </a:srgbClr>
            </a:outerShdw>
          </a:effectLst>
        </p:spPr>
        <p:txBody>
          <a:bodyPr anchorCtr="0" anchor="ctr" bIns="73150" lIns="109725" spcFirstLastPara="1" rIns="109725" wrap="square" tIns="73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89" name="Google Shape;789;p6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19415" y="1298448"/>
            <a:ext cx="8345649" cy="4855464"/>
          </a:xfrm>
          <a:prstGeom prst="rect">
            <a:avLst/>
          </a:prstGeom>
          <a:noFill/>
          <a:ln>
            <a:noFill/>
          </a:ln>
        </p:spPr>
      </p:pic>
      <p:sp>
        <p:nvSpPr>
          <p:cNvPr id="790" name="Google Shape;790;p61"/>
          <p:cNvSpPr txBox="1"/>
          <p:nvPr/>
        </p:nvSpPr>
        <p:spPr>
          <a:xfrm>
            <a:off x="9966960" y="6327648"/>
            <a:ext cx="17830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4"/>
              </a:rPr>
              <a:t>Source</a:t>
            </a:r>
            <a:endParaRPr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4" name="Shape 7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5" name="Google Shape;795;p62"/>
          <p:cNvSpPr txBox="1"/>
          <p:nvPr/>
        </p:nvSpPr>
        <p:spPr>
          <a:xfrm>
            <a:off x="566928" y="310896"/>
            <a:ext cx="8686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159AA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05 · TEXT-TO-IMAGE</a:t>
            </a:r>
            <a:endParaRPr/>
          </a:p>
        </p:txBody>
      </p:sp>
      <p:sp>
        <p:nvSpPr>
          <p:cNvPr id="796" name="Google Shape;796;p62"/>
          <p:cNvSpPr txBox="1"/>
          <p:nvPr/>
        </p:nvSpPr>
        <p:spPr>
          <a:xfrm>
            <a:off x="548640" y="566928"/>
            <a:ext cx="96926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20124D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GLIDE: CLIP guidance vs classifier-free</a:t>
            </a:r>
            <a:endParaRPr/>
          </a:p>
        </p:txBody>
      </p:sp>
      <p:sp>
        <p:nvSpPr>
          <p:cNvPr id="797" name="Google Shape;797;p62"/>
          <p:cNvSpPr/>
          <p:nvPr/>
        </p:nvSpPr>
        <p:spPr>
          <a:xfrm>
            <a:off x="1813095" y="1188720"/>
            <a:ext cx="9358290" cy="5074920"/>
          </a:xfrm>
          <a:prstGeom prst="roundRect">
            <a:avLst>
              <a:gd fmla="val 2883" name="adj"/>
            </a:avLst>
          </a:prstGeom>
          <a:solidFill>
            <a:srgbClr val="FFFFFF"/>
          </a:solidFill>
          <a:ln cap="flat" cmpd="sng" w="12700">
            <a:solidFill>
              <a:srgbClr val="E1DEEE"/>
            </a:solidFill>
            <a:prstDash val="solid"/>
            <a:round/>
            <a:headEnd len="sm" w="sm" type="none"/>
            <a:tailEnd len="sm" w="sm" type="none"/>
          </a:ln>
          <a:effectLst>
            <a:outerShdw blurRad="228600" rotWithShape="0" algn="t" dir="5400000" dist="50800">
              <a:srgbClr val="20124D">
                <a:alpha val="12941"/>
              </a:srgbClr>
            </a:outerShdw>
          </a:effectLst>
        </p:spPr>
        <p:txBody>
          <a:bodyPr anchorCtr="0" anchor="ctr" bIns="73150" lIns="109725" spcFirstLastPara="1" rIns="109725" wrap="square" tIns="73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98" name="Google Shape;798;p6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22823" y="1298448"/>
            <a:ext cx="9138834" cy="4855464"/>
          </a:xfrm>
          <a:prstGeom prst="rect">
            <a:avLst/>
          </a:prstGeom>
          <a:noFill/>
          <a:ln>
            <a:noFill/>
          </a:ln>
        </p:spPr>
      </p:pic>
      <p:sp>
        <p:nvSpPr>
          <p:cNvPr id="799" name="Google Shape;799;p62"/>
          <p:cNvSpPr txBox="1"/>
          <p:nvPr/>
        </p:nvSpPr>
        <p:spPr>
          <a:xfrm>
            <a:off x="9966960" y="6327648"/>
            <a:ext cx="17830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4"/>
              </a:rPr>
              <a:t>Source</a:t>
            </a:r>
            <a:endParaRPr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3" name="Shape 8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4" name="Google Shape;804;p63"/>
          <p:cNvSpPr txBox="1"/>
          <p:nvPr/>
        </p:nvSpPr>
        <p:spPr>
          <a:xfrm>
            <a:off x="566928" y="310896"/>
            <a:ext cx="8686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159AA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05 · TEXT-TO-IMAGE</a:t>
            </a:r>
            <a:endParaRPr/>
          </a:p>
        </p:txBody>
      </p:sp>
      <p:sp>
        <p:nvSpPr>
          <p:cNvPr id="805" name="Google Shape;805;p63"/>
          <p:cNvSpPr txBox="1"/>
          <p:nvPr/>
        </p:nvSpPr>
        <p:spPr>
          <a:xfrm>
            <a:off x="548640" y="566928"/>
            <a:ext cx="96926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20124D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Imagen: cascaded diffusion</a:t>
            </a:r>
            <a:endParaRPr/>
          </a:p>
        </p:txBody>
      </p:sp>
      <p:sp>
        <p:nvSpPr>
          <p:cNvPr id="806" name="Google Shape;806;p63"/>
          <p:cNvSpPr/>
          <p:nvPr/>
        </p:nvSpPr>
        <p:spPr>
          <a:xfrm>
            <a:off x="1394460" y="1188720"/>
            <a:ext cx="4146327" cy="4692153"/>
          </a:xfrm>
          <a:prstGeom prst="roundRect">
            <a:avLst>
              <a:gd fmla="val 3529" name="adj"/>
            </a:avLst>
          </a:prstGeom>
          <a:solidFill>
            <a:srgbClr val="FFFFFF"/>
          </a:solidFill>
          <a:ln cap="flat" cmpd="sng" w="12700">
            <a:solidFill>
              <a:srgbClr val="E1DEEE"/>
            </a:solidFill>
            <a:prstDash val="solid"/>
            <a:round/>
            <a:headEnd len="sm" w="sm" type="none"/>
            <a:tailEnd len="sm" w="sm" type="none"/>
          </a:ln>
          <a:effectLst>
            <a:outerShdw blurRad="228600" rotWithShape="0" algn="t" dir="5400000" dist="50800">
              <a:srgbClr val="20124D">
                <a:alpha val="12941"/>
              </a:srgbClr>
            </a:outerShdw>
          </a:effectLst>
        </p:spPr>
        <p:txBody>
          <a:bodyPr anchorCtr="0" anchor="ctr" bIns="73150" lIns="109725" spcFirstLastPara="1" rIns="109725" wrap="square" tIns="73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07" name="Google Shape;807;p6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85900" y="1280160"/>
            <a:ext cx="3963447" cy="4509273"/>
          </a:xfrm>
          <a:prstGeom prst="rect">
            <a:avLst/>
          </a:prstGeom>
          <a:noFill/>
          <a:ln>
            <a:noFill/>
          </a:ln>
        </p:spPr>
      </p:pic>
      <p:sp>
        <p:nvSpPr>
          <p:cNvPr id="808" name="Google Shape;808;p63"/>
          <p:cNvSpPr/>
          <p:nvPr/>
        </p:nvSpPr>
        <p:spPr>
          <a:xfrm>
            <a:off x="5769387" y="1188720"/>
            <a:ext cx="5957793" cy="4692153"/>
          </a:xfrm>
          <a:prstGeom prst="roundRect">
            <a:avLst>
              <a:gd fmla="val 3118" name="adj"/>
            </a:avLst>
          </a:prstGeom>
          <a:solidFill>
            <a:srgbClr val="FFFFFF"/>
          </a:solidFill>
          <a:ln cap="flat" cmpd="sng" w="12700">
            <a:solidFill>
              <a:srgbClr val="E1DEEE"/>
            </a:solidFill>
            <a:prstDash val="solid"/>
            <a:round/>
            <a:headEnd len="sm" w="sm" type="none"/>
            <a:tailEnd len="sm" w="sm" type="none"/>
          </a:ln>
          <a:effectLst>
            <a:outerShdw blurRad="228600" rotWithShape="0" algn="t" dir="5400000" dist="50800">
              <a:srgbClr val="20124D">
                <a:alpha val="12941"/>
              </a:srgbClr>
            </a:outerShdw>
          </a:effectLst>
        </p:spPr>
        <p:txBody>
          <a:bodyPr anchorCtr="0" anchor="ctr" bIns="73150" lIns="109725" spcFirstLastPara="1" rIns="109725" wrap="square" tIns="73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09" name="Google Shape;809;p6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60827" y="1280160"/>
            <a:ext cx="5774913" cy="4509273"/>
          </a:xfrm>
          <a:prstGeom prst="rect">
            <a:avLst/>
          </a:prstGeom>
          <a:noFill/>
          <a:ln>
            <a:noFill/>
          </a:ln>
        </p:spPr>
      </p:pic>
      <p:sp>
        <p:nvSpPr>
          <p:cNvPr id="810" name="Google Shape;810;p63"/>
          <p:cNvSpPr txBox="1"/>
          <p:nvPr/>
        </p:nvSpPr>
        <p:spPr>
          <a:xfrm>
            <a:off x="9966960" y="6327648"/>
            <a:ext cx="17830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5"/>
              </a:rPr>
              <a:t>Source</a:t>
            </a:r>
            <a:endParaRPr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4" name="Shape 8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5" name="Google Shape;815;p64"/>
          <p:cNvSpPr txBox="1"/>
          <p:nvPr/>
        </p:nvSpPr>
        <p:spPr>
          <a:xfrm>
            <a:off x="566928" y="310896"/>
            <a:ext cx="8686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159AA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05 · TEXT-TO-IMAGE</a:t>
            </a:r>
            <a:endParaRPr/>
          </a:p>
        </p:txBody>
      </p:sp>
      <p:sp>
        <p:nvSpPr>
          <p:cNvPr id="816" name="Google Shape;816;p64"/>
          <p:cNvSpPr txBox="1"/>
          <p:nvPr/>
        </p:nvSpPr>
        <p:spPr>
          <a:xfrm>
            <a:off x="548640" y="566928"/>
            <a:ext cx="96926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20124D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Imagen: cascaded diffusion</a:t>
            </a:r>
            <a:endParaRPr/>
          </a:p>
        </p:txBody>
      </p:sp>
      <p:sp>
        <p:nvSpPr>
          <p:cNvPr id="817" name="Google Shape;817;p64"/>
          <p:cNvSpPr/>
          <p:nvPr/>
        </p:nvSpPr>
        <p:spPr>
          <a:xfrm>
            <a:off x="1715602" y="1188720"/>
            <a:ext cx="5529916" cy="5120640"/>
          </a:xfrm>
          <a:prstGeom prst="roundRect">
            <a:avLst>
              <a:gd fmla="val 2857" name="adj"/>
            </a:avLst>
          </a:prstGeom>
          <a:solidFill>
            <a:srgbClr val="FFFFFF"/>
          </a:solidFill>
          <a:ln cap="flat" cmpd="sng" w="12700">
            <a:solidFill>
              <a:srgbClr val="E1DEEE"/>
            </a:solidFill>
            <a:prstDash val="solid"/>
            <a:round/>
            <a:headEnd len="sm" w="sm" type="none"/>
            <a:tailEnd len="sm" w="sm" type="none"/>
          </a:ln>
          <a:effectLst>
            <a:outerShdw blurRad="228600" rotWithShape="0" algn="t" dir="5400000" dist="50800">
              <a:srgbClr val="20124D">
                <a:alpha val="12941"/>
              </a:srgbClr>
            </a:outerShdw>
          </a:effectLst>
        </p:spPr>
        <p:txBody>
          <a:bodyPr anchorCtr="0" anchor="ctr" bIns="73150" lIns="109725" spcFirstLastPara="1" rIns="109725" wrap="square" tIns="73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18" name="Google Shape;818;p64"/>
          <p:cNvPicPr preferRelativeResize="0"/>
          <p:nvPr/>
        </p:nvPicPr>
        <p:blipFill rotWithShape="1">
          <a:blip r:embed="rId3">
            <a:alphaModFix/>
          </a:blip>
          <a:srcRect b="0" l="10826" r="0" t="0"/>
          <a:stretch/>
        </p:blipFill>
        <p:spPr>
          <a:xfrm>
            <a:off x="1825330" y="1298448"/>
            <a:ext cx="5310460" cy="4901184"/>
          </a:xfrm>
          <a:prstGeom prst="rect">
            <a:avLst/>
          </a:prstGeom>
          <a:noFill/>
          <a:ln>
            <a:noFill/>
          </a:ln>
        </p:spPr>
      </p:pic>
      <p:sp>
        <p:nvSpPr>
          <p:cNvPr id="819" name="Google Shape;819;p64"/>
          <p:cNvSpPr/>
          <p:nvPr/>
        </p:nvSpPr>
        <p:spPr>
          <a:xfrm>
            <a:off x="7955280" y="1463040"/>
            <a:ext cx="3749040" cy="1371600"/>
          </a:xfrm>
          <a:prstGeom prst="roundRect">
            <a:avLst>
              <a:gd fmla="val 10667" name="adj"/>
            </a:avLst>
          </a:prstGeom>
          <a:solidFill>
            <a:srgbClr val="F4F3FA"/>
          </a:solidFill>
          <a:ln>
            <a:noFill/>
          </a:ln>
        </p:spPr>
        <p:txBody>
          <a:bodyPr anchorCtr="0" anchor="ctr" bIns="73150" lIns="109725" spcFirstLastPara="1" rIns="109725" wrap="square" tIns="73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0" name="Google Shape;820;p64"/>
          <p:cNvSpPr/>
          <p:nvPr/>
        </p:nvSpPr>
        <p:spPr>
          <a:xfrm>
            <a:off x="8138160" y="1645920"/>
            <a:ext cx="384048" cy="384048"/>
          </a:xfrm>
          <a:prstGeom prst="ellipse">
            <a:avLst/>
          </a:prstGeom>
          <a:solidFill>
            <a:srgbClr val="159AAE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</a:t>
            </a:r>
            <a:endParaRPr/>
          </a:p>
        </p:txBody>
      </p:sp>
      <p:sp>
        <p:nvSpPr>
          <p:cNvPr id="821" name="Google Shape;821;p64"/>
          <p:cNvSpPr txBox="1"/>
          <p:nvPr/>
        </p:nvSpPr>
        <p:spPr>
          <a:xfrm>
            <a:off x="8641080" y="1627632"/>
            <a:ext cx="29260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20124D"/>
                </a:solidFill>
                <a:latin typeface="Arial"/>
                <a:ea typeface="Arial"/>
                <a:cs typeface="Arial"/>
                <a:sym typeface="Arial"/>
              </a:rPr>
              <a:t>Frozen text encoder</a:t>
            </a:r>
            <a:endParaRPr/>
          </a:p>
        </p:txBody>
      </p:sp>
      <p:sp>
        <p:nvSpPr>
          <p:cNvPr id="822" name="Google Shape;822;p64"/>
          <p:cNvSpPr txBox="1"/>
          <p:nvPr/>
        </p:nvSpPr>
        <p:spPr>
          <a:xfrm>
            <a:off x="8183880" y="2103120"/>
            <a:ext cx="33832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23213A"/>
                </a:solidFill>
                <a:latin typeface="Arial"/>
                <a:ea typeface="Arial"/>
                <a:cs typeface="Arial"/>
                <a:sym typeface="Arial"/>
              </a:rPr>
              <a:t>T5-XXL turns the prompt into text embeddings</a:t>
            </a:r>
            <a:endParaRPr/>
          </a:p>
        </p:txBody>
      </p:sp>
      <p:sp>
        <p:nvSpPr>
          <p:cNvPr id="823" name="Google Shape;823;p64"/>
          <p:cNvSpPr/>
          <p:nvPr/>
        </p:nvSpPr>
        <p:spPr>
          <a:xfrm>
            <a:off x="7955280" y="3063240"/>
            <a:ext cx="3749040" cy="1371600"/>
          </a:xfrm>
          <a:prstGeom prst="roundRect">
            <a:avLst>
              <a:gd fmla="val 10667" name="adj"/>
            </a:avLst>
          </a:prstGeom>
          <a:solidFill>
            <a:srgbClr val="F4F3FA"/>
          </a:solidFill>
          <a:ln>
            <a:noFill/>
          </a:ln>
        </p:spPr>
        <p:txBody>
          <a:bodyPr anchorCtr="0" anchor="ctr" bIns="73150" lIns="109725" spcFirstLastPara="1" rIns="109725" wrap="square" tIns="73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4" name="Google Shape;824;p64"/>
          <p:cNvSpPr/>
          <p:nvPr/>
        </p:nvSpPr>
        <p:spPr>
          <a:xfrm>
            <a:off x="8138160" y="3246120"/>
            <a:ext cx="384048" cy="384048"/>
          </a:xfrm>
          <a:prstGeom prst="ellipse">
            <a:avLst/>
          </a:prstGeom>
          <a:solidFill>
            <a:srgbClr val="159AAE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2</a:t>
            </a:r>
            <a:endParaRPr/>
          </a:p>
        </p:txBody>
      </p:sp>
      <p:sp>
        <p:nvSpPr>
          <p:cNvPr id="825" name="Google Shape;825;p64"/>
          <p:cNvSpPr txBox="1"/>
          <p:nvPr/>
        </p:nvSpPr>
        <p:spPr>
          <a:xfrm>
            <a:off x="8641080" y="3227832"/>
            <a:ext cx="29260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20124D"/>
                </a:solidFill>
                <a:latin typeface="Arial"/>
                <a:ea typeface="Arial"/>
                <a:cs typeface="Arial"/>
                <a:sym typeface="Arial"/>
              </a:rPr>
              <a:t>Base diffusion model</a:t>
            </a:r>
            <a:endParaRPr/>
          </a:p>
        </p:txBody>
      </p:sp>
      <p:sp>
        <p:nvSpPr>
          <p:cNvPr id="826" name="Google Shape;826;p64"/>
          <p:cNvSpPr txBox="1"/>
          <p:nvPr/>
        </p:nvSpPr>
        <p:spPr>
          <a:xfrm>
            <a:off x="8183880" y="3703320"/>
            <a:ext cx="33832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23213A"/>
                </a:solidFill>
                <a:latin typeface="Arial"/>
                <a:ea typeface="Arial"/>
                <a:cs typeface="Arial"/>
                <a:sym typeface="Arial"/>
              </a:rPr>
              <a:t>generates a 64 × 64 image from the text</a:t>
            </a:r>
            <a:endParaRPr/>
          </a:p>
        </p:txBody>
      </p:sp>
      <p:sp>
        <p:nvSpPr>
          <p:cNvPr id="827" name="Google Shape;827;p64"/>
          <p:cNvSpPr/>
          <p:nvPr/>
        </p:nvSpPr>
        <p:spPr>
          <a:xfrm>
            <a:off x="7955280" y="4663440"/>
            <a:ext cx="3749040" cy="1371600"/>
          </a:xfrm>
          <a:prstGeom prst="roundRect">
            <a:avLst>
              <a:gd fmla="val 10667" name="adj"/>
            </a:avLst>
          </a:prstGeom>
          <a:solidFill>
            <a:srgbClr val="F4F3FA"/>
          </a:solidFill>
          <a:ln>
            <a:noFill/>
          </a:ln>
        </p:spPr>
        <p:txBody>
          <a:bodyPr anchorCtr="0" anchor="ctr" bIns="73150" lIns="109725" spcFirstLastPara="1" rIns="109725" wrap="square" tIns="73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8" name="Google Shape;828;p64"/>
          <p:cNvSpPr/>
          <p:nvPr/>
        </p:nvSpPr>
        <p:spPr>
          <a:xfrm>
            <a:off x="8138160" y="4846320"/>
            <a:ext cx="384048" cy="384048"/>
          </a:xfrm>
          <a:prstGeom prst="ellipse">
            <a:avLst/>
          </a:prstGeom>
          <a:solidFill>
            <a:srgbClr val="159AAE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3</a:t>
            </a:r>
            <a:endParaRPr/>
          </a:p>
        </p:txBody>
      </p:sp>
      <p:sp>
        <p:nvSpPr>
          <p:cNvPr id="829" name="Google Shape;829;p64"/>
          <p:cNvSpPr txBox="1"/>
          <p:nvPr/>
        </p:nvSpPr>
        <p:spPr>
          <a:xfrm>
            <a:off x="8641080" y="4828032"/>
            <a:ext cx="29260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20124D"/>
                </a:solidFill>
                <a:latin typeface="Arial"/>
                <a:ea typeface="Arial"/>
                <a:cs typeface="Arial"/>
                <a:sym typeface="Arial"/>
              </a:rPr>
              <a:t>Super-resolution ×2</a:t>
            </a:r>
            <a:endParaRPr/>
          </a:p>
        </p:txBody>
      </p:sp>
      <p:sp>
        <p:nvSpPr>
          <p:cNvPr id="830" name="Google Shape;830;p64"/>
          <p:cNvSpPr txBox="1"/>
          <p:nvPr/>
        </p:nvSpPr>
        <p:spPr>
          <a:xfrm>
            <a:off x="8183880" y="5303520"/>
            <a:ext cx="33832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23213A"/>
                </a:solidFill>
                <a:latin typeface="Arial"/>
                <a:ea typeface="Arial"/>
                <a:cs typeface="Arial"/>
                <a:sym typeface="Arial"/>
              </a:rPr>
              <a:t>two diffusion models upsample to 256 and then 1024 px</a:t>
            </a:r>
            <a:endParaRPr/>
          </a:p>
        </p:txBody>
      </p:sp>
      <p:sp>
        <p:nvSpPr>
          <p:cNvPr id="831" name="Google Shape;831;p64"/>
          <p:cNvSpPr txBox="1"/>
          <p:nvPr/>
        </p:nvSpPr>
        <p:spPr>
          <a:xfrm>
            <a:off x="9966960" y="6327648"/>
            <a:ext cx="17830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4"/>
              </a:rPr>
              <a:t>Source</a:t>
            </a:r>
            <a:endParaRPr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5" name="Shape 8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6" name="Google Shape;836;p65"/>
          <p:cNvSpPr txBox="1"/>
          <p:nvPr/>
        </p:nvSpPr>
        <p:spPr>
          <a:xfrm>
            <a:off x="566928" y="310896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159AA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05 · TEXT-TO-IMAGE</a:t>
            </a:r>
            <a:endParaRPr/>
          </a:p>
        </p:txBody>
      </p:sp>
      <p:sp>
        <p:nvSpPr>
          <p:cNvPr id="837" name="Google Shape;837;p65"/>
          <p:cNvSpPr/>
          <p:nvPr/>
        </p:nvSpPr>
        <p:spPr>
          <a:xfrm>
            <a:off x="3246120" y="274320"/>
            <a:ext cx="960120" cy="274320"/>
          </a:xfrm>
          <a:prstGeom prst="roundRect">
            <a:avLst>
              <a:gd fmla="val 50000" name="adj"/>
            </a:avLst>
          </a:prstGeom>
          <a:solidFill>
            <a:srgbClr val="E6F5F7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sng" cap="none" strike="noStrike">
                <a:solidFill>
                  <a:schemeClr val="hlink"/>
                </a:solidFill>
                <a:latin typeface="JetBrains Mono"/>
                <a:ea typeface="JetBrains Mono"/>
                <a:cs typeface="JetBrains Mono"/>
                <a:sym typeface="JetBrains Mono"/>
                <a:hlinkClick r:id="rId3"/>
              </a:rPr>
              <a:t>paper →</a:t>
            </a:r>
            <a:endParaRPr/>
          </a:p>
        </p:txBody>
      </p:sp>
      <p:sp>
        <p:nvSpPr>
          <p:cNvPr id="838" name="Google Shape;838;p65"/>
          <p:cNvSpPr txBox="1"/>
          <p:nvPr/>
        </p:nvSpPr>
        <p:spPr>
          <a:xfrm>
            <a:off x="548640" y="566928"/>
            <a:ext cx="96926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20124D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DALL·E 2 (unCLIP)</a:t>
            </a:r>
            <a:endParaRPr/>
          </a:p>
        </p:txBody>
      </p:sp>
      <p:cxnSp>
        <p:nvCxnSpPr>
          <p:cNvPr id="839" name="Google Shape;839;p65"/>
          <p:cNvCxnSpPr/>
          <p:nvPr/>
        </p:nvCxnSpPr>
        <p:spPr>
          <a:xfrm>
            <a:off x="6012180" y="2532888"/>
            <a:ext cx="0" cy="173736"/>
          </a:xfrm>
          <a:prstGeom prst="straightConnector1">
            <a:avLst/>
          </a:prstGeom>
          <a:noFill/>
          <a:ln cap="flat" cmpd="sng" w="22225">
            <a:solidFill>
              <a:srgbClr val="8C95B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40" name="Google Shape;840;p65"/>
          <p:cNvSpPr/>
          <p:nvPr/>
        </p:nvSpPr>
        <p:spPr>
          <a:xfrm>
            <a:off x="962267" y="4121925"/>
            <a:ext cx="2720400" cy="1463100"/>
          </a:xfrm>
          <a:prstGeom prst="roundRect">
            <a:avLst>
              <a:gd fmla="val 10000" name="adj"/>
            </a:avLst>
          </a:prstGeom>
          <a:solidFill>
            <a:srgbClr val="F4F3FA"/>
          </a:solidFill>
          <a:ln>
            <a:noFill/>
          </a:ln>
        </p:spPr>
        <p:txBody>
          <a:bodyPr anchorCtr="0" anchor="ctr" bIns="73150" lIns="109725" spcFirstLastPara="1" rIns="109725" wrap="square" tIns="73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1" name="Google Shape;841;p65"/>
          <p:cNvSpPr txBox="1"/>
          <p:nvPr/>
        </p:nvSpPr>
        <p:spPr>
          <a:xfrm>
            <a:off x="1126860" y="4213365"/>
            <a:ext cx="2445900" cy="132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20124D"/>
                </a:solidFill>
                <a:latin typeface="Arial"/>
                <a:ea typeface="Arial"/>
                <a:cs typeface="Arial"/>
                <a:sym typeface="Arial"/>
              </a:rPr>
              <a:t>Why a prior?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159AAE"/>
              </a:buClr>
              <a:buSzPts val="1265"/>
              <a:buFont typeface="Arial"/>
              <a:buChar char="•"/>
            </a:pPr>
            <a:r>
              <a:rPr b="0" i="0" lang="en-US" sz="1150" u="none" cap="none" strike="noStrike">
                <a:solidFill>
                  <a:srgbClr val="23213A"/>
                </a:solidFill>
                <a:latin typeface="Arial"/>
                <a:ea typeface="Arial"/>
                <a:cs typeface="Arial"/>
                <a:sym typeface="Arial"/>
              </a:rPr>
              <a:t>Generating the image embedding improves diversity with minimal loss in photorealism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159AAE"/>
              </a:buClr>
              <a:buSzPts val="1265"/>
              <a:buFont typeface="Arial"/>
              <a:buChar char="•"/>
            </a:pPr>
            <a:r>
              <a:rPr b="0" i="0" lang="en-US" sz="1150" u="none" cap="none" strike="noStrike">
                <a:solidFill>
                  <a:srgbClr val="23213A"/>
                </a:solidFill>
                <a:latin typeface="Arial"/>
                <a:ea typeface="Arial"/>
                <a:cs typeface="Arial"/>
                <a:sym typeface="Arial"/>
              </a:rPr>
              <a:t>Guidance only on the decoder</a:t>
            </a:r>
            <a:endParaRPr/>
          </a:p>
        </p:txBody>
      </p:sp>
      <p:sp>
        <p:nvSpPr>
          <p:cNvPr id="842" name="Google Shape;842;p65"/>
          <p:cNvSpPr/>
          <p:nvPr/>
        </p:nvSpPr>
        <p:spPr>
          <a:xfrm>
            <a:off x="3865488" y="4121925"/>
            <a:ext cx="2720400" cy="1463100"/>
          </a:xfrm>
          <a:prstGeom prst="roundRect">
            <a:avLst>
              <a:gd fmla="val 10000" name="adj"/>
            </a:avLst>
          </a:prstGeom>
          <a:solidFill>
            <a:srgbClr val="E6F5F7"/>
          </a:solidFill>
          <a:ln>
            <a:noFill/>
          </a:ln>
        </p:spPr>
        <p:txBody>
          <a:bodyPr anchorCtr="0" anchor="ctr" bIns="73150" lIns="109725" spcFirstLastPara="1" rIns="109725" wrap="square" tIns="73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3" name="Google Shape;843;p65"/>
          <p:cNvSpPr txBox="1"/>
          <p:nvPr/>
        </p:nvSpPr>
        <p:spPr>
          <a:xfrm>
            <a:off x="4030080" y="4213365"/>
            <a:ext cx="2445900" cy="132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20124D"/>
                </a:solidFill>
                <a:latin typeface="Arial"/>
                <a:ea typeface="Arial"/>
                <a:cs typeface="Arial"/>
                <a:sym typeface="Arial"/>
              </a:rPr>
              <a:t>Editing in CLIP space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159AAE"/>
              </a:buClr>
              <a:buSzPts val="1265"/>
              <a:buFont typeface="Arial"/>
              <a:buChar char="•"/>
            </a:pPr>
            <a:r>
              <a:rPr b="0" i="0" lang="en-US" sz="1150" u="none" cap="none" strike="noStrike">
                <a:solidFill>
                  <a:srgbClr val="23213A"/>
                </a:solidFill>
                <a:latin typeface="Arial"/>
                <a:ea typeface="Arial"/>
                <a:cs typeface="Arial"/>
                <a:sym typeface="Arial"/>
              </a:rPr>
              <a:t>Variations of an input image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159AAE"/>
              </a:buClr>
              <a:buSzPts val="1265"/>
              <a:buFont typeface="Arial"/>
              <a:buChar char="•"/>
            </a:pPr>
            <a:r>
              <a:rPr b="0" i="0" lang="en-US" sz="1150" u="none" cap="none" strike="noStrike">
                <a:solidFill>
                  <a:srgbClr val="23213A"/>
                </a:solidFill>
                <a:latin typeface="Arial"/>
                <a:ea typeface="Arial"/>
                <a:cs typeface="Arial"/>
                <a:sym typeface="Arial"/>
              </a:rPr>
              <a:t>Interpolations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159AAE"/>
              </a:buClr>
              <a:buSzPts val="1265"/>
              <a:buFont typeface="Arial"/>
              <a:buChar char="•"/>
            </a:pPr>
            <a:r>
              <a:rPr b="0" i="0" lang="en-US" sz="1150" u="none" cap="none" strike="noStrike">
                <a:solidFill>
                  <a:srgbClr val="23213A"/>
                </a:solidFill>
                <a:latin typeface="Arial"/>
                <a:ea typeface="Arial"/>
                <a:cs typeface="Arial"/>
                <a:sym typeface="Arial"/>
              </a:rPr>
              <a:t>Text diffs</a:t>
            </a:r>
            <a:endParaRPr/>
          </a:p>
        </p:txBody>
      </p:sp>
      <p:pic>
        <p:nvPicPr>
          <p:cNvPr id="844" name="Google Shape;844;p65"/>
          <p:cNvPicPr preferRelativeResize="0"/>
          <p:nvPr/>
        </p:nvPicPr>
        <p:blipFill rotWithShape="1">
          <a:blip r:embed="rId4">
            <a:alphaModFix/>
          </a:blip>
          <a:srcRect b="0" l="6812" r="0" t="0"/>
          <a:stretch/>
        </p:blipFill>
        <p:spPr>
          <a:xfrm>
            <a:off x="945014" y="1284125"/>
            <a:ext cx="5658060" cy="2687513"/>
          </a:xfrm>
          <a:prstGeom prst="rect">
            <a:avLst/>
          </a:prstGeom>
          <a:noFill/>
          <a:ln>
            <a:noFill/>
          </a:ln>
        </p:spPr>
      </p:pic>
      <p:pic>
        <p:nvPicPr>
          <p:cNvPr id="845" name="Google Shape;845;p6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132315" y="954331"/>
            <a:ext cx="4908675" cy="54193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9" name="Shape 8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0" name="Google Shape;850;p66"/>
          <p:cNvSpPr txBox="1"/>
          <p:nvPr>
            <p:ph idx="2" type="body"/>
          </p:nvPr>
        </p:nvSpPr>
        <p:spPr>
          <a:xfrm>
            <a:off x="5107039" y="1754562"/>
            <a:ext cx="7428000" cy="15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DECED"/>
              </a:buClr>
              <a:buSzPts val="5400"/>
              <a:buNone/>
            </a:pPr>
            <a:r>
              <a:rPr lang="en-US"/>
              <a:t>Thank you for attention!</a:t>
            </a:r>
            <a:endParaRPr/>
          </a:p>
        </p:txBody>
      </p:sp>
      <p:sp>
        <p:nvSpPr>
          <p:cNvPr id="851" name="Google Shape;851;p66"/>
          <p:cNvSpPr txBox="1"/>
          <p:nvPr>
            <p:ph idx="4" type="body"/>
          </p:nvPr>
        </p:nvSpPr>
        <p:spPr>
          <a:xfrm>
            <a:off x="663975" y="4731202"/>
            <a:ext cx="3600000" cy="18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EDECED"/>
              </a:buClr>
              <a:buSzPts val="1140"/>
              <a:buNone/>
            </a:pPr>
            <a:r>
              <a:rPr lang="en-US" sz="2140"/>
              <a:t>Коновалова Нина</a:t>
            </a:r>
            <a:endParaRPr sz="2140"/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EDECED"/>
              </a:buClr>
              <a:buSzPts val="1140"/>
              <a:buNone/>
            </a:pPr>
            <a:r>
              <a:t/>
            </a:r>
            <a:endParaRPr sz="2140"/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EDECED"/>
              </a:buClr>
              <a:buSzPts val="1140"/>
              <a:buNone/>
            </a:pPr>
            <a:r>
              <a:rPr lang="en-US" sz="2140"/>
              <a:t>@ReadingAI</a:t>
            </a:r>
            <a:endParaRPr sz="2140"/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EDECED"/>
              </a:buClr>
              <a:buSzPts val="1140"/>
              <a:buNone/>
            </a:pPr>
            <a:r>
              <a:t/>
            </a:r>
            <a:endParaRPr sz="2140"/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EDECED"/>
              </a:buClr>
              <a:buSzPts val="1140"/>
              <a:buNone/>
            </a:pPr>
            <a:r>
              <a:rPr lang="en-US" sz="2140"/>
              <a:t>@AfeliaN</a:t>
            </a:r>
            <a:endParaRPr sz="2140"/>
          </a:p>
        </p:txBody>
      </p:sp>
      <p:pic>
        <p:nvPicPr>
          <p:cNvPr id="852" name="Google Shape;852;p6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30478" y="1375871"/>
            <a:ext cx="2358550" cy="3144726"/>
          </a:xfrm>
          <a:prstGeom prst="rect">
            <a:avLst/>
          </a:prstGeom>
          <a:noFill/>
          <a:ln>
            <a:noFill/>
          </a:ln>
        </p:spPr>
      </p:pic>
      <p:pic>
        <p:nvPicPr>
          <p:cNvPr id="853" name="Google Shape;853;p66"/>
          <p:cNvPicPr preferRelativeResize="0"/>
          <p:nvPr/>
        </p:nvPicPr>
        <p:blipFill rotWithShape="1">
          <a:blip r:embed="rId4">
            <a:alphaModFix/>
          </a:blip>
          <a:srcRect b="32523" l="18905" r="19435" t="34862"/>
          <a:stretch/>
        </p:blipFill>
        <p:spPr>
          <a:xfrm>
            <a:off x="9800975" y="3127775"/>
            <a:ext cx="1839425" cy="21074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